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Tesla (TSLA) is one of the most polarizing stocks in modern markets — trading at 149x forward earnings while its core auto business faces margin compression and intensifying competition from BYD. This deck answers the pivotal question: are the next 12 months a buying opportunity, or is the market pricing in Robotaxi optionality that may not materialize on schedule?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Chapter I establishes the financial foundation. We'll look at the pivotal question, then review the actual numbers from FY2022-2025 to ground the discussion in fact before getting to the thesis.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entire TSLA thesis collapses to a single question: can Robotaxi Austin succeed commercially by late 2026? If yes, the 149x P/E is justified. If not, Tesla re-rates toward auto-sector multiples and fair value drops to $40-50/share on pure fundamentals. Everything else — Energy, Optimus, FSD licensing — is secondary to this binary.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Revenue grew 15.8% in Q1 2026 — the first meaningful reacceleration after two years of slowdown. But gross margin at 19.1% remains well below the 25-30% peak, compressed by EV price cuts and Energy segment mix. FCF improved to $2.2B but is not yet robust enough to support the current $1.42T market cap without AI/Robotaxi optionality. Energy (Megapack) is the hidden gem — growing 67% YoY and now 15% of revenue.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Business quality is about moat durability and management execution. Tesla has genuine technology advantages, but the moat is narrowing as BYD, Waymo, and legacy OEMs catch up. The key question is whether those advantages compound into wide-moat territory over the next 5 years.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Tesla is transitioning from an auto manufacturer to an AI/energy platform. The vertically integrated manufacturing gives cost advantages, FSD creates recurring software revenue potential, and Supercharger network lock-in is real. However, the brand moat is eroding — Musk's political profile is depressing sales in key markets (Europe -49% YoY in some regions). The narrow-to-wide moat rating reflects genuine uncertainty about whether Robotaxi creates a defensible advantage or Waymo gets there first.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Five catalysts to watch in 2026: Robotaxi Austin launch (binary), FSD v13 DOJO training progress, Megapack backlog execution, Optimus Phase 2 industrial deployment, and Model Y Juniper refreshed demand data. Any of these can move the stock 15-20% in either direction — monitor the earnings call commentary closely.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Risk chapter. Tesla carries three structural risks that are more serious than typical growth stock risks: execution risk on an entirely new product category (Robotaxi), competitive risk from a well-capitalized rival (BYD) in the world's largest EV market, and concentration risk from CEO brand dependency. The macro backdrop adds rate sensitivity and tariff exposure.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Risk 1 (Robotaxi delay): Every 6-month delay erodes the premium by roughly 10-15% as the market reassesses probability. Risk 2 (BYD): BYD is expanding globally with SEAL U and ATTO 3 at 30-40% price discounts — Tesla's response options are limited without margin sacrifice. Risk 3 (Musk): Brand damage from political associations is quantifiable — European sales data is the leading indicator. Macro risk: any rate spike above 5% compresses growth multiples across the board.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Valuation is where the thesis gets uncomfortable. 149x forward P/E is not a typo — it reflects the market pricing in a successful Robotaxi business worth $50B+ in operating profit. The scenario analysis will show that even with favorable assumptions, the probability-weighted EV is only 7.6% above current price.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149x forward P/E vs. sector median 18x is an 8x premium — only justified if Robotaxi generates $50B+ operating profit by 2028-2030, which is not yet validated. Strip out Robotaxi optionality and fair value falls to $40-50/share on pure auto/energy fundamentals. The EV/EBITDA at 124x vs. sector 10x and P/S at 14.6x vs. 0.8x tell the same story: this is a tech multiple on a business that still manufactures physical cars. P/FCF at ~225x is the most worrying — FCF generation needs to accelerate dramatically to justify the multiple.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Bull case (20% probability, $650): Requires Austin Robotaxi success + Optimus Phase 2 commercial orders + Auto GM recovery to 18%+. Base case (40% probability, $475): Auto stable, Energy grows, Robotaxi delayed to 2027, FY2027 EPS $2.50 at 190x multiple. Bear case (40% probability, $220): Robotaxi re-delayed to 2028+, BYD intensifies globally, Musk brand worsens, Tesla re-rated toward traditional OEM multiples. The probability-weighted EV of $408 is only 7.6% above current $379 — inadequate compensation for the binary risk.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Chapter V synthesizes the BAIT framework — Behavioral, Analytical, Informational, Technical — into a actionable verdict. Mauboussin's BAIT approach forces us to separate market sentiment from fundamentals, and fundamentals from technical setup, before making a position decision.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B (Behavioral/Neutral): Sentiment is polarized — 51% bullish on X.com but only 27% on Reddit, with price driven by Musk tweets not fundamentals. Extreme vol creates mispricing opportunities. A (Analytical/Bearish): 149x P/E requires $50B+ Robotaxi operating profit not yet validated; FY2027 EPS consensus cut 15.7%. I (Informational/Neutral): FSD mile training data and Megapack backlog are the best information edges; Robotaxi regulatory timeline depends on non-public filings. T (Technical/Bearish): Stage 3 — price below 50MA/150MA/200MA, Trend Template 3/8, RS vs SPY -15ppt (3mo). No valid base. SEPA says do not enter. Overall: WATCH — asymmetric upside exists but current technical setup prohibits entry.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WATCH verdict means monitor actively but do not enter while Stage 3 persists. The specific entry trigger is binary: either the 50MA at $386 is reclaimed with volume confirmation, or the Robotaxi Austin commercial launch is publicly announced. Without one of these two catalysts, the risk/reward does not justify a position. Stop loss at $310 (below prior support). Max position 5-8% of portfolio. LEAPS 2028 $400 strike is an alternative for those who want defined-risk exposure to the Robotaxi optionality.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research is generated from the structured wiki investment thesis in the rwh-overlay system. All data sourced from public filings and financial data APIs. Not investment advice — for informational and research purposes only.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sp>
          <p:nvSpPr>
            <p:cNvPr id="4" name="Rectangle 4"/>
            <p:cNvSpPr/>
            <p:nvPr/>
          </p:nvSpPr>
          <p:spPr>
            <a:xfrm>
              <a:off x="0" y="38100"/>
              <a:ext cx="28575" cy="6819900"/>
            </a:xfrm>
            <a:prstGeom prst="rect">
              <a:avLst/>
            </a:prstGeom>
            <a:solidFill>
              <a:srgbClr val="F5C842"/>
            </a:solidFill>
            <a:ln>
              <a:noFill/>
            </a:ln>
          </p:spPr>
        </p:sp>
      </p:grpSp>
      <p:grpSp>
        <p:nvGrpSpPr>
          <p:cNvPr id="9" name="Group 9"/>
          <p:cNvGrpSpPr/>
          <p:nvPr/>
        </p:nvGrpSpPr>
        <p:grpSpPr>
          <a:xfrm>
            <a:off x="10096500" y="4953000"/>
            <a:ext cx="2095500" cy="1905000"/>
            <a:chOff x="10096500" y="4953000"/>
            <a:chExt cx="2095500" cy="1905000"/>
          </a:xfrm>
        </p:grpSpPr>
        <p:sp>
          <p:nvSpPr>
            <p:cNvPr id="6" name="Polygon 6"/>
            <p:cNvSpPr/>
            <p:nvPr/>
          </p:nvSpPr>
          <p:spPr>
            <a:xfrm>
              <a:off x="10096500" y="4953000"/>
              <a:ext cx="2095500" cy="1905000"/>
            </a:xfrm>
            <a:custGeom>
              <a:avLst/>
              <a:gdLst/>
              <a:ahLst/>
              <a:cxnLst/>
              <a:rect l="l" t="t" r="r" b="b"/>
              <a:pathLst>
                <a:path w="2095500" h="1905000">
                  <a:moveTo>
                    <a:pt x="2095500" y="1905000"/>
                  </a:moveTo>
                  <a:lnTo>
                    <a:pt x="2095500" y="0"/>
                  </a:lnTo>
                  <a:lnTo>
                    <a:pt x="0" y="1905000"/>
                  </a:lnTo>
                  <a:close/>
                </a:path>
              </a:pathLst>
            </a:custGeom>
            <a:solidFill>
              <a:srgbClr val="131B30"/>
            </a:solidFill>
            <a:ln>
              <a:noFill/>
            </a:ln>
          </p:spPr>
        </p:sp>
        <p:sp>
          <p:nvSpPr>
            <p:cNvPr id="7" name="Polygon 7"/>
            <p:cNvSpPr/>
            <p:nvPr/>
          </p:nvSpPr>
          <p:spPr>
            <a:xfrm>
              <a:off x="10763250" y="5524500"/>
              <a:ext cx="1428750" cy="1333500"/>
            </a:xfrm>
            <a:custGeom>
              <a:avLst/>
              <a:gdLst/>
              <a:ahLst/>
              <a:cxnLst/>
              <a:rect l="l" t="t" r="r" b="b"/>
              <a:pathLst>
                <a:path w="1428750" h="1333500">
                  <a:moveTo>
                    <a:pt x="1428750" y="1333500"/>
                  </a:moveTo>
                  <a:lnTo>
                    <a:pt x="1428750" y="0"/>
                  </a:lnTo>
                  <a:lnTo>
                    <a:pt x="0" y="1333500"/>
                  </a:lnTo>
                  <a:close/>
                </a:path>
              </a:pathLst>
            </a:custGeom>
            <a:solidFill>
              <a:srgbClr val="1A2540"/>
            </a:solidFill>
            <a:ln>
              <a:noFill/>
            </a:ln>
          </p:spPr>
        </p:sp>
        <p:sp>
          <p:nvSpPr>
            <p:cNvPr id="8" name="Polygon 8"/>
            <p:cNvSpPr/>
            <p:nvPr/>
          </p:nvSpPr>
          <p:spPr>
            <a:xfrm>
              <a:off x="11430000" y="6096000"/>
              <a:ext cx="762000" cy="762000"/>
            </a:xfrm>
            <a:custGeom>
              <a:avLst/>
              <a:gdLst/>
              <a:ahLst/>
              <a:cxnLst/>
              <a:rect l="l" t="t" r="r" b="b"/>
              <a:pathLst>
                <a:path w="762000" h="762000">
                  <a:moveTo>
                    <a:pt x="762000" y="762000"/>
                  </a:moveTo>
                  <a:lnTo>
                    <a:pt x="762000" y="0"/>
                  </a:lnTo>
                  <a:lnTo>
                    <a:pt x="0" y="762000"/>
                  </a:lnTo>
                  <a:close/>
                </a:path>
              </a:pathLst>
            </a:custGeom>
            <a:solidFill>
              <a:srgbClr val="F5C842">
                <a:alpha val="15000"/>
              </a:srgbClr>
            </a:solidFill>
            <a:ln>
              <a:noFill/>
            </a:ln>
          </p:spPr>
        </p:sp>
      </p:grpSp>
      <p:grpSp>
        <p:nvGrpSpPr>
          <p:cNvPr id="13" name="Group 13"/>
          <p:cNvGrpSpPr/>
          <p:nvPr/>
        </p:nvGrpSpPr>
        <p:grpSpPr>
          <a:xfrm>
            <a:off x="8191500" y="762000"/>
            <a:ext cx="1057275" cy="4572000"/>
            <a:chOff x="8191500" y="762000"/>
            <a:chExt cx="1057275" cy="4572000"/>
          </a:xfrm>
        </p:grpSpPr>
        <p:sp>
          <p:nvSpPr>
            <p:cNvPr id="10" name="Rectangle 10"/>
            <p:cNvSpPr/>
            <p:nvPr/>
          </p:nvSpPr>
          <p:spPr>
            <a:xfrm>
              <a:off x="8763000" y="762000"/>
              <a:ext cx="9525" cy="4572000"/>
            </a:xfrm>
            <a:prstGeom prst="rect">
              <a:avLst/>
            </a:prstGeom>
            <a:solidFill>
              <a:srgbClr val="2A3A5C"/>
            </a:solidFill>
            <a:ln>
              <a:noFill/>
            </a:ln>
          </p:spPr>
        </p:sp>
        <p:sp>
          <p:nvSpPr>
            <p:cNvPr id="11" name="Rectangle 11"/>
            <p:cNvSpPr/>
            <p:nvPr/>
          </p:nvSpPr>
          <p:spPr>
            <a:xfrm>
              <a:off x="9239250" y="1143000"/>
              <a:ext cx="9525" cy="3810000"/>
            </a:xfrm>
            <a:prstGeom prst="rect">
              <a:avLst/>
            </a:prstGeom>
            <a:solidFill>
              <a:srgbClr val="1A2540"/>
            </a:solidFill>
            <a:ln>
              <a:noFill/>
            </a:ln>
          </p:spPr>
        </p:sp>
        <p:sp>
          <p:nvSpPr>
            <p:cNvPr id="12" name="Rectangle 12"/>
            <p:cNvSpPr/>
            <p:nvPr/>
          </p:nvSpPr>
          <p:spPr>
            <a:xfrm>
              <a:off x="8191500" y="1524000"/>
              <a:ext cx="9525" cy="2857500"/>
            </a:xfrm>
            <a:prstGeom prst="rect">
              <a:avLst/>
            </a:prstGeom>
            <a:solidFill>
              <a:srgbClr val="1A2540">
                <a:alpha val="60000"/>
              </a:srgbClr>
            </a:solidFill>
            <a:ln>
              <a:noFill/>
            </a:ln>
          </p:spPr>
        </p:sp>
      </p:grpSp>
      <p:grpSp>
        <p:nvGrpSpPr>
          <p:cNvPr id="15" name="Group 15"/>
          <p:cNvGrpSpPr/>
          <p:nvPr/>
        </p:nvGrpSpPr>
        <p:grpSpPr>
          <a:xfrm>
            <a:off x="1600200" y="1981200"/>
            <a:ext cx="3264979" cy="1828800"/>
            <a:chOff x="1600200" y="1981200"/>
            <a:chExt cx="3264979" cy="1828800"/>
          </a:xfrm>
        </p:grpSpPr>
        <p:sp>
          <p:nvSpPr>
            <p:cNvPr id="14" name="TextBox 14"/>
            <p:cNvSpPr txBox="1"/>
            <p:nvPr/>
          </p:nvSpPr>
          <p:spPr>
            <a:xfrm>
              <a:off x="1600200" y="1981200"/>
              <a:ext cx="3264979" cy="1828800"/>
            </a:xfrm>
            <a:prstGeom prst="rect">
              <a:avLst/>
            </a:prstGeom>
            <a:noFill/>
            <a:ln>
              <a:noFill/>
            </a:ln>
          </p:spPr>
          <p:txBody>
            <a:bodyPr wrap="none" lIns="0" tIns="0" rIns="0" bIns="0" anchor="t" anchorCtr="0">
              <a:spAutoFit/>
            </a:bodyPr>
            <a:lstStyle/>
            <a:p>
              <a:pPr algn="l"/>
              <a:r>
                <a:rPr lang="zh-CN" sz="9000" b="1" dirty="0">
                  <a:solidFill>
                    <a:srgbClr val="F5C842"/>
                  </a:solidFill>
                  <a:latin typeface="Arial"/>
                  <a:ea typeface="Microsoft YaHei"/>
                  <a:cs typeface="Arial"/>
                </a:rPr>
                <a:t>TSLA</a:t>
              </a:r>
            </a:p>
          </p:txBody>
        </p:sp>
      </p:grpSp>
      <p:grpSp>
        <p:nvGrpSpPr>
          <p:cNvPr id="17" name="Group 17"/>
          <p:cNvGrpSpPr/>
          <p:nvPr/>
        </p:nvGrpSpPr>
        <p:grpSpPr>
          <a:xfrm>
            <a:off x="1689735" y="3294698"/>
            <a:ext cx="1558957" cy="396240"/>
            <a:chOff x="1689735" y="3294698"/>
            <a:chExt cx="1558957" cy="396240"/>
          </a:xfrm>
        </p:grpSpPr>
        <p:sp>
          <p:nvSpPr>
            <p:cNvPr id="16" name="TextBox 16"/>
            <p:cNvSpPr txBox="1"/>
            <p:nvPr/>
          </p:nvSpPr>
          <p:spPr>
            <a:xfrm>
              <a:off x="1689735" y="3294698"/>
              <a:ext cx="1558957" cy="396240"/>
            </a:xfrm>
            <a:prstGeom prst="rect">
              <a:avLst/>
            </a:prstGeom>
            <a:noFill/>
            <a:ln>
              <a:noFill/>
            </a:ln>
          </p:spPr>
          <p:txBody>
            <a:bodyPr wrap="none" lIns="0" tIns="0" rIns="0" bIns="0" anchor="t" anchorCtr="0">
              <a:spAutoFit/>
            </a:bodyPr>
            <a:lstStyle/>
            <a:p>
              <a:pPr algn="l"/>
              <a:r>
                <a:rPr lang="zh-CN" sz="1950" dirty="0">
                  <a:solidFill>
                    <a:srgbClr val="E8EAF0"/>
                  </a:solidFill>
                  <a:latin typeface="Arial"/>
                  <a:ea typeface="Microsoft YaHei"/>
                  <a:cs typeface="Arial"/>
                </a:rPr>
                <a:t>Tesla, Inc.</a:t>
              </a:r>
            </a:p>
          </p:txBody>
        </p:sp>
      </p:grpSp>
      <p:grpSp>
        <p:nvGrpSpPr>
          <p:cNvPr id="19" name="Group 19"/>
          <p:cNvGrpSpPr/>
          <p:nvPr/>
        </p:nvGrpSpPr>
        <p:grpSpPr>
          <a:xfrm>
            <a:off x="1714500" y="3733800"/>
            <a:ext cx="6096000" cy="28575"/>
            <a:chOff x="1714500" y="3733800"/>
            <a:chExt cx="6096000" cy="28575"/>
          </a:xfrm>
        </p:grpSpPr>
        <p:sp>
          <p:nvSpPr>
            <p:cNvPr id="18" name="Rectangle 18"/>
            <p:cNvSpPr/>
            <p:nvPr/>
          </p:nvSpPr>
          <p:spPr>
            <a:xfrm>
              <a:off x="1714500" y="3733800"/>
              <a:ext cx="6096000" cy="28575"/>
            </a:xfrm>
            <a:prstGeom prst="rect">
              <a:avLst/>
            </a:prstGeom>
            <a:solidFill>
              <a:srgbClr val="F5C842"/>
            </a:solidFill>
            <a:ln>
              <a:noFill/>
            </a:ln>
          </p:spPr>
        </p:sp>
      </p:grpSp>
      <p:grpSp>
        <p:nvGrpSpPr>
          <p:cNvPr id="22" name="Group 22"/>
          <p:cNvGrpSpPr/>
          <p:nvPr/>
        </p:nvGrpSpPr>
        <p:grpSpPr>
          <a:xfrm>
            <a:off x="1697355" y="4007168"/>
            <a:ext cx="6333792" cy="521970"/>
            <a:chOff x="1697355" y="4007168"/>
            <a:chExt cx="6333792" cy="521970"/>
          </a:xfrm>
        </p:grpSpPr>
        <p:sp>
          <p:nvSpPr>
            <p:cNvPr id="20" name="TextBox 20"/>
            <p:cNvSpPr txBox="1"/>
            <p:nvPr/>
          </p:nvSpPr>
          <p:spPr>
            <a:xfrm>
              <a:off x="1697355" y="4007168"/>
              <a:ext cx="6333792" cy="274320"/>
            </a:xfrm>
            <a:prstGeom prst="rect">
              <a:avLst/>
            </a:prstGeom>
            <a:noFill/>
            <a:ln>
              <a:noFill/>
            </a:ln>
          </p:spPr>
          <p:txBody>
            <a:bodyPr wrap="none" lIns="0" tIns="0" rIns="0" bIns="0" anchor="t" anchorCtr="0">
              <a:spAutoFit/>
            </a:bodyPr>
            <a:lstStyle/>
            <a:p>
              <a:pPr algn="l"/>
              <a:r>
                <a:rPr lang="zh-CN" sz="1350" i="1" dirty="0">
                  <a:solidFill>
                    <a:srgbClr val="8899BB"/>
                  </a:solidFill>
                  <a:latin typeface="Arial"/>
                  <a:ea typeface="Microsoft YaHei"/>
                  <a:cs typeface="Arial"/>
                </a:rPr>
                <a:t>Priced as an AI platform company at 149x P/E — the bet is Robotaxi</a:t>
              </a:r>
            </a:p>
          </p:txBody>
        </p:sp>
        <p:sp>
          <p:nvSpPr>
            <p:cNvPr id="21" name="TextBox 21"/>
            <p:cNvSpPr txBox="1"/>
            <p:nvPr/>
          </p:nvSpPr>
          <p:spPr>
            <a:xfrm>
              <a:off x="1697355" y="4254818"/>
              <a:ext cx="6156341" cy="274320"/>
            </a:xfrm>
            <a:prstGeom prst="rect">
              <a:avLst/>
            </a:prstGeom>
            <a:noFill/>
            <a:ln>
              <a:noFill/>
            </a:ln>
          </p:spPr>
          <p:txBody>
            <a:bodyPr wrap="none" lIns="0" tIns="0" rIns="0" bIns="0" anchor="t" anchorCtr="0">
              <a:spAutoFit/>
            </a:bodyPr>
            <a:lstStyle/>
            <a:p>
              <a:pPr algn="l"/>
              <a:r>
                <a:rPr lang="zh-CN" sz="1350" i="1" dirty="0">
                  <a:solidFill>
                    <a:srgbClr val="8899BB"/>
                  </a:solidFill>
                  <a:latin typeface="Arial"/>
                  <a:ea typeface="Microsoft YaHei"/>
                  <a:cs typeface="Arial"/>
                </a:rPr>
                <a:t>commercial viability in Austin by Q4 2026, not the car business.</a:t>
              </a:r>
            </a:p>
          </p:txBody>
        </p:sp>
      </p:grpSp>
      <p:grpSp>
        <p:nvGrpSpPr>
          <p:cNvPr id="24" name="Group 24"/>
          <p:cNvGrpSpPr/>
          <p:nvPr/>
        </p:nvGrpSpPr>
        <p:grpSpPr>
          <a:xfrm>
            <a:off x="1701165" y="4934902"/>
            <a:ext cx="2357628" cy="213360"/>
            <a:chOff x="1701165" y="4934902"/>
            <a:chExt cx="2357628" cy="213360"/>
          </a:xfrm>
        </p:grpSpPr>
        <p:sp>
          <p:nvSpPr>
            <p:cNvPr id="23" name="TextBox 23"/>
            <p:cNvSpPr txBox="1"/>
            <p:nvPr/>
          </p:nvSpPr>
          <p:spPr>
            <a:xfrm>
              <a:off x="1701165" y="4934902"/>
              <a:ext cx="2357628" cy="213360"/>
            </a:xfrm>
            <a:prstGeom prst="rect">
              <a:avLst/>
            </a:prstGeom>
            <a:noFill/>
            <a:ln>
              <a:noFill/>
            </a:ln>
          </p:spPr>
          <p:txBody>
            <a:bodyPr wrap="none" lIns="0" tIns="0" rIns="0" bIns="0" anchor="t" anchorCtr="0">
              <a:spAutoFit/>
            </a:bodyPr>
            <a:lstStyle/>
            <a:p>
              <a:pPr algn="l"/>
              <a:r>
                <a:rPr lang="zh-CN" sz="1050" dirty="0">
                  <a:solidFill>
                    <a:srgbClr val="2A3A5C"/>
                  </a:solidFill>
                  <a:latin typeface="Arial"/>
                  <a:ea typeface="Microsoft YaHei"/>
                  <a:cs typeface="Arial"/>
                </a:rPr>
                <a:t>INVESTMENT THESIS · 2026-05-16</a:t>
              </a:r>
            </a:p>
          </p:txBody>
        </p:sp>
      </p:grpSp>
      <p:grpSp>
        <p:nvGrpSpPr>
          <p:cNvPr id="28" name="Group 28"/>
          <p:cNvGrpSpPr/>
          <p:nvPr/>
        </p:nvGrpSpPr>
        <p:grpSpPr>
          <a:xfrm>
            <a:off x="1714500" y="5429250"/>
            <a:ext cx="1524000" cy="285750"/>
            <a:chOff x="1714500" y="5429250"/>
            <a:chExt cx="1524000" cy="285750"/>
          </a:xfrm>
        </p:grpSpPr>
        <p:sp>
          <p:nvSpPr>
            <p:cNvPr id="25" name="Rectangle 25"/>
            <p:cNvSpPr/>
            <p:nvPr/>
          </p:nvSpPr>
          <p:spPr>
            <a:xfrm>
              <a:off x="1714500" y="5429250"/>
              <a:ext cx="1524000" cy="285750"/>
            </a:xfrm>
            <a:prstGeom prst="roundRect">
              <a:avLst>
                <a:gd name="adj" fmla="val 50000"/>
              </a:avLst>
            </a:prstGeom>
            <a:solidFill>
              <a:srgbClr val="131B30"/>
            </a:solidFill>
            <a:ln>
              <a:noFill/>
            </a:ln>
          </p:spPr>
        </p:sp>
        <p:sp>
          <p:nvSpPr>
            <p:cNvPr id="26" name="Rectangle 26"/>
            <p:cNvSpPr/>
            <p:nvPr/>
          </p:nvSpPr>
          <p:spPr>
            <a:xfrm>
              <a:off x="1714500" y="5429250"/>
              <a:ext cx="1524000" cy="285750"/>
            </a:xfrm>
            <a:prstGeom prst="roundRect">
              <a:avLst>
                <a:gd name="adj" fmla="val 50000"/>
              </a:avLst>
            </a:prstGeom>
            <a:noFill/>
            <a:ln w="9525">
              <a:solidFill>
                <a:srgbClr val="F5C842"/>
              </a:solidFill>
            </a:ln>
          </p:spPr>
        </p:sp>
        <p:sp>
          <p:nvSpPr>
            <p:cNvPr id="27" name="TextBox 27"/>
            <p:cNvSpPr txBox="1"/>
            <p:nvPr/>
          </p:nvSpPr>
          <p:spPr>
            <a:xfrm>
              <a:off x="1871596" y="5522595"/>
              <a:ext cx="1209808" cy="182880"/>
            </a:xfrm>
            <a:prstGeom prst="rect">
              <a:avLst/>
            </a:prstGeom>
            <a:noFill/>
            <a:ln>
              <a:noFill/>
            </a:ln>
          </p:spPr>
          <p:txBody>
            <a:bodyPr wrap="none" lIns="0" tIns="0" rIns="0" bIns="0" anchor="t" anchorCtr="0">
              <a:spAutoFit/>
            </a:bodyPr>
            <a:lstStyle/>
            <a:p>
              <a:pPr algn="ctr"/>
              <a:r>
                <a:rPr lang="zh-CN" sz="900" b="1" dirty="0">
                  <a:solidFill>
                    <a:srgbClr val="F5C842"/>
                  </a:solidFill>
                  <a:latin typeface="Arial"/>
                  <a:ea typeface="Microsoft YaHei"/>
                  <a:cs typeface="Arial"/>
                </a:rPr>
                <a:t>DETAILED ANALYSIS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linds(horizontal)">
                                      <p:cBhvr>
                                        <p:cTn id="11" dur="400"/>
                                        <p:tgtEl>
                                          <p:spTgt spid="13"/>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checkerboard(across)">
                                      <p:cBhvr>
                                        <p:cTn id="15" dur="400"/>
                                        <p:tgtEl>
                                          <p:spTgt spid="15"/>
                                        </p:tgtEl>
                                      </p:cBhvr>
                                    </p:animEffect>
                                  </p:childTnLst>
                                </p:cTn>
                              </p:par>
                            </p:childTnLst>
                          </p:cTn>
                        </p:par>
                        <p:par>
                          <p:cTn id="16" fill="hold">
                            <p:stCondLst>
                              <p:cond delay="2700"/>
                            </p:stCondLst>
                            <p:childTnLst>
                              <p:par>
                                <p:cTn id="17" presetID="9" presetClass="entr" presetSubtype="0"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dissolve">
                                      <p:cBhvr>
                                        <p:cTn id="19" dur="400"/>
                                        <p:tgtEl>
                                          <p:spTgt spid="17"/>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slide(fromBottom)">
                                      <p:cBhvr>
                                        <p:cTn id="23" dur="400"/>
                                        <p:tgtEl>
                                          <p:spTgt spid="19"/>
                                        </p:tgtEl>
                                      </p:cBhvr>
                                    </p:animEffect>
                                  </p:childTnLst>
                                </p:cTn>
                              </p:par>
                            </p:childTnLst>
                          </p:cTn>
                        </p:par>
                        <p:par>
                          <p:cTn id="24" fill="hold">
                            <p:stCondLst>
                              <p:cond delay="4500"/>
                            </p:stCondLst>
                            <p:childTnLst>
                              <p:par>
                                <p:cTn id="25" presetID="42" presetClass="entr" presetSubtype="8" fill="hold"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lide(fromLeft)">
                                      <p:cBhvr>
                                        <p:cTn id="27" dur="400"/>
                                        <p:tgtEl>
                                          <p:spTgt spid="22"/>
                                        </p:tgtEl>
                                      </p:cBhvr>
                                    </p:animEffect>
                                  </p:childTnLst>
                                </p:cTn>
                              </p:par>
                            </p:childTnLst>
                          </p:cTn>
                        </p:par>
                        <p:par>
                          <p:cTn id="28" fill="hold">
                            <p:stCondLst>
                              <p:cond delay="5400"/>
                            </p:stCondLst>
                            <p:childTnLst>
                              <p:par>
                                <p:cTn id="29" presetID="14" presetClass="entr" presetSubtype="10"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randombar(horizontal)">
                                      <p:cBhvr>
                                        <p:cTn id="31" dur="400"/>
                                        <p:tgtEl>
                                          <p:spTgt spid="24"/>
                                        </p:tgtEl>
                                      </p:cBhvr>
                                    </p:animEffect>
                                  </p:childTnLst>
                                </p:cTn>
                              </p:par>
                            </p:childTnLst>
                          </p:cTn>
                        </p:par>
                        <p:par>
                          <p:cTn id="32" fill="hold">
                            <p:stCondLst>
                              <p:cond delay="6300"/>
                            </p:stCondLst>
                            <p:childTnLst>
                              <p:par>
                                <p:cTn id="33" presetID="4" presetClass="entr" presetSubtype="0"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box(in)">
                                      <p:cBhvr>
                                        <p:cTn id="3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P spid="15" grpId="0"/>
      <p:bldP spid="17" grpId="0"/>
      <p:bldP spid="19" grpId="0"/>
      <p:bldP spid="22" grpId="0"/>
      <p:bldP spid="24" grpId="0"/>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5649968" y="2257425"/>
            <a:ext cx="2035064" cy="5791200"/>
          </a:xfrm>
          <a:prstGeom prst="rect">
            <a:avLst/>
          </a:prstGeom>
          <a:noFill/>
          <a:ln>
            <a:noFill/>
          </a:ln>
        </p:spPr>
        <p:txBody>
          <a:bodyPr wrap="none" lIns="0" tIns="0" rIns="0" bIns="0" anchor="t" anchorCtr="0">
            <a:spAutoFit/>
          </a:bodyPr>
          <a:lstStyle/>
          <a:p>
            <a:pPr algn="ctr"/>
            <a:r>
              <a:rPr lang="zh-CN" sz="28500" b="1" dirty="0">
                <a:solidFill>
                  <a:srgbClr val="0F1628"/>
                </a:solidFill>
                <a:latin typeface="Arial"/>
                <a:ea typeface="Microsoft YaHei"/>
                <a:cs typeface="Arial"/>
              </a:rPr>
              <a:t>I</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690123" cy="198120"/>
            <a:chOff x="749618" y="2656999"/>
            <a:chExt cx="690123" cy="198120"/>
          </a:xfrm>
        </p:grpSpPr>
        <p:sp>
          <p:nvSpPr>
            <p:cNvPr id="8" name="TextBox 8"/>
            <p:cNvSpPr txBox="1"/>
            <p:nvPr/>
          </p:nvSpPr>
          <p:spPr>
            <a:xfrm>
              <a:off x="749618" y="2656999"/>
              <a:ext cx="690123"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I</a:t>
              </a:r>
            </a:p>
          </p:txBody>
        </p:sp>
      </p:grpSp>
      <p:grpSp>
        <p:nvGrpSpPr>
          <p:cNvPr id="11" name="Group 11"/>
          <p:cNvGrpSpPr/>
          <p:nvPr/>
        </p:nvGrpSpPr>
        <p:grpSpPr>
          <a:xfrm>
            <a:off x="712470" y="3007995"/>
            <a:ext cx="6020000" cy="792480"/>
            <a:chOff x="712470" y="3007995"/>
            <a:chExt cx="6020000" cy="792480"/>
          </a:xfrm>
        </p:grpSpPr>
        <p:sp>
          <p:nvSpPr>
            <p:cNvPr id="10" name="TextBox 10"/>
            <p:cNvSpPr txBox="1"/>
            <p:nvPr/>
          </p:nvSpPr>
          <p:spPr>
            <a:xfrm>
              <a:off x="712470" y="3007995"/>
              <a:ext cx="6020000"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The Investment Case</a:t>
              </a:r>
            </a:p>
          </p:txBody>
        </p:sp>
      </p:grpSp>
      <p:grpSp>
        <p:nvGrpSpPr>
          <p:cNvPr id="13" name="Group 13"/>
          <p:cNvGrpSpPr/>
          <p:nvPr/>
        </p:nvGrpSpPr>
        <p:grpSpPr>
          <a:xfrm>
            <a:off x="762000" y="3657600"/>
            <a:ext cx="4572000" cy="19050"/>
            <a:chOff x="762000" y="3657600"/>
            <a:chExt cx="4572000" cy="19050"/>
          </a:xfrm>
        </p:grpSpPr>
        <p:sp>
          <p:nvSpPr>
            <p:cNvPr id="12" name="Rectangle 12"/>
            <p:cNvSpPr/>
            <p:nvPr/>
          </p:nvSpPr>
          <p:spPr>
            <a:xfrm>
              <a:off x="762000" y="3657600"/>
              <a:ext cx="4572000" cy="19050"/>
            </a:xfrm>
            <a:prstGeom prst="rect">
              <a:avLst/>
            </a:prstGeom>
            <a:solidFill>
              <a:srgbClr val="F5C842"/>
            </a:solidFill>
            <a:ln>
              <a:noFill/>
            </a:ln>
          </p:spPr>
        </p:sp>
      </p:grpSp>
      <p:grpSp>
        <p:nvGrpSpPr>
          <p:cNvPr id="15" name="Group 15"/>
          <p:cNvGrpSpPr/>
          <p:nvPr/>
        </p:nvGrpSpPr>
        <p:grpSpPr>
          <a:xfrm>
            <a:off x="742950" y="3838575"/>
            <a:ext cx="4178618" cy="304800"/>
            <a:chOff x="742950" y="3838575"/>
            <a:chExt cx="4178618" cy="304800"/>
          </a:xfrm>
        </p:grpSpPr>
        <p:sp>
          <p:nvSpPr>
            <p:cNvPr id="14" name="TextBox 14"/>
            <p:cNvSpPr txBox="1"/>
            <p:nvPr/>
          </p:nvSpPr>
          <p:spPr>
            <a:xfrm>
              <a:off x="742950" y="3838575"/>
              <a:ext cx="4178618"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Pivotal Question &amp; Financial Foundation</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400"/>
                                        <p:tgtEl>
                                          <p:spTgt spid="9"/>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strips(downRight)">
                                      <p:cBhvr>
                                        <p:cTn id="15" dur="400"/>
                                        <p:tgtEl>
                                          <p:spTgt spid="11"/>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edge">
                                      <p:cBhvr>
                                        <p:cTn id="19" dur="400"/>
                                        <p:tgtEl>
                                          <p:spTgt spid="13"/>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heel(4)">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9" name="Group 9"/>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441829"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Pivotal Question</a:t>
              </a:r>
            </a:p>
          </p:txBody>
        </p:sp>
        <p:sp>
          <p:nvSpPr>
            <p:cNvPr id="8" name="TextBox 8"/>
            <p:cNvSpPr txBox="1"/>
            <p:nvPr/>
          </p:nvSpPr>
          <p:spPr>
            <a:xfrm>
              <a:off x="10285547" y="332899"/>
              <a:ext cx="1156835"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Investment Case</a:t>
              </a:r>
            </a:p>
          </p:txBody>
        </p:sp>
      </p:grpSp>
      <p:grpSp>
        <p:nvGrpSpPr>
          <p:cNvPr id="11" name="Group 11"/>
          <p:cNvGrpSpPr/>
          <p:nvPr/>
        </p:nvGrpSpPr>
        <p:grpSpPr>
          <a:xfrm>
            <a:off x="723900" y="533400"/>
            <a:ext cx="1975390" cy="3657600"/>
            <a:chOff x="723900" y="533400"/>
            <a:chExt cx="1975390" cy="3657600"/>
          </a:xfrm>
        </p:grpSpPr>
        <p:sp>
          <p:nvSpPr>
            <p:cNvPr id="10" name="TextBox 10"/>
            <p:cNvSpPr txBox="1"/>
            <p:nvPr/>
          </p:nvSpPr>
          <p:spPr>
            <a:xfrm>
              <a:off x="723900" y="533400"/>
              <a:ext cx="1975390" cy="3657600"/>
            </a:xfrm>
            <a:prstGeom prst="rect">
              <a:avLst/>
            </a:prstGeom>
            <a:noFill/>
            <a:ln>
              <a:noFill/>
            </a:ln>
          </p:spPr>
          <p:txBody>
            <a:bodyPr wrap="none" lIns="0" tIns="0" rIns="0" bIns="0" anchor="t" anchorCtr="0">
              <a:spAutoFit/>
            </a:bodyPr>
            <a:lstStyle/>
            <a:p>
              <a:pPr algn="l"/>
              <a:r>
                <a:rPr lang="zh-CN" sz="18000" b="1" dirty="0">
                  <a:solidFill>
                    <a:srgbClr val="131B30"/>
                  </a:solidFill>
                  <a:latin typeface="Arial"/>
                  <a:ea typeface="Microsoft YaHei"/>
                  <a:cs typeface="Arial"/>
                </a:rPr>
                <a:t>"</a:t>
              </a:r>
            </a:p>
          </p:txBody>
        </p:sp>
      </p:grpSp>
      <p:grpSp>
        <p:nvGrpSpPr>
          <p:cNvPr id="17" name="Group 17"/>
          <p:cNvGrpSpPr/>
          <p:nvPr/>
        </p:nvGrpSpPr>
        <p:grpSpPr>
          <a:xfrm>
            <a:off x="1314450" y="2695575"/>
            <a:ext cx="8169616" cy="1447800"/>
            <a:chOff x="1314450" y="2695575"/>
            <a:chExt cx="8169616" cy="1447800"/>
          </a:xfrm>
        </p:grpSpPr>
        <p:sp>
          <p:nvSpPr>
            <p:cNvPr id="12" name="TextBox 12"/>
            <p:cNvSpPr txBox="1"/>
            <p:nvPr/>
          </p:nvSpPr>
          <p:spPr>
            <a:xfrm>
              <a:off x="1314450" y="2695575"/>
              <a:ext cx="8169616" cy="304800"/>
            </a:xfrm>
            <a:prstGeom prst="rect">
              <a:avLst/>
            </a:prstGeom>
            <a:noFill/>
            <a:ln>
              <a:noFill/>
            </a:ln>
          </p:spPr>
          <p:txBody>
            <a:bodyPr wrap="none" lIns="0" tIns="0" rIns="0" bIns="0" anchor="t" anchorCtr="0">
              <a:spAutoFit/>
            </a:bodyPr>
            <a:lstStyle/>
            <a:p>
              <a:pPr algn="l"/>
              <a:r>
                <a:rPr lang="zh-CN" sz="1500" b="1" dirty="0">
                  <a:solidFill>
                    <a:srgbClr val="E8EAF0"/>
                  </a:solidFill>
                  <a:latin typeface="Arial"/>
                  <a:ea typeface="Microsoft YaHei"/>
                  <a:cs typeface="Arial"/>
                </a:rPr>
                <a:t>Will Tesla's Robotaxi/Cybercab service demonstrate commercial viability</a:t>
              </a:r>
            </a:p>
          </p:txBody>
        </p:sp>
        <p:sp>
          <p:nvSpPr>
            <p:cNvPr id="13" name="TextBox 13"/>
            <p:cNvSpPr txBox="1"/>
            <p:nvPr/>
          </p:nvSpPr>
          <p:spPr>
            <a:xfrm>
              <a:off x="1314450" y="2981325"/>
              <a:ext cx="7203496" cy="304800"/>
            </a:xfrm>
            <a:prstGeom prst="rect">
              <a:avLst/>
            </a:prstGeom>
            <a:noFill/>
            <a:ln>
              <a:noFill/>
            </a:ln>
          </p:spPr>
          <p:txBody>
            <a:bodyPr wrap="none" lIns="0" tIns="0" rIns="0" bIns="0" anchor="t" anchorCtr="0">
              <a:spAutoFit/>
            </a:bodyPr>
            <a:lstStyle/>
            <a:p>
              <a:pPr algn="l"/>
              <a:r>
                <a:rPr lang="zh-CN" sz="1500" b="1" dirty="0">
                  <a:solidFill>
                    <a:srgbClr val="E8EAF0"/>
                  </a:solidFill>
                  <a:latin typeface="Arial"/>
                  <a:ea typeface="Microsoft YaHei"/>
                  <a:cs typeface="Arial"/>
                </a:rPr>
                <a:t>in Austin by Q4 2026 — with meaningful autonomous trip volume —</a:t>
              </a:r>
            </a:p>
          </p:txBody>
        </p:sp>
        <p:sp>
          <p:nvSpPr>
            <p:cNvPr id="14" name="TextBox 14"/>
            <p:cNvSpPr txBox="1"/>
            <p:nvPr/>
          </p:nvSpPr>
          <p:spPr>
            <a:xfrm>
              <a:off x="1314450" y="3267075"/>
              <a:ext cx="7226498" cy="304800"/>
            </a:xfrm>
            <a:prstGeom prst="rect">
              <a:avLst/>
            </a:prstGeom>
            <a:noFill/>
            <a:ln>
              <a:noFill/>
            </a:ln>
          </p:spPr>
          <p:txBody>
            <a:bodyPr wrap="none" lIns="0" tIns="0" rIns="0" bIns="0" anchor="t" anchorCtr="0">
              <a:spAutoFit/>
            </a:bodyPr>
            <a:lstStyle/>
            <a:p>
              <a:pPr algn="l"/>
              <a:r>
                <a:rPr lang="zh-CN" sz="1500" b="1" dirty="0">
                  <a:solidFill>
                    <a:srgbClr val="E8EAF0"/>
                  </a:solidFill>
                  <a:latin typeface="Arial"/>
                  <a:ea typeface="Microsoft YaHei"/>
                  <a:cs typeface="Arial"/>
                </a:rPr>
                <a:t>AND recover automotive gross margins above 20%, validating the</a:t>
              </a:r>
            </a:p>
          </p:txBody>
        </p:sp>
        <p:sp>
          <p:nvSpPr>
            <p:cNvPr id="15" name="TextBox 15"/>
            <p:cNvSpPr txBox="1"/>
            <p:nvPr/>
          </p:nvSpPr>
          <p:spPr>
            <a:xfrm>
              <a:off x="1314450" y="3552825"/>
              <a:ext cx="6904458" cy="304800"/>
            </a:xfrm>
            <a:prstGeom prst="rect">
              <a:avLst/>
            </a:prstGeom>
            <a:noFill/>
            <a:ln>
              <a:noFill/>
            </a:ln>
          </p:spPr>
          <p:txBody>
            <a:bodyPr wrap="none" lIns="0" tIns="0" rIns="0" bIns="0" anchor="t" anchorCtr="0">
              <a:spAutoFit/>
            </a:bodyPr>
            <a:lstStyle/>
            <a:p>
              <a:pPr algn="l"/>
              <a:r>
                <a:rPr lang="zh-CN" sz="1500" b="1" dirty="0">
                  <a:solidFill>
                    <a:srgbClr val="F5C842"/>
                  </a:solidFill>
                  <a:latin typeface="Arial"/>
                  <a:ea typeface="Microsoft YaHei"/>
                  <a:cs typeface="Arial"/>
                </a:rPr>
                <a:t>149x forward P/E that prices Tesla as an AI platform company</a:t>
              </a:r>
            </a:p>
          </p:txBody>
        </p:sp>
        <p:sp>
          <p:nvSpPr>
            <p:cNvPr id="16" name="TextBox 16"/>
            <p:cNvSpPr txBox="1"/>
            <p:nvPr/>
          </p:nvSpPr>
          <p:spPr>
            <a:xfrm>
              <a:off x="1314450" y="3838575"/>
              <a:ext cx="4029099" cy="304800"/>
            </a:xfrm>
            <a:prstGeom prst="rect">
              <a:avLst/>
            </a:prstGeom>
            <a:noFill/>
            <a:ln>
              <a:noFill/>
            </a:ln>
          </p:spPr>
          <p:txBody>
            <a:bodyPr wrap="none" lIns="0" tIns="0" rIns="0" bIns="0" anchor="t" anchorCtr="0">
              <a:spAutoFit/>
            </a:bodyPr>
            <a:lstStyle/>
            <a:p>
              <a:pPr algn="l"/>
              <a:r>
                <a:rPr lang="zh-CN" sz="1500" b="1" dirty="0">
                  <a:solidFill>
                    <a:srgbClr val="F5C842"/>
                  </a:solidFill>
                  <a:latin typeface="Arial"/>
                  <a:ea typeface="Microsoft YaHei"/>
                  <a:cs typeface="Arial"/>
                </a:rPr>
                <a:t>rather than an auto manufacturer?</a:t>
              </a:r>
            </a:p>
          </p:txBody>
        </p:sp>
      </p:grpSp>
      <p:grpSp>
        <p:nvGrpSpPr>
          <p:cNvPr id="21" name="Group 21"/>
          <p:cNvGrpSpPr/>
          <p:nvPr/>
        </p:nvGrpSpPr>
        <p:grpSpPr>
          <a:xfrm>
            <a:off x="571500" y="4533900"/>
            <a:ext cx="11049000" cy="671512"/>
            <a:chOff x="571500" y="4533900"/>
            <a:chExt cx="11049000" cy="671512"/>
          </a:xfrm>
        </p:grpSpPr>
        <p:sp>
          <p:nvSpPr>
            <p:cNvPr id="18" name="Rectangle 18"/>
            <p:cNvSpPr/>
            <p:nvPr/>
          </p:nvSpPr>
          <p:spPr>
            <a:xfrm>
              <a:off x="571500" y="4533900"/>
              <a:ext cx="11049000" cy="9525"/>
            </a:xfrm>
            <a:prstGeom prst="rect">
              <a:avLst/>
            </a:prstGeom>
            <a:solidFill>
              <a:srgbClr val="2A3A5C"/>
            </a:solidFill>
            <a:ln>
              <a:noFill/>
            </a:ln>
          </p:spPr>
        </p:sp>
        <p:sp>
          <p:nvSpPr>
            <p:cNvPr id="19" name="TextBox 19"/>
            <p:cNvSpPr txBox="1"/>
            <p:nvPr/>
          </p:nvSpPr>
          <p:spPr>
            <a:xfrm>
              <a:off x="749618" y="4771549"/>
              <a:ext cx="2230166"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CURRENT MILESTONES (Q1 2026)</a:t>
              </a:r>
            </a:p>
          </p:txBody>
        </p:sp>
        <p:sp>
          <p:nvSpPr>
            <p:cNvPr id="20" name="TextBox 20"/>
            <p:cNvSpPr txBox="1"/>
            <p:nvPr/>
          </p:nvSpPr>
          <p:spPr>
            <a:xfrm>
              <a:off x="748665" y="4992052"/>
              <a:ext cx="10140267"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Non-GAAP EPS $0.41 (beat +17.8%) · Auto GM% recovered to 21.1% · Energy segment growing strongly · Austin Robotaxi timeline uncertain</a:t>
              </a:r>
            </a:p>
          </p:txBody>
        </p:sp>
      </p:grpSp>
      <p:grpSp>
        <p:nvGrpSpPr>
          <p:cNvPr id="26" name="Group 26"/>
          <p:cNvGrpSpPr/>
          <p:nvPr/>
        </p:nvGrpSpPr>
        <p:grpSpPr>
          <a:xfrm>
            <a:off x="0" y="6324600"/>
            <a:ext cx="12192000" cy="533400"/>
            <a:chOff x="0" y="6324600"/>
            <a:chExt cx="12192000" cy="533400"/>
          </a:xfrm>
        </p:grpSpPr>
        <p:sp>
          <p:nvSpPr>
            <p:cNvPr id="22" name="Rectangle 22"/>
            <p:cNvSpPr/>
            <p:nvPr/>
          </p:nvSpPr>
          <p:spPr>
            <a:xfrm>
              <a:off x="0" y="6324600"/>
              <a:ext cx="12192000" cy="533400"/>
            </a:xfrm>
            <a:prstGeom prst="rect">
              <a:avLst/>
            </a:prstGeom>
            <a:solidFill>
              <a:srgbClr val="131B30"/>
            </a:solidFill>
            <a:ln>
              <a:noFill/>
            </a:ln>
          </p:spPr>
        </p:sp>
        <p:sp>
          <p:nvSpPr>
            <p:cNvPr id="23" name="Rectangle 23"/>
            <p:cNvSpPr/>
            <p:nvPr/>
          </p:nvSpPr>
          <p:spPr>
            <a:xfrm>
              <a:off x="0" y="6324600"/>
              <a:ext cx="12192000" cy="9525"/>
            </a:xfrm>
            <a:prstGeom prst="rect">
              <a:avLst/>
            </a:prstGeom>
            <a:solidFill>
              <a:srgbClr val="F5C842">
                <a:alpha val="35000"/>
              </a:srgbClr>
            </a:solidFill>
            <a:ln>
              <a:noFill/>
            </a:ln>
          </p:spPr>
        </p:sp>
        <p:sp>
          <p:nvSpPr>
            <p:cNvPr id="24" name="TextBox 24"/>
            <p:cNvSpPr txBox="1"/>
            <p:nvPr/>
          </p:nvSpPr>
          <p:spPr>
            <a:xfrm>
              <a:off x="749618" y="6533674"/>
              <a:ext cx="115683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Investment Case</a:t>
              </a:r>
            </a:p>
          </p:txBody>
        </p:sp>
        <p:sp>
          <p:nvSpPr>
            <p:cNvPr id="25" name="TextBox 25"/>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400"/>
                                        <p:tgtEl>
                                          <p:spTgt spid="11"/>
                                        </p:tgtEl>
                                      </p:cBhvr>
                                    </p:animEffect>
                                  </p:childTnLst>
                                </p:cTn>
                              </p:par>
                            </p:childTnLst>
                          </p:cTn>
                        </p:par>
                        <p:par>
                          <p:cTn id="12" fill="hold">
                            <p:stCondLst>
                              <p:cond delay="1800"/>
                            </p:stCondLst>
                            <p:childTnLst>
                              <p:par>
                                <p:cTn id="13" presetID="5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stretch(across)">
                                      <p:cBhvr>
                                        <p:cTn id="15" dur="400"/>
                                        <p:tgtEl>
                                          <p:spTgt spid="1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childTnLst>
                          </p:cTn>
                        </p:par>
                        <p:par>
                          <p:cTn id="20" fill="hold">
                            <p:stCondLst>
                              <p:cond delay="3600"/>
                            </p:stCondLst>
                            <p:childTnLst>
                              <p:par>
                                <p:cTn id="21" presetID="19" presetClass="entr" presetSubtype="0" fill="hold" nodeType="after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heel(1)">
                                      <p:cBhvr>
                                        <p:cTn id="23"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7" grpId="0"/>
      <p:bldP spid="21"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710963"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Financial Snapshot</a:t>
              </a:r>
            </a:p>
          </p:txBody>
        </p:sp>
      </p:grpSp>
      <p:grpSp>
        <p:nvGrpSpPr>
          <p:cNvPr id="11" name="Group 11"/>
          <p:cNvGrpSpPr/>
          <p:nvPr/>
        </p:nvGrpSpPr>
        <p:grpSpPr>
          <a:xfrm>
            <a:off x="571500" y="885349"/>
            <a:ext cx="11049000" cy="198120"/>
            <a:chOff x="571500" y="885349"/>
            <a:chExt cx="11049000" cy="198120"/>
          </a:xfrm>
        </p:grpSpPr>
        <p:sp>
          <p:nvSpPr>
            <p:cNvPr id="9" name="TextBox 9"/>
            <p:cNvSpPr txBox="1"/>
            <p:nvPr/>
          </p:nvSpPr>
          <p:spPr>
            <a:xfrm>
              <a:off x="749618" y="885349"/>
              <a:ext cx="1355481"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INCOME STATEMENT</a:t>
              </a:r>
            </a:p>
          </p:txBody>
        </p:sp>
        <p:sp>
          <p:nvSpPr>
            <p:cNvPr id="10" name="Rectangle 10"/>
            <p:cNvSpPr/>
            <p:nvPr/>
          </p:nvSpPr>
          <p:spPr>
            <a:xfrm>
              <a:off x="571500" y="1066800"/>
              <a:ext cx="11049000" cy="9525"/>
            </a:xfrm>
            <a:prstGeom prst="rect">
              <a:avLst/>
            </a:prstGeom>
            <a:solidFill>
              <a:srgbClr val="2A3A5C"/>
            </a:solidFill>
            <a:ln>
              <a:noFill/>
            </a:ln>
          </p:spPr>
        </p:sp>
      </p:grpSp>
      <p:grpSp>
        <p:nvGrpSpPr>
          <p:cNvPr id="21" name="Group 21"/>
          <p:cNvGrpSpPr/>
          <p:nvPr/>
        </p:nvGrpSpPr>
        <p:grpSpPr>
          <a:xfrm>
            <a:off x="571500" y="1104900"/>
            <a:ext cx="11049000" cy="266700"/>
            <a:chOff x="571500" y="1104900"/>
            <a:chExt cx="11049000" cy="266700"/>
          </a:xfrm>
        </p:grpSpPr>
        <p:sp>
          <p:nvSpPr>
            <p:cNvPr id="12" name="Rectangle 12"/>
            <p:cNvSpPr/>
            <p:nvPr/>
          </p:nvSpPr>
          <p:spPr>
            <a:xfrm>
              <a:off x="571500" y="1104900"/>
              <a:ext cx="11049000" cy="266700"/>
            </a:xfrm>
            <a:prstGeom prst="rect">
              <a:avLst/>
            </a:prstGeom>
            <a:solidFill>
              <a:srgbClr val="1A2540"/>
            </a:solidFill>
            <a:ln>
              <a:noFill/>
            </a:ln>
          </p:spPr>
        </p:sp>
        <p:sp>
          <p:nvSpPr>
            <p:cNvPr id="13" name="TextBox 13"/>
            <p:cNvSpPr txBox="1"/>
            <p:nvPr/>
          </p:nvSpPr>
          <p:spPr>
            <a:xfrm>
              <a:off x="750570" y="1188720"/>
              <a:ext cx="174679"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FY</a:t>
              </a:r>
            </a:p>
          </p:txBody>
        </p:sp>
        <p:sp>
          <p:nvSpPr>
            <p:cNvPr id="14" name="TextBox 14"/>
            <p:cNvSpPr txBox="1"/>
            <p:nvPr/>
          </p:nvSpPr>
          <p:spPr>
            <a:xfrm>
              <a:off x="1893570" y="1188720"/>
              <a:ext cx="55422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REVENUE</a:t>
              </a:r>
            </a:p>
          </p:txBody>
        </p:sp>
        <p:sp>
          <p:nvSpPr>
            <p:cNvPr id="15" name="TextBox 15"/>
            <p:cNvSpPr txBox="1"/>
            <p:nvPr/>
          </p:nvSpPr>
          <p:spPr>
            <a:xfrm>
              <a:off x="3417570" y="1188720"/>
              <a:ext cx="326498"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YoY%</a:t>
              </a:r>
            </a:p>
          </p:txBody>
        </p:sp>
        <p:sp>
          <p:nvSpPr>
            <p:cNvPr id="16" name="TextBox 16"/>
            <p:cNvSpPr txBox="1"/>
            <p:nvPr/>
          </p:nvSpPr>
          <p:spPr>
            <a:xfrm>
              <a:off x="4465320" y="1188720"/>
              <a:ext cx="91997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GROSS MARGIN</a:t>
              </a:r>
            </a:p>
          </p:txBody>
        </p:sp>
        <p:sp>
          <p:nvSpPr>
            <p:cNvPr id="17" name="TextBox 17"/>
            <p:cNvSpPr txBox="1"/>
            <p:nvPr/>
          </p:nvSpPr>
          <p:spPr>
            <a:xfrm>
              <a:off x="6179820" y="1188720"/>
              <a:ext cx="719847"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OP INCOME</a:t>
              </a:r>
            </a:p>
          </p:txBody>
        </p:sp>
        <p:sp>
          <p:nvSpPr>
            <p:cNvPr id="18" name="TextBox 18"/>
            <p:cNvSpPr txBox="1"/>
            <p:nvPr/>
          </p:nvSpPr>
          <p:spPr>
            <a:xfrm>
              <a:off x="7799070" y="1188720"/>
              <a:ext cx="768153"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NET INCOME</a:t>
              </a:r>
            </a:p>
          </p:txBody>
        </p:sp>
        <p:sp>
          <p:nvSpPr>
            <p:cNvPr id="19" name="TextBox 19"/>
            <p:cNvSpPr txBox="1"/>
            <p:nvPr/>
          </p:nvSpPr>
          <p:spPr>
            <a:xfrm>
              <a:off x="9418320" y="1188720"/>
              <a:ext cx="67844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EPS (Dil.)</a:t>
              </a:r>
            </a:p>
          </p:txBody>
        </p:sp>
        <p:sp>
          <p:nvSpPr>
            <p:cNvPr id="20" name="TextBox 20"/>
            <p:cNvSpPr txBox="1"/>
            <p:nvPr/>
          </p:nvSpPr>
          <p:spPr>
            <a:xfrm>
              <a:off x="10751820" y="1188720"/>
              <a:ext cx="250588"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FCF</a:t>
              </a:r>
            </a:p>
          </p:txBody>
        </p:sp>
      </p:grpSp>
      <p:grpSp>
        <p:nvGrpSpPr>
          <p:cNvPr id="31" name="Group 31"/>
          <p:cNvGrpSpPr/>
          <p:nvPr/>
        </p:nvGrpSpPr>
        <p:grpSpPr>
          <a:xfrm>
            <a:off x="571500" y="1371600"/>
            <a:ext cx="11049000" cy="264319"/>
            <a:chOff x="571500" y="1371600"/>
            <a:chExt cx="11049000" cy="264319"/>
          </a:xfrm>
        </p:grpSpPr>
        <p:sp>
          <p:nvSpPr>
            <p:cNvPr id="22" name="Rectangle 22"/>
            <p:cNvSpPr/>
            <p:nvPr/>
          </p:nvSpPr>
          <p:spPr>
            <a:xfrm>
              <a:off x="571500" y="1371600"/>
              <a:ext cx="11049000" cy="247650"/>
            </a:xfrm>
            <a:prstGeom prst="rect">
              <a:avLst/>
            </a:prstGeom>
            <a:solidFill>
              <a:srgbClr val="131B30"/>
            </a:solidFill>
            <a:ln>
              <a:noFill/>
            </a:ln>
          </p:spPr>
        </p:sp>
        <p:sp>
          <p:nvSpPr>
            <p:cNvPr id="23" name="TextBox 23"/>
            <p:cNvSpPr txBox="1"/>
            <p:nvPr/>
          </p:nvSpPr>
          <p:spPr>
            <a:xfrm>
              <a:off x="749618" y="1437799"/>
              <a:ext cx="33804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2022</a:t>
              </a:r>
            </a:p>
          </p:txBody>
        </p:sp>
        <p:sp>
          <p:nvSpPr>
            <p:cNvPr id="24" name="TextBox 24"/>
            <p:cNvSpPr txBox="1"/>
            <p:nvPr/>
          </p:nvSpPr>
          <p:spPr>
            <a:xfrm>
              <a:off x="1892618" y="1437799"/>
              <a:ext cx="4590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$81.5B</a:t>
              </a:r>
            </a:p>
          </p:txBody>
        </p:sp>
        <p:sp>
          <p:nvSpPr>
            <p:cNvPr id="25" name="TextBox 25"/>
            <p:cNvSpPr txBox="1"/>
            <p:nvPr/>
          </p:nvSpPr>
          <p:spPr>
            <a:xfrm>
              <a:off x="3416618" y="1437799"/>
              <a:ext cx="459081"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+51.4%</a:t>
              </a:r>
            </a:p>
          </p:txBody>
        </p:sp>
        <p:sp>
          <p:nvSpPr>
            <p:cNvPr id="26" name="TextBox 26"/>
            <p:cNvSpPr txBox="1"/>
            <p:nvPr/>
          </p:nvSpPr>
          <p:spPr>
            <a:xfrm>
              <a:off x="4464368" y="14377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25.6%</a:t>
              </a:r>
            </a:p>
          </p:txBody>
        </p:sp>
        <p:sp>
          <p:nvSpPr>
            <p:cNvPr id="27" name="TextBox 27"/>
            <p:cNvSpPr txBox="1"/>
            <p:nvPr/>
          </p:nvSpPr>
          <p:spPr>
            <a:xfrm>
              <a:off x="6178868" y="1437799"/>
              <a:ext cx="4590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$13.8B</a:t>
              </a:r>
            </a:p>
          </p:txBody>
        </p:sp>
        <p:sp>
          <p:nvSpPr>
            <p:cNvPr id="28" name="TextBox 28"/>
            <p:cNvSpPr txBox="1"/>
            <p:nvPr/>
          </p:nvSpPr>
          <p:spPr>
            <a:xfrm>
              <a:off x="7798118" y="1437799"/>
              <a:ext cx="4590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$12.6B</a:t>
              </a:r>
            </a:p>
          </p:txBody>
        </p:sp>
        <p:sp>
          <p:nvSpPr>
            <p:cNvPr id="29" name="TextBox 29"/>
            <p:cNvSpPr txBox="1"/>
            <p:nvPr/>
          </p:nvSpPr>
          <p:spPr>
            <a:xfrm>
              <a:off x="9417368" y="14377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$3.62</a:t>
              </a:r>
            </a:p>
          </p:txBody>
        </p:sp>
        <p:sp>
          <p:nvSpPr>
            <p:cNvPr id="30" name="TextBox 30"/>
            <p:cNvSpPr txBox="1"/>
            <p:nvPr/>
          </p:nvSpPr>
          <p:spPr>
            <a:xfrm>
              <a:off x="10750868" y="1437799"/>
              <a:ext cx="416362"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$7.6B</a:t>
              </a:r>
            </a:p>
          </p:txBody>
        </p:sp>
      </p:grpSp>
      <p:grpSp>
        <p:nvGrpSpPr>
          <p:cNvPr id="41" name="Group 41"/>
          <p:cNvGrpSpPr/>
          <p:nvPr/>
        </p:nvGrpSpPr>
        <p:grpSpPr>
          <a:xfrm>
            <a:off x="571500" y="1619250"/>
            <a:ext cx="11049000" cy="264319"/>
            <a:chOff x="571500" y="1619250"/>
            <a:chExt cx="11049000" cy="264319"/>
          </a:xfrm>
        </p:grpSpPr>
        <p:sp>
          <p:nvSpPr>
            <p:cNvPr id="32" name="Rectangle 32"/>
            <p:cNvSpPr/>
            <p:nvPr/>
          </p:nvSpPr>
          <p:spPr>
            <a:xfrm>
              <a:off x="571500" y="1619250"/>
              <a:ext cx="11049000" cy="247650"/>
            </a:xfrm>
            <a:prstGeom prst="rect">
              <a:avLst/>
            </a:prstGeom>
            <a:solidFill>
              <a:srgbClr val="0A0E1A"/>
            </a:solidFill>
            <a:ln>
              <a:noFill/>
            </a:ln>
          </p:spPr>
        </p:sp>
        <p:sp>
          <p:nvSpPr>
            <p:cNvPr id="33" name="TextBox 33"/>
            <p:cNvSpPr txBox="1"/>
            <p:nvPr/>
          </p:nvSpPr>
          <p:spPr>
            <a:xfrm>
              <a:off x="749618" y="1685449"/>
              <a:ext cx="33804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2023</a:t>
              </a:r>
            </a:p>
          </p:txBody>
        </p:sp>
        <p:sp>
          <p:nvSpPr>
            <p:cNvPr id="34" name="TextBox 34"/>
            <p:cNvSpPr txBox="1"/>
            <p:nvPr/>
          </p:nvSpPr>
          <p:spPr>
            <a:xfrm>
              <a:off x="1892618" y="1685449"/>
              <a:ext cx="4946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$96.8B</a:t>
              </a:r>
            </a:p>
          </p:txBody>
        </p:sp>
        <p:sp>
          <p:nvSpPr>
            <p:cNvPr id="35" name="TextBox 35"/>
            <p:cNvSpPr txBox="1"/>
            <p:nvPr/>
          </p:nvSpPr>
          <p:spPr>
            <a:xfrm>
              <a:off x="3416618" y="1685449"/>
              <a:ext cx="459081"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+18.8%</a:t>
              </a:r>
            </a:p>
          </p:txBody>
        </p:sp>
        <p:sp>
          <p:nvSpPr>
            <p:cNvPr id="36" name="TextBox 36"/>
            <p:cNvSpPr txBox="1"/>
            <p:nvPr/>
          </p:nvSpPr>
          <p:spPr>
            <a:xfrm>
              <a:off x="4464368" y="1685449"/>
              <a:ext cx="380762"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18.3%</a:t>
              </a:r>
            </a:p>
          </p:txBody>
        </p:sp>
        <p:sp>
          <p:nvSpPr>
            <p:cNvPr id="37" name="TextBox 37"/>
            <p:cNvSpPr txBox="1"/>
            <p:nvPr/>
          </p:nvSpPr>
          <p:spPr>
            <a:xfrm>
              <a:off x="6178868" y="1685449"/>
              <a:ext cx="416362"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$8.9B</a:t>
              </a:r>
            </a:p>
          </p:txBody>
        </p:sp>
        <p:sp>
          <p:nvSpPr>
            <p:cNvPr id="38" name="TextBox 38"/>
            <p:cNvSpPr txBox="1"/>
            <p:nvPr/>
          </p:nvSpPr>
          <p:spPr>
            <a:xfrm>
              <a:off x="7798118" y="1685449"/>
              <a:ext cx="537400"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$15.0B†</a:t>
              </a:r>
            </a:p>
          </p:txBody>
        </p:sp>
        <p:sp>
          <p:nvSpPr>
            <p:cNvPr id="39" name="TextBox 39"/>
            <p:cNvSpPr txBox="1"/>
            <p:nvPr/>
          </p:nvSpPr>
          <p:spPr>
            <a:xfrm>
              <a:off x="9417368" y="1685449"/>
              <a:ext cx="4590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$4.31†</a:t>
              </a:r>
            </a:p>
          </p:txBody>
        </p:sp>
        <p:sp>
          <p:nvSpPr>
            <p:cNvPr id="40" name="TextBox 40"/>
            <p:cNvSpPr txBox="1"/>
            <p:nvPr/>
          </p:nvSpPr>
          <p:spPr>
            <a:xfrm>
              <a:off x="10750868" y="168544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$4.4B</a:t>
              </a:r>
            </a:p>
          </p:txBody>
        </p:sp>
      </p:grpSp>
      <p:grpSp>
        <p:nvGrpSpPr>
          <p:cNvPr id="51" name="Group 51"/>
          <p:cNvGrpSpPr/>
          <p:nvPr/>
        </p:nvGrpSpPr>
        <p:grpSpPr>
          <a:xfrm>
            <a:off x="571500" y="1866900"/>
            <a:ext cx="11049000" cy="264319"/>
            <a:chOff x="571500" y="1866900"/>
            <a:chExt cx="11049000" cy="264319"/>
          </a:xfrm>
        </p:grpSpPr>
        <p:sp>
          <p:nvSpPr>
            <p:cNvPr id="42" name="Rectangle 42"/>
            <p:cNvSpPr/>
            <p:nvPr/>
          </p:nvSpPr>
          <p:spPr>
            <a:xfrm>
              <a:off x="571500" y="1866900"/>
              <a:ext cx="11049000" cy="247650"/>
            </a:xfrm>
            <a:prstGeom prst="rect">
              <a:avLst/>
            </a:prstGeom>
            <a:solidFill>
              <a:srgbClr val="131B30"/>
            </a:solidFill>
            <a:ln>
              <a:noFill/>
            </a:ln>
          </p:spPr>
        </p:sp>
        <p:sp>
          <p:nvSpPr>
            <p:cNvPr id="43" name="TextBox 43"/>
            <p:cNvSpPr txBox="1"/>
            <p:nvPr/>
          </p:nvSpPr>
          <p:spPr>
            <a:xfrm>
              <a:off x="749618" y="1933099"/>
              <a:ext cx="33804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2024</a:t>
              </a:r>
            </a:p>
          </p:txBody>
        </p:sp>
        <p:sp>
          <p:nvSpPr>
            <p:cNvPr id="44" name="TextBox 44"/>
            <p:cNvSpPr txBox="1"/>
            <p:nvPr/>
          </p:nvSpPr>
          <p:spPr>
            <a:xfrm>
              <a:off x="1892618" y="1933099"/>
              <a:ext cx="4946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$97.7B</a:t>
              </a:r>
            </a:p>
          </p:txBody>
        </p:sp>
        <p:sp>
          <p:nvSpPr>
            <p:cNvPr id="45" name="TextBox 45"/>
            <p:cNvSpPr txBox="1"/>
            <p:nvPr/>
          </p:nvSpPr>
          <p:spPr>
            <a:xfrm>
              <a:off x="3416618" y="1933099"/>
              <a:ext cx="41636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+0.9%</a:t>
              </a:r>
            </a:p>
          </p:txBody>
        </p:sp>
        <p:sp>
          <p:nvSpPr>
            <p:cNvPr id="46" name="TextBox 46"/>
            <p:cNvSpPr txBox="1"/>
            <p:nvPr/>
          </p:nvSpPr>
          <p:spPr>
            <a:xfrm>
              <a:off x="4464368" y="1933099"/>
              <a:ext cx="380762"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17.9%</a:t>
              </a:r>
            </a:p>
          </p:txBody>
        </p:sp>
        <p:sp>
          <p:nvSpPr>
            <p:cNvPr id="47" name="TextBox 47"/>
            <p:cNvSpPr txBox="1"/>
            <p:nvPr/>
          </p:nvSpPr>
          <p:spPr>
            <a:xfrm>
              <a:off x="6178868" y="1933099"/>
              <a:ext cx="416362"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$7.8B</a:t>
              </a:r>
            </a:p>
          </p:txBody>
        </p:sp>
        <p:sp>
          <p:nvSpPr>
            <p:cNvPr id="48" name="TextBox 48"/>
            <p:cNvSpPr txBox="1"/>
            <p:nvPr/>
          </p:nvSpPr>
          <p:spPr>
            <a:xfrm>
              <a:off x="7798118" y="1933099"/>
              <a:ext cx="3807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$7.1B</a:t>
              </a:r>
            </a:p>
          </p:txBody>
        </p:sp>
        <p:sp>
          <p:nvSpPr>
            <p:cNvPr id="49" name="TextBox 49"/>
            <p:cNvSpPr txBox="1"/>
            <p:nvPr/>
          </p:nvSpPr>
          <p:spPr>
            <a:xfrm>
              <a:off x="9417368" y="19330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$2.04</a:t>
              </a:r>
            </a:p>
          </p:txBody>
        </p:sp>
        <p:sp>
          <p:nvSpPr>
            <p:cNvPr id="50" name="TextBox 50"/>
            <p:cNvSpPr txBox="1"/>
            <p:nvPr/>
          </p:nvSpPr>
          <p:spPr>
            <a:xfrm>
              <a:off x="10750868" y="193309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$3.6B</a:t>
              </a:r>
            </a:p>
          </p:txBody>
        </p:sp>
      </p:grpSp>
      <p:grpSp>
        <p:nvGrpSpPr>
          <p:cNvPr id="62" name="Group 62"/>
          <p:cNvGrpSpPr/>
          <p:nvPr/>
        </p:nvGrpSpPr>
        <p:grpSpPr>
          <a:xfrm>
            <a:off x="571500" y="2114550"/>
            <a:ext cx="11049000" cy="264319"/>
            <a:chOff x="571500" y="2114550"/>
            <a:chExt cx="11049000" cy="264319"/>
          </a:xfrm>
        </p:grpSpPr>
        <p:sp>
          <p:nvSpPr>
            <p:cNvPr id="52" name="Rectangle 52"/>
            <p:cNvSpPr/>
            <p:nvPr/>
          </p:nvSpPr>
          <p:spPr>
            <a:xfrm>
              <a:off x="571500" y="2114550"/>
              <a:ext cx="11049000" cy="247650"/>
            </a:xfrm>
            <a:prstGeom prst="rect">
              <a:avLst/>
            </a:prstGeom>
            <a:solidFill>
              <a:srgbClr val="1A2A44"/>
            </a:solidFill>
            <a:ln>
              <a:noFill/>
            </a:ln>
          </p:spPr>
        </p:sp>
        <p:sp>
          <p:nvSpPr>
            <p:cNvPr id="53" name="Rectangle 53"/>
            <p:cNvSpPr/>
            <p:nvPr/>
          </p:nvSpPr>
          <p:spPr>
            <a:xfrm>
              <a:off x="571500" y="2114550"/>
              <a:ext cx="38100" cy="247650"/>
            </a:xfrm>
            <a:prstGeom prst="rect">
              <a:avLst/>
            </a:prstGeom>
            <a:solidFill>
              <a:srgbClr val="F5C842"/>
            </a:solidFill>
            <a:ln>
              <a:noFill/>
            </a:ln>
          </p:spPr>
        </p:sp>
        <p:sp>
          <p:nvSpPr>
            <p:cNvPr id="54" name="TextBox 54"/>
            <p:cNvSpPr txBox="1"/>
            <p:nvPr/>
          </p:nvSpPr>
          <p:spPr>
            <a:xfrm>
              <a:off x="749618" y="2180749"/>
              <a:ext cx="353706"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2025</a:t>
              </a:r>
            </a:p>
          </p:txBody>
        </p:sp>
        <p:sp>
          <p:nvSpPr>
            <p:cNvPr id="55" name="TextBox 55"/>
            <p:cNvSpPr txBox="1"/>
            <p:nvPr/>
          </p:nvSpPr>
          <p:spPr>
            <a:xfrm>
              <a:off x="1892618" y="2180749"/>
              <a:ext cx="518177" cy="198120"/>
            </a:xfrm>
            <a:prstGeom prst="rect">
              <a:avLst/>
            </a:prstGeom>
            <a:noFill/>
            <a:ln>
              <a:noFill/>
            </a:ln>
          </p:spPr>
          <p:txBody>
            <a:bodyPr wrap="none" lIns="0" tIns="0" rIns="0" bIns="0" anchor="t" anchorCtr="0">
              <a:spAutoFit/>
            </a:bodyPr>
            <a:lstStyle/>
            <a:p>
              <a:pPr algn="l"/>
              <a:r>
                <a:rPr lang="zh-CN" sz="975" b="1" dirty="0">
                  <a:solidFill>
                    <a:srgbClr val="E8EAF0"/>
                  </a:solidFill>
                  <a:latin typeface="Arial"/>
                  <a:ea typeface="Microsoft YaHei"/>
                  <a:cs typeface="Arial"/>
                </a:rPr>
                <a:t>$94.8B</a:t>
              </a:r>
            </a:p>
          </p:txBody>
        </p:sp>
        <p:sp>
          <p:nvSpPr>
            <p:cNvPr id="56" name="TextBox 56"/>
            <p:cNvSpPr txBox="1"/>
            <p:nvPr/>
          </p:nvSpPr>
          <p:spPr>
            <a:xfrm>
              <a:off x="3416618" y="2180749"/>
              <a:ext cx="435941" cy="198120"/>
            </a:xfrm>
            <a:prstGeom prst="rect">
              <a:avLst/>
            </a:prstGeom>
            <a:noFill/>
            <a:ln>
              <a:noFill/>
            </a:ln>
          </p:spPr>
          <p:txBody>
            <a:bodyPr wrap="none" lIns="0" tIns="0" rIns="0" bIns="0" anchor="t" anchorCtr="0">
              <a:spAutoFit/>
            </a:bodyPr>
            <a:lstStyle/>
            <a:p>
              <a:pPr algn="l"/>
              <a:r>
                <a:rPr lang="zh-CN" sz="975" b="1" dirty="0">
                  <a:solidFill>
                    <a:srgbClr val="E05C5C"/>
                  </a:solidFill>
                  <a:latin typeface="Arial"/>
                  <a:ea typeface="Microsoft YaHei"/>
                  <a:cs typeface="Arial"/>
                </a:rPr>
                <a:t>-2.9%</a:t>
              </a:r>
            </a:p>
          </p:txBody>
        </p:sp>
        <p:sp>
          <p:nvSpPr>
            <p:cNvPr id="57" name="TextBox 57"/>
            <p:cNvSpPr txBox="1"/>
            <p:nvPr/>
          </p:nvSpPr>
          <p:spPr>
            <a:xfrm>
              <a:off x="4464368" y="2180749"/>
              <a:ext cx="398562" cy="198120"/>
            </a:xfrm>
            <a:prstGeom prst="rect">
              <a:avLst/>
            </a:prstGeom>
            <a:noFill/>
            <a:ln>
              <a:noFill/>
            </a:ln>
          </p:spPr>
          <p:txBody>
            <a:bodyPr wrap="none" lIns="0" tIns="0" rIns="0" bIns="0" anchor="t" anchorCtr="0">
              <a:spAutoFit/>
            </a:bodyPr>
            <a:lstStyle/>
            <a:p>
              <a:pPr algn="l"/>
              <a:r>
                <a:rPr lang="zh-CN" sz="975" b="1" dirty="0">
                  <a:solidFill>
                    <a:srgbClr val="8899BB"/>
                  </a:solidFill>
                  <a:latin typeface="Arial"/>
                  <a:ea typeface="Microsoft YaHei"/>
                  <a:cs typeface="Arial"/>
                </a:rPr>
                <a:t>18.0%</a:t>
              </a:r>
            </a:p>
          </p:txBody>
        </p:sp>
        <p:sp>
          <p:nvSpPr>
            <p:cNvPr id="58" name="TextBox 58"/>
            <p:cNvSpPr txBox="1"/>
            <p:nvPr/>
          </p:nvSpPr>
          <p:spPr>
            <a:xfrm>
              <a:off x="6178868" y="2180749"/>
              <a:ext cx="435941" cy="198120"/>
            </a:xfrm>
            <a:prstGeom prst="rect">
              <a:avLst/>
            </a:prstGeom>
            <a:noFill/>
            <a:ln>
              <a:noFill/>
            </a:ln>
          </p:spPr>
          <p:txBody>
            <a:bodyPr wrap="none" lIns="0" tIns="0" rIns="0" bIns="0" anchor="t" anchorCtr="0">
              <a:spAutoFit/>
            </a:bodyPr>
            <a:lstStyle/>
            <a:p>
              <a:pPr algn="l"/>
              <a:r>
                <a:rPr lang="zh-CN" sz="975" b="1" dirty="0">
                  <a:solidFill>
                    <a:srgbClr val="E05C5C"/>
                  </a:solidFill>
                  <a:latin typeface="Arial"/>
                  <a:ea typeface="Microsoft YaHei"/>
                  <a:cs typeface="Arial"/>
                </a:rPr>
                <a:t>$4.8B</a:t>
              </a:r>
            </a:p>
          </p:txBody>
        </p:sp>
        <p:sp>
          <p:nvSpPr>
            <p:cNvPr id="59" name="TextBox 59"/>
            <p:cNvSpPr txBox="1"/>
            <p:nvPr/>
          </p:nvSpPr>
          <p:spPr>
            <a:xfrm>
              <a:off x="7798118" y="2180749"/>
              <a:ext cx="435941" cy="198120"/>
            </a:xfrm>
            <a:prstGeom prst="rect">
              <a:avLst/>
            </a:prstGeom>
            <a:noFill/>
            <a:ln>
              <a:noFill/>
            </a:ln>
          </p:spPr>
          <p:txBody>
            <a:bodyPr wrap="none" lIns="0" tIns="0" rIns="0" bIns="0" anchor="t" anchorCtr="0">
              <a:spAutoFit/>
            </a:bodyPr>
            <a:lstStyle/>
            <a:p>
              <a:pPr algn="l"/>
              <a:r>
                <a:rPr lang="zh-CN" sz="975" b="1" dirty="0">
                  <a:solidFill>
                    <a:srgbClr val="E8EAF0"/>
                  </a:solidFill>
                  <a:latin typeface="Arial"/>
                  <a:ea typeface="Microsoft YaHei"/>
                  <a:cs typeface="Arial"/>
                </a:rPr>
                <a:t>$3.8B</a:t>
              </a:r>
            </a:p>
          </p:txBody>
        </p:sp>
        <p:sp>
          <p:nvSpPr>
            <p:cNvPr id="60" name="TextBox 60"/>
            <p:cNvSpPr txBox="1"/>
            <p:nvPr/>
          </p:nvSpPr>
          <p:spPr>
            <a:xfrm>
              <a:off x="9417368" y="2180749"/>
              <a:ext cx="398562" cy="198120"/>
            </a:xfrm>
            <a:prstGeom prst="rect">
              <a:avLst/>
            </a:prstGeom>
            <a:noFill/>
            <a:ln>
              <a:noFill/>
            </a:ln>
          </p:spPr>
          <p:txBody>
            <a:bodyPr wrap="none" lIns="0" tIns="0" rIns="0" bIns="0" anchor="t" anchorCtr="0">
              <a:spAutoFit/>
            </a:bodyPr>
            <a:lstStyle/>
            <a:p>
              <a:pPr algn="l"/>
              <a:r>
                <a:rPr lang="zh-CN" sz="975" b="1" dirty="0">
                  <a:solidFill>
                    <a:srgbClr val="E8EAF0"/>
                  </a:solidFill>
                  <a:latin typeface="Arial"/>
                  <a:ea typeface="Microsoft YaHei"/>
                  <a:cs typeface="Arial"/>
                </a:rPr>
                <a:t>$1.08</a:t>
              </a:r>
            </a:p>
          </p:txBody>
        </p:sp>
        <p:sp>
          <p:nvSpPr>
            <p:cNvPr id="61" name="TextBox 61"/>
            <p:cNvSpPr txBox="1"/>
            <p:nvPr/>
          </p:nvSpPr>
          <p:spPr>
            <a:xfrm>
              <a:off x="10750868" y="2180749"/>
              <a:ext cx="435941" cy="198120"/>
            </a:xfrm>
            <a:prstGeom prst="rect">
              <a:avLst/>
            </a:prstGeom>
            <a:noFill/>
            <a:ln>
              <a:noFill/>
            </a:ln>
          </p:spPr>
          <p:txBody>
            <a:bodyPr wrap="none" lIns="0" tIns="0" rIns="0" bIns="0" anchor="t" anchorCtr="0">
              <a:spAutoFit/>
            </a:bodyPr>
            <a:lstStyle/>
            <a:p>
              <a:pPr algn="l"/>
              <a:r>
                <a:rPr lang="zh-CN" sz="975" b="1" dirty="0">
                  <a:solidFill>
                    <a:srgbClr val="4CAF82"/>
                  </a:solidFill>
                  <a:latin typeface="Arial"/>
                  <a:ea typeface="Microsoft YaHei"/>
                  <a:cs typeface="Arial"/>
                </a:rPr>
                <a:t>$6.2B</a:t>
              </a:r>
            </a:p>
          </p:txBody>
        </p:sp>
      </p:grpSp>
      <p:grpSp>
        <p:nvGrpSpPr>
          <p:cNvPr id="65" name="Group 65"/>
          <p:cNvGrpSpPr/>
          <p:nvPr/>
        </p:nvGrpSpPr>
        <p:grpSpPr>
          <a:xfrm>
            <a:off x="571500" y="2618899"/>
            <a:ext cx="11049000" cy="198120"/>
            <a:chOff x="571500" y="2618899"/>
            <a:chExt cx="11049000" cy="198120"/>
          </a:xfrm>
        </p:grpSpPr>
        <p:sp>
          <p:nvSpPr>
            <p:cNvPr id="63" name="TextBox 63"/>
            <p:cNvSpPr txBox="1"/>
            <p:nvPr/>
          </p:nvSpPr>
          <p:spPr>
            <a:xfrm>
              <a:off x="749618" y="2618899"/>
              <a:ext cx="1086348"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KEY TAKEAWAYS</a:t>
              </a:r>
            </a:p>
          </p:txBody>
        </p:sp>
        <p:sp>
          <p:nvSpPr>
            <p:cNvPr id="64" name="Rectangle 64"/>
            <p:cNvSpPr/>
            <p:nvPr/>
          </p:nvSpPr>
          <p:spPr>
            <a:xfrm>
              <a:off x="571500" y="2800350"/>
              <a:ext cx="11049000" cy="9525"/>
            </a:xfrm>
            <a:prstGeom prst="rect">
              <a:avLst/>
            </a:prstGeom>
            <a:solidFill>
              <a:srgbClr val="2A3A5C"/>
            </a:solidFill>
            <a:ln>
              <a:noFill/>
            </a:ln>
          </p:spPr>
        </p:sp>
      </p:grpSp>
      <p:grpSp>
        <p:nvGrpSpPr>
          <p:cNvPr id="70" name="Group 70"/>
          <p:cNvGrpSpPr/>
          <p:nvPr/>
        </p:nvGrpSpPr>
        <p:grpSpPr>
          <a:xfrm>
            <a:off x="571500" y="2895600"/>
            <a:ext cx="2571750" cy="952500"/>
            <a:chOff x="571500" y="2895600"/>
            <a:chExt cx="2571750" cy="952500"/>
          </a:xfrm>
        </p:grpSpPr>
        <p:sp>
          <p:nvSpPr>
            <p:cNvPr id="66" name="Rectangle 66"/>
            <p:cNvSpPr/>
            <p:nvPr/>
          </p:nvSpPr>
          <p:spPr>
            <a:xfrm>
              <a:off x="571500" y="2895600"/>
              <a:ext cx="2571750" cy="952500"/>
            </a:xfrm>
            <a:prstGeom prst="roundRect">
              <a:avLst>
                <a:gd name="adj" fmla="val 4000"/>
              </a:avLst>
            </a:prstGeom>
            <a:solidFill>
              <a:srgbClr val="131B30"/>
            </a:solidFill>
            <a:ln>
              <a:noFill/>
            </a:ln>
          </p:spPr>
        </p:sp>
        <p:sp>
          <p:nvSpPr>
            <p:cNvPr id="67" name="TextBox 67"/>
            <p:cNvSpPr txBox="1"/>
            <p:nvPr/>
          </p:nvSpPr>
          <p:spPr>
            <a:xfrm>
              <a:off x="750570" y="3046095"/>
              <a:ext cx="100278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REVENUE (TTM)</a:t>
              </a:r>
            </a:p>
          </p:txBody>
        </p:sp>
        <p:sp>
          <p:nvSpPr>
            <p:cNvPr id="68" name="TextBox 68"/>
            <p:cNvSpPr txBox="1"/>
            <p:nvPr/>
          </p:nvSpPr>
          <p:spPr>
            <a:xfrm>
              <a:off x="731520" y="3265170"/>
              <a:ext cx="1275512" cy="487680"/>
            </a:xfrm>
            <a:prstGeom prst="rect">
              <a:avLst/>
            </a:prstGeom>
            <a:noFill/>
            <a:ln>
              <a:noFill/>
            </a:ln>
          </p:spPr>
          <p:txBody>
            <a:bodyPr wrap="none" lIns="0" tIns="0" rIns="0" bIns="0" anchor="t" anchorCtr="0">
              <a:spAutoFit/>
            </a:bodyPr>
            <a:lstStyle/>
            <a:p>
              <a:pPr algn="l"/>
              <a:r>
                <a:rPr lang="zh-CN" sz="2400" b="1" dirty="0">
                  <a:solidFill>
                    <a:srgbClr val="F5C842"/>
                  </a:solidFill>
                  <a:latin typeface="Arial"/>
                  <a:ea typeface="Microsoft YaHei"/>
                  <a:cs typeface="Arial"/>
                </a:rPr>
                <a:t>$97.9B</a:t>
              </a:r>
            </a:p>
          </p:txBody>
        </p:sp>
        <p:sp>
          <p:nvSpPr>
            <p:cNvPr id="69" name="TextBox 69"/>
            <p:cNvSpPr txBox="1"/>
            <p:nvPr/>
          </p:nvSpPr>
          <p:spPr>
            <a:xfrm>
              <a:off x="749618" y="3647599"/>
              <a:ext cx="1740670"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 First decline in 5 years</a:t>
              </a:r>
            </a:p>
          </p:txBody>
        </p:sp>
      </p:grpSp>
      <p:grpSp>
        <p:nvGrpSpPr>
          <p:cNvPr id="75" name="Group 75"/>
          <p:cNvGrpSpPr/>
          <p:nvPr/>
        </p:nvGrpSpPr>
        <p:grpSpPr>
          <a:xfrm>
            <a:off x="3333750" y="2895600"/>
            <a:ext cx="2571750" cy="952500"/>
            <a:chOff x="3333750" y="2895600"/>
            <a:chExt cx="2571750" cy="952500"/>
          </a:xfrm>
        </p:grpSpPr>
        <p:sp>
          <p:nvSpPr>
            <p:cNvPr id="71" name="Rectangle 71"/>
            <p:cNvSpPr/>
            <p:nvPr/>
          </p:nvSpPr>
          <p:spPr>
            <a:xfrm>
              <a:off x="3333750" y="2895600"/>
              <a:ext cx="2571750" cy="952500"/>
            </a:xfrm>
            <a:prstGeom prst="roundRect">
              <a:avLst>
                <a:gd name="adj" fmla="val 4000"/>
              </a:avLst>
            </a:prstGeom>
            <a:solidFill>
              <a:srgbClr val="131B30"/>
            </a:solidFill>
            <a:ln>
              <a:noFill/>
            </a:ln>
          </p:spPr>
        </p:sp>
        <p:sp>
          <p:nvSpPr>
            <p:cNvPr id="72" name="TextBox 72"/>
            <p:cNvSpPr txBox="1"/>
            <p:nvPr/>
          </p:nvSpPr>
          <p:spPr>
            <a:xfrm>
              <a:off x="3512820" y="3046095"/>
              <a:ext cx="91997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GROSS MARGIN</a:t>
              </a:r>
            </a:p>
          </p:txBody>
        </p:sp>
        <p:sp>
          <p:nvSpPr>
            <p:cNvPr id="73" name="TextBox 73"/>
            <p:cNvSpPr txBox="1"/>
            <p:nvPr/>
          </p:nvSpPr>
          <p:spPr>
            <a:xfrm>
              <a:off x="3493770" y="3265170"/>
              <a:ext cx="981075" cy="487680"/>
            </a:xfrm>
            <a:prstGeom prst="rect">
              <a:avLst/>
            </a:prstGeom>
            <a:noFill/>
            <a:ln>
              <a:noFill/>
            </a:ln>
          </p:spPr>
          <p:txBody>
            <a:bodyPr wrap="none" lIns="0" tIns="0" rIns="0" bIns="0" anchor="t" anchorCtr="0">
              <a:spAutoFit/>
            </a:bodyPr>
            <a:lstStyle/>
            <a:p>
              <a:pPr algn="l"/>
              <a:r>
                <a:rPr lang="zh-CN" sz="2400" b="1" dirty="0">
                  <a:solidFill>
                    <a:srgbClr val="F5C842"/>
                  </a:solidFill>
                  <a:latin typeface="Arial"/>
                  <a:ea typeface="Microsoft YaHei"/>
                  <a:cs typeface="Arial"/>
                </a:rPr>
                <a:t>18.0%</a:t>
              </a:r>
            </a:p>
          </p:txBody>
        </p:sp>
        <p:sp>
          <p:nvSpPr>
            <p:cNvPr id="74" name="TextBox 74"/>
            <p:cNvSpPr txBox="1"/>
            <p:nvPr/>
          </p:nvSpPr>
          <p:spPr>
            <a:xfrm>
              <a:off x="3511868" y="3647599"/>
              <a:ext cx="2239066"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 Q1 2026 auto recovering: 21.1%</a:t>
              </a:r>
            </a:p>
          </p:txBody>
        </p:sp>
      </p:grpSp>
      <p:grpSp>
        <p:nvGrpSpPr>
          <p:cNvPr id="80" name="Group 80"/>
          <p:cNvGrpSpPr/>
          <p:nvPr/>
        </p:nvGrpSpPr>
        <p:grpSpPr>
          <a:xfrm>
            <a:off x="6096000" y="2895600"/>
            <a:ext cx="2571750" cy="952500"/>
            <a:chOff x="6096000" y="2895600"/>
            <a:chExt cx="2571750" cy="952500"/>
          </a:xfrm>
        </p:grpSpPr>
        <p:sp>
          <p:nvSpPr>
            <p:cNvPr id="76" name="Rectangle 76"/>
            <p:cNvSpPr/>
            <p:nvPr/>
          </p:nvSpPr>
          <p:spPr>
            <a:xfrm>
              <a:off x="6096000" y="2895600"/>
              <a:ext cx="2571750" cy="952500"/>
            </a:xfrm>
            <a:prstGeom prst="roundRect">
              <a:avLst>
                <a:gd name="adj" fmla="val 4000"/>
              </a:avLst>
            </a:prstGeom>
            <a:solidFill>
              <a:srgbClr val="131B30"/>
            </a:solidFill>
            <a:ln>
              <a:noFill/>
            </a:ln>
          </p:spPr>
        </p:sp>
        <p:sp>
          <p:nvSpPr>
            <p:cNvPr id="77" name="TextBox 77"/>
            <p:cNvSpPr txBox="1"/>
            <p:nvPr/>
          </p:nvSpPr>
          <p:spPr>
            <a:xfrm>
              <a:off x="6275070" y="3046095"/>
              <a:ext cx="1071791"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FREE CASH FLOW</a:t>
              </a:r>
            </a:p>
          </p:txBody>
        </p:sp>
        <p:sp>
          <p:nvSpPr>
            <p:cNvPr id="78" name="TextBox 78"/>
            <p:cNvSpPr txBox="1"/>
            <p:nvPr/>
          </p:nvSpPr>
          <p:spPr>
            <a:xfrm>
              <a:off x="6256020" y="3265170"/>
              <a:ext cx="1073086" cy="487680"/>
            </a:xfrm>
            <a:prstGeom prst="rect">
              <a:avLst/>
            </a:prstGeom>
            <a:noFill/>
            <a:ln>
              <a:noFill/>
            </a:ln>
          </p:spPr>
          <p:txBody>
            <a:bodyPr wrap="none" lIns="0" tIns="0" rIns="0" bIns="0" anchor="t" anchorCtr="0">
              <a:spAutoFit/>
            </a:bodyPr>
            <a:lstStyle/>
            <a:p>
              <a:pPr algn="l"/>
              <a:r>
                <a:rPr lang="zh-CN" sz="2400" b="1" dirty="0">
                  <a:solidFill>
                    <a:srgbClr val="F5C842"/>
                  </a:solidFill>
                  <a:latin typeface="Arial"/>
                  <a:ea typeface="Microsoft YaHei"/>
                  <a:cs typeface="Arial"/>
                </a:rPr>
                <a:t>$6.2B</a:t>
              </a:r>
            </a:p>
          </p:txBody>
        </p:sp>
        <p:sp>
          <p:nvSpPr>
            <p:cNvPr id="79" name="TextBox 79"/>
            <p:cNvSpPr txBox="1"/>
            <p:nvPr/>
          </p:nvSpPr>
          <p:spPr>
            <a:xfrm>
              <a:off x="6274118" y="3647599"/>
              <a:ext cx="1918668"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 Improved vs $3.6B in 2024</a:t>
              </a:r>
            </a:p>
          </p:txBody>
        </p:sp>
      </p:grpSp>
      <p:grpSp>
        <p:nvGrpSpPr>
          <p:cNvPr id="85" name="Group 85"/>
          <p:cNvGrpSpPr/>
          <p:nvPr/>
        </p:nvGrpSpPr>
        <p:grpSpPr>
          <a:xfrm>
            <a:off x="8858250" y="2895600"/>
            <a:ext cx="2762250" cy="952500"/>
            <a:chOff x="8858250" y="2895600"/>
            <a:chExt cx="2762250" cy="952500"/>
          </a:xfrm>
        </p:grpSpPr>
        <p:sp>
          <p:nvSpPr>
            <p:cNvPr id="81" name="Rectangle 81"/>
            <p:cNvSpPr/>
            <p:nvPr/>
          </p:nvSpPr>
          <p:spPr>
            <a:xfrm>
              <a:off x="8858250" y="2895600"/>
              <a:ext cx="2762250" cy="952500"/>
            </a:xfrm>
            <a:prstGeom prst="roundRect">
              <a:avLst>
                <a:gd name="adj" fmla="val 4000"/>
              </a:avLst>
            </a:prstGeom>
            <a:solidFill>
              <a:srgbClr val="131B30"/>
            </a:solidFill>
            <a:ln>
              <a:noFill/>
            </a:ln>
          </p:spPr>
        </p:sp>
        <p:sp>
          <p:nvSpPr>
            <p:cNvPr id="82" name="TextBox 82"/>
            <p:cNvSpPr txBox="1"/>
            <p:nvPr/>
          </p:nvSpPr>
          <p:spPr>
            <a:xfrm>
              <a:off x="9037320" y="3046095"/>
              <a:ext cx="975179"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BALANCE SHEET</a:t>
              </a:r>
            </a:p>
          </p:txBody>
        </p:sp>
        <p:sp>
          <p:nvSpPr>
            <p:cNvPr id="83" name="TextBox 83"/>
            <p:cNvSpPr txBox="1"/>
            <p:nvPr/>
          </p:nvSpPr>
          <p:spPr>
            <a:xfrm>
              <a:off x="9018270" y="3265170"/>
              <a:ext cx="1183500" cy="487680"/>
            </a:xfrm>
            <a:prstGeom prst="rect">
              <a:avLst/>
            </a:prstGeom>
            <a:noFill/>
            <a:ln>
              <a:noFill/>
            </a:ln>
          </p:spPr>
          <p:txBody>
            <a:bodyPr wrap="none" lIns="0" tIns="0" rIns="0" bIns="0" anchor="t" anchorCtr="0">
              <a:spAutoFit/>
            </a:bodyPr>
            <a:lstStyle/>
            <a:p>
              <a:pPr algn="l"/>
              <a:r>
                <a:rPr lang="zh-CN" sz="2400" b="1" dirty="0">
                  <a:solidFill>
                    <a:srgbClr val="F5C842"/>
                  </a:solidFill>
                  <a:latin typeface="Arial"/>
                  <a:ea typeface="Microsoft YaHei"/>
                  <a:cs typeface="Arial"/>
                </a:rPr>
                <a:t>$1.79B</a:t>
              </a:r>
            </a:p>
          </p:txBody>
        </p:sp>
        <p:sp>
          <p:nvSpPr>
            <p:cNvPr id="84" name="TextBox 84"/>
            <p:cNvSpPr txBox="1"/>
            <p:nvPr/>
          </p:nvSpPr>
          <p:spPr>
            <a:xfrm>
              <a:off x="9036368" y="3647599"/>
              <a:ext cx="1861709"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Net cash — no liquidity risk</a:t>
              </a:r>
            </a:p>
          </p:txBody>
        </p:sp>
      </p:grpSp>
      <p:grpSp>
        <p:nvGrpSpPr>
          <p:cNvPr id="88" name="Group 88"/>
          <p:cNvGrpSpPr/>
          <p:nvPr/>
        </p:nvGrpSpPr>
        <p:grpSpPr>
          <a:xfrm>
            <a:off x="571500" y="4047649"/>
            <a:ext cx="11049000" cy="198120"/>
            <a:chOff x="571500" y="4047649"/>
            <a:chExt cx="11049000" cy="198120"/>
          </a:xfrm>
        </p:grpSpPr>
        <p:sp>
          <p:nvSpPr>
            <p:cNvPr id="86" name="TextBox 86"/>
            <p:cNvSpPr txBox="1"/>
            <p:nvPr/>
          </p:nvSpPr>
          <p:spPr>
            <a:xfrm>
              <a:off x="749618" y="4047649"/>
              <a:ext cx="1422765"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FY2025 REVENUE MIX</a:t>
              </a:r>
            </a:p>
          </p:txBody>
        </p:sp>
        <p:sp>
          <p:nvSpPr>
            <p:cNvPr id="87" name="Rectangle 87"/>
            <p:cNvSpPr/>
            <p:nvPr/>
          </p:nvSpPr>
          <p:spPr>
            <a:xfrm>
              <a:off x="571500" y="4229100"/>
              <a:ext cx="11049000" cy="9525"/>
            </a:xfrm>
            <a:prstGeom prst="rect">
              <a:avLst/>
            </a:prstGeom>
            <a:solidFill>
              <a:srgbClr val="2A3A5C"/>
            </a:solidFill>
            <a:ln>
              <a:noFill/>
            </a:ln>
          </p:spPr>
        </p:sp>
      </p:grpSp>
      <p:grpSp>
        <p:nvGrpSpPr>
          <p:cNvPr id="95" name="Group 95"/>
          <p:cNvGrpSpPr/>
          <p:nvPr/>
        </p:nvGrpSpPr>
        <p:grpSpPr>
          <a:xfrm>
            <a:off x="571500" y="4324350"/>
            <a:ext cx="11049000" cy="264319"/>
            <a:chOff x="571500" y="4324350"/>
            <a:chExt cx="11049000" cy="264319"/>
          </a:xfrm>
        </p:grpSpPr>
        <p:sp>
          <p:nvSpPr>
            <p:cNvPr id="89" name="Rectangle 89"/>
            <p:cNvSpPr/>
            <p:nvPr/>
          </p:nvSpPr>
          <p:spPr>
            <a:xfrm>
              <a:off x="571500" y="4324350"/>
              <a:ext cx="11049000" cy="247650"/>
            </a:xfrm>
            <a:prstGeom prst="rect">
              <a:avLst/>
            </a:prstGeom>
            <a:solidFill>
              <a:srgbClr val="131B30"/>
            </a:solidFill>
            <a:ln>
              <a:noFill/>
            </a:ln>
          </p:spPr>
        </p:sp>
        <p:sp>
          <p:nvSpPr>
            <p:cNvPr id="90" name="TextBox 90"/>
            <p:cNvSpPr txBox="1"/>
            <p:nvPr/>
          </p:nvSpPr>
          <p:spPr>
            <a:xfrm>
              <a:off x="749618" y="4390549"/>
              <a:ext cx="1199555"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Automotive Sales</a:t>
              </a:r>
            </a:p>
          </p:txBody>
        </p:sp>
        <p:sp>
          <p:nvSpPr>
            <p:cNvPr id="91" name="Rectangle 91"/>
            <p:cNvSpPr/>
            <p:nvPr/>
          </p:nvSpPr>
          <p:spPr>
            <a:xfrm>
              <a:off x="3048000" y="4381500"/>
              <a:ext cx="5200650" cy="114300"/>
            </a:xfrm>
            <a:prstGeom prst="roundRect">
              <a:avLst>
                <a:gd name="adj" fmla="val 16667"/>
              </a:avLst>
            </a:prstGeom>
            <a:solidFill>
              <a:srgbClr val="4A90D9">
                <a:alpha val="40000"/>
              </a:srgbClr>
            </a:solidFill>
            <a:ln>
              <a:noFill/>
            </a:ln>
          </p:spPr>
        </p:sp>
        <p:sp>
          <p:nvSpPr>
            <p:cNvPr id="92" name="Rectangle 92"/>
            <p:cNvSpPr/>
            <p:nvPr/>
          </p:nvSpPr>
          <p:spPr>
            <a:xfrm>
              <a:off x="3048000" y="4381500"/>
              <a:ext cx="5200650" cy="114300"/>
            </a:xfrm>
            <a:prstGeom prst="roundRect">
              <a:avLst>
                <a:gd name="adj" fmla="val 16667"/>
              </a:avLst>
            </a:prstGeom>
            <a:noFill/>
            <a:ln w="9525">
              <a:solidFill>
                <a:srgbClr val="2A3A5C"/>
              </a:solidFill>
            </a:ln>
          </p:spPr>
        </p:sp>
        <p:sp>
          <p:nvSpPr>
            <p:cNvPr id="93" name="TextBox 93"/>
            <p:cNvSpPr txBox="1"/>
            <p:nvPr/>
          </p:nvSpPr>
          <p:spPr>
            <a:xfrm>
              <a:off x="8369618" y="4390549"/>
              <a:ext cx="694039"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~$72B 76%</a:t>
              </a:r>
            </a:p>
          </p:txBody>
        </p:sp>
        <p:sp>
          <p:nvSpPr>
            <p:cNvPr id="94" name="TextBox 94"/>
            <p:cNvSpPr txBox="1"/>
            <p:nvPr/>
          </p:nvSpPr>
          <p:spPr>
            <a:xfrm>
              <a:off x="10750868" y="4390549"/>
              <a:ext cx="530281"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GM ~17%</a:t>
              </a:r>
            </a:p>
          </p:txBody>
        </p:sp>
      </p:grpSp>
      <p:grpSp>
        <p:nvGrpSpPr>
          <p:cNvPr id="102" name="Group 102"/>
          <p:cNvGrpSpPr/>
          <p:nvPr/>
        </p:nvGrpSpPr>
        <p:grpSpPr>
          <a:xfrm>
            <a:off x="571500" y="4572000"/>
            <a:ext cx="11049000" cy="264319"/>
            <a:chOff x="571500" y="4572000"/>
            <a:chExt cx="11049000" cy="264319"/>
          </a:xfrm>
        </p:grpSpPr>
        <p:sp>
          <p:nvSpPr>
            <p:cNvPr id="96" name="Rectangle 96"/>
            <p:cNvSpPr/>
            <p:nvPr/>
          </p:nvSpPr>
          <p:spPr>
            <a:xfrm>
              <a:off x="571500" y="4572000"/>
              <a:ext cx="11049000" cy="247650"/>
            </a:xfrm>
            <a:prstGeom prst="rect">
              <a:avLst/>
            </a:prstGeom>
            <a:solidFill>
              <a:srgbClr val="0A0E1A"/>
            </a:solidFill>
            <a:ln>
              <a:noFill/>
            </a:ln>
          </p:spPr>
        </p:sp>
        <p:sp>
          <p:nvSpPr>
            <p:cNvPr id="97" name="TextBox 97"/>
            <p:cNvSpPr txBox="1"/>
            <p:nvPr/>
          </p:nvSpPr>
          <p:spPr>
            <a:xfrm>
              <a:off x="749618" y="4638199"/>
              <a:ext cx="1996988"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Energy Generation &amp; Storage</a:t>
              </a:r>
            </a:p>
          </p:txBody>
        </p:sp>
        <p:sp>
          <p:nvSpPr>
            <p:cNvPr id="98" name="Rectangle 98"/>
            <p:cNvSpPr/>
            <p:nvPr/>
          </p:nvSpPr>
          <p:spPr>
            <a:xfrm>
              <a:off x="3048000" y="4629150"/>
              <a:ext cx="1819275" cy="114300"/>
            </a:xfrm>
            <a:prstGeom prst="roundRect">
              <a:avLst>
                <a:gd name="adj" fmla="val 16667"/>
              </a:avLst>
            </a:prstGeom>
            <a:solidFill>
              <a:srgbClr val="4CAF82">
                <a:alpha val="50000"/>
              </a:srgbClr>
            </a:solidFill>
            <a:ln>
              <a:noFill/>
            </a:ln>
          </p:spPr>
        </p:sp>
        <p:sp>
          <p:nvSpPr>
            <p:cNvPr id="99" name="Rectangle 99"/>
            <p:cNvSpPr/>
            <p:nvPr/>
          </p:nvSpPr>
          <p:spPr>
            <a:xfrm>
              <a:off x="3048000" y="4629150"/>
              <a:ext cx="1819275" cy="114300"/>
            </a:xfrm>
            <a:prstGeom prst="roundRect">
              <a:avLst>
                <a:gd name="adj" fmla="val 16667"/>
              </a:avLst>
            </a:prstGeom>
            <a:noFill/>
            <a:ln w="9525">
              <a:solidFill>
                <a:srgbClr val="2A3A5C"/>
              </a:solidFill>
            </a:ln>
          </p:spPr>
        </p:sp>
        <p:sp>
          <p:nvSpPr>
            <p:cNvPr id="100" name="TextBox 100"/>
            <p:cNvSpPr txBox="1"/>
            <p:nvPr/>
          </p:nvSpPr>
          <p:spPr>
            <a:xfrm>
              <a:off x="8369618" y="4638199"/>
              <a:ext cx="62284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~$12B 12%</a:t>
              </a:r>
            </a:p>
          </p:txBody>
        </p:sp>
        <p:sp>
          <p:nvSpPr>
            <p:cNvPr id="101" name="TextBox 101"/>
            <p:cNvSpPr txBox="1"/>
            <p:nvPr/>
          </p:nvSpPr>
          <p:spPr>
            <a:xfrm>
              <a:off x="10750868" y="4638199"/>
              <a:ext cx="765238"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GM 25%+ ↑↑</a:t>
              </a:r>
            </a:p>
          </p:txBody>
        </p:sp>
      </p:grpSp>
      <p:grpSp>
        <p:nvGrpSpPr>
          <p:cNvPr id="109" name="Group 109"/>
          <p:cNvGrpSpPr/>
          <p:nvPr/>
        </p:nvGrpSpPr>
        <p:grpSpPr>
          <a:xfrm>
            <a:off x="571500" y="4819650"/>
            <a:ext cx="11049000" cy="264319"/>
            <a:chOff x="571500" y="4819650"/>
            <a:chExt cx="11049000" cy="264319"/>
          </a:xfrm>
        </p:grpSpPr>
        <p:sp>
          <p:nvSpPr>
            <p:cNvPr id="103" name="Rectangle 103"/>
            <p:cNvSpPr/>
            <p:nvPr/>
          </p:nvSpPr>
          <p:spPr>
            <a:xfrm>
              <a:off x="571500" y="4819650"/>
              <a:ext cx="11049000" cy="247650"/>
            </a:xfrm>
            <a:prstGeom prst="rect">
              <a:avLst/>
            </a:prstGeom>
            <a:solidFill>
              <a:srgbClr val="131B30"/>
            </a:solidFill>
            <a:ln>
              <a:noFill/>
            </a:ln>
          </p:spPr>
        </p:sp>
        <p:sp>
          <p:nvSpPr>
            <p:cNvPr id="104" name="TextBox 104"/>
            <p:cNvSpPr txBox="1"/>
            <p:nvPr/>
          </p:nvSpPr>
          <p:spPr>
            <a:xfrm>
              <a:off x="749618" y="4885849"/>
              <a:ext cx="3257217"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Services &amp; Other (credits, charging, service)</a:t>
              </a:r>
            </a:p>
          </p:txBody>
        </p:sp>
        <p:sp>
          <p:nvSpPr>
            <p:cNvPr id="105" name="Rectangle 105"/>
            <p:cNvSpPr/>
            <p:nvPr/>
          </p:nvSpPr>
          <p:spPr>
            <a:xfrm>
              <a:off x="3048000" y="4876800"/>
              <a:ext cx="914400" cy="114300"/>
            </a:xfrm>
            <a:prstGeom prst="roundRect">
              <a:avLst>
                <a:gd name="adj" fmla="val 16667"/>
              </a:avLst>
            </a:prstGeom>
            <a:solidFill>
              <a:srgbClr val="8899BB">
                <a:alpha val="30000"/>
              </a:srgbClr>
            </a:solidFill>
            <a:ln>
              <a:noFill/>
            </a:ln>
          </p:spPr>
        </p:sp>
        <p:sp>
          <p:nvSpPr>
            <p:cNvPr id="106" name="Rectangle 106"/>
            <p:cNvSpPr/>
            <p:nvPr/>
          </p:nvSpPr>
          <p:spPr>
            <a:xfrm>
              <a:off x="3048000" y="4876800"/>
              <a:ext cx="914400" cy="114300"/>
            </a:xfrm>
            <a:prstGeom prst="roundRect">
              <a:avLst>
                <a:gd name="adj" fmla="val 16667"/>
              </a:avLst>
            </a:prstGeom>
            <a:noFill/>
            <a:ln w="9525">
              <a:solidFill>
                <a:srgbClr val="2A3A5C"/>
              </a:solidFill>
            </a:ln>
          </p:spPr>
        </p:sp>
        <p:sp>
          <p:nvSpPr>
            <p:cNvPr id="107" name="TextBox 107"/>
            <p:cNvSpPr txBox="1"/>
            <p:nvPr/>
          </p:nvSpPr>
          <p:spPr>
            <a:xfrm>
              <a:off x="8369618" y="4885849"/>
              <a:ext cx="58724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~$11B 12%</a:t>
              </a:r>
            </a:p>
          </p:txBody>
        </p:sp>
        <p:sp>
          <p:nvSpPr>
            <p:cNvPr id="108" name="TextBox 108"/>
            <p:cNvSpPr txBox="1"/>
            <p:nvPr/>
          </p:nvSpPr>
          <p:spPr>
            <a:xfrm>
              <a:off x="10750868" y="4885849"/>
              <a:ext cx="79371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Low margin</a:t>
              </a:r>
            </a:p>
          </p:txBody>
        </p:sp>
      </p:grpSp>
      <p:grpSp>
        <p:nvGrpSpPr>
          <p:cNvPr id="111" name="Group 111"/>
          <p:cNvGrpSpPr/>
          <p:nvPr/>
        </p:nvGrpSpPr>
        <p:grpSpPr>
          <a:xfrm>
            <a:off x="750570" y="5427345"/>
            <a:ext cx="9289733" cy="182880"/>
            <a:chOff x="750570" y="5427345"/>
            <a:chExt cx="9289733" cy="182880"/>
          </a:xfrm>
        </p:grpSpPr>
        <p:sp>
          <p:nvSpPr>
            <p:cNvPr id="110" name="TextBox 110"/>
            <p:cNvSpPr txBox="1"/>
            <p:nvPr/>
          </p:nvSpPr>
          <p:spPr>
            <a:xfrm>
              <a:off x="750570" y="5427345"/>
              <a:ext cx="9289733" cy="182880"/>
            </a:xfrm>
            <a:prstGeom prst="rect">
              <a:avLst/>
            </a:prstGeom>
            <a:noFill/>
            <a:ln>
              <a:noFill/>
            </a:ln>
          </p:spPr>
          <p:txBody>
            <a:bodyPr wrap="none" lIns="0" tIns="0" rIns="0" bIns="0" anchor="t" anchorCtr="0">
              <a:spAutoFit/>
            </a:bodyPr>
            <a:lstStyle/>
            <a:p>
              <a:pPr algn="l"/>
              <a:r>
                <a:rPr lang="zh-CN" sz="900" dirty="0">
                  <a:solidFill>
                    <a:srgbClr val="2A3A5C"/>
                  </a:solidFill>
                  <a:latin typeface="Arial"/>
                  <a:ea typeface="Microsoft YaHei"/>
                  <a:cs typeface="Arial"/>
                </a:rPr>
                <a:t>† FY2023 net income elevated by non-recurring deferred tax asset recognition. ‡ FY2025 share count surge driven by Musk compensation award.</a:t>
              </a:r>
            </a:p>
          </p:txBody>
        </p:sp>
      </p:grpSp>
      <p:grpSp>
        <p:nvGrpSpPr>
          <p:cNvPr id="116" name="Group 116"/>
          <p:cNvGrpSpPr/>
          <p:nvPr/>
        </p:nvGrpSpPr>
        <p:grpSpPr>
          <a:xfrm>
            <a:off x="0" y="6324600"/>
            <a:ext cx="12192000" cy="533400"/>
            <a:chOff x="0" y="6324600"/>
            <a:chExt cx="12192000" cy="533400"/>
          </a:xfrm>
        </p:grpSpPr>
        <p:sp>
          <p:nvSpPr>
            <p:cNvPr id="112" name="Rectangle 112"/>
            <p:cNvSpPr/>
            <p:nvPr/>
          </p:nvSpPr>
          <p:spPr>
            <a:xfrm>
              <a:off x="0" y="6324600"/>
              <a:ext cx="12192000" cy="533400"/>
            </a:xfrm>
            <a:prstGeom prst="rect">
              <a:avLst/>
            </a:prstGeom>
            <a:solidFill>
              <a:srgbClr val="131B30"/>
            </a:solidFill>
            <a:ln>
              <a:noFill/>
            </a:ln>
          </p:spPr>
        </p:sp>
        <p:sp>
          <p:nvSpPr>
            <p:cNvPr id="113" name="Rectangle 113"/>
            <p:cNvSpPr/>
            <p:nvPr/>
          </p:nvSpPr>
          <p:spPr>
            <a:xfrm>
              <a:off x="0" y="6324600"/>
              <a:ext cx="12192000" cy="9525"/>
            </a:xfrm>
            <a:prstGeom prst="rect">
              <a:avLst/>
            </a:prstGeom>
            <a:solidFill>
              <a:srgbClr val="F5C842">
                <a:alpha val="35000"/>
              </a:srgbClr>
            </a:solidFill>
            <a:ln>
              <a:noFill/>
            </a:ln>
          </p:spPr>
        </p:sp>
        <p:sp>
          <p:nvSpPr>
            <p:cNvPr id="114" name="TextBox 114"/>
            <p:cNvSpPr txBox="1"/>
            <p:nvPr/>
          </p:nvSpPr>
          <p:spPr>
            <a:xfrm>
              <a:off x="749618" y="6533674"/>
              <a:ext cx="115683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Investment Case</a:t>
              </a:r>
            </a:p>
          </p:txBody>
        </p:sp>
        <p:sp>
          <p:nvSpPr>
            <p:cNvPr id="115" name="TextBox 115"/>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image">
                                      <p:cBhvr>
                                        <p:cTn id="11" dur="400"/>
                                        <p:tgtEl>
                                          <p:spTgt spid="11"/>
                                        </p:tgtEl>
                                      </p:cBhvr>
                                    </p:animEffect>
                                  </p:childTnLst>
                                </p:cTn>
                              </p:par>
                            </p:childTnLst>
                          </p:cTn>
                        </p:par>
                        <p:par>
                          <p:cTn id="12" fill="hold">
                            <p:stCondLst>
                              <p:cond delay="1800"/>
                            </p:stCondLst>
                            <p:childTnLst>
                              <p:par>
                                <p:cTn id="13" presetID="3" presetClass="entr" presetSubtype="1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blinds(horizontal)">
                                      <p:cBhvr>
                                        <p:cTn id="15" dur="400"/>
                                        <p:tgtEl>
                                          <p:spTgt spid="31"/>
                                        </p:tgtEl>
                                      </p:cBhvr>
                                    </p:animEffect>
                                  </p:childTnLst>
                                </p:cTn>
                              </p:par>
                            </p:childTnLst>
                          </p:cTn>
                        </p:par>
                        <p:par>
                          <p:cTn id="16" fill="hold">
                            <p:stCondLst>
                              <p:cond delay="2700"/>
                            </p:stCondLst>
                            <p:childTnLst>
                              <p:par>
                                <p:cTn id="17" presetID="5" presetClass="entr" presetSubtype="6"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checkerboard(across)">
                                      <p:cBhvr>
                                        <p:cTn id="19" dur="400"/>
                                        <p:tgtEl>
                                          <p:spTgt spid="41"/>
                                        </p:tgtEl>
                                      </p:cBhvr>
                                    </p:animEffect>
                                  </p:childTnLst>
                                </p:cTn>
                              </p:par>
                            </p:childTnLst>
                          </p:cTn>
                        </p:par>
                        <p:par>
                          <p:cTn id="20" fill="hold">
                            <p:stCondLst>
                              <p:cond delay="3600"/>
                            </p:stCondLst>
                            <p:childTnLst>
                              <p:par>
                                <p:cTn id="21" presetID="9" presetClass="entr" presetSubtype="0" fill="hold" nodeType="after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dissolve">
                                      <p:cBhvr>
                                        <p:cTn id="23" dur="400"/>
                                        <p:tgtEl>
                                          <p:spTgt spid="51"/>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62"/>
                                        </p:tgtEl>
                                        <p:attrNameLst>
                                          <p:attrName>style.visibility</p:attrName>
                                        </p:attrNameLst>
                                      </p:cBhvr>
                                      <p:to>
                                        <p:strVal val="visible"/>
                                      </p:to>
                                    </p:set>
                                    <p:animEffect transition="in" filter="slide(fromBottom)">
                                      <p:cBhvr>
                                        <p:cTn id="27" dur="400"/>
                                        <p:tgtEl>
                                          <p:spTgt spid="62"/>
                                        </p:tgtEl>
                                      </p:cBhvr>
                                    </p:animEffect>
                                  </p:childTnLst>
                                </p:cTn>
                              </p:par>
                            </p:childTnLst>
                          </p:cTn>
                        </p:par>
                        <p:par>
                          <p:cTn id="28" fill="hold">
                            <p:stCondLst>
                              <p:cond delay="5400"/>
                            </p:stCondLst>
                            <p:childTnLst>
                              <p:par>
                                <p:cTn id="29" presetID="42" presetClass="entr" presetSubtype="8"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slide(fromLeft)">
                                      <p:cBhvr>
                                        <p:cTn id="31" dur="400"/>
                                        <p:tgtEl>
                                          <p:spTgt spid="65"/>
                                        </p:tgtEl>
                                      </p:cBhvr>
                                    </p:animEffect>
                                  </p:childTnLst>
                                </p:cTn>
                              </p:par>
                            </p:childTnLst>
                          </p:cTn>
                        </p:par>
                        <p:par>
                          <p:cTn id="32" fill="hold">
                            <p:stCondLst>
                              <p:cond delay="6300"/>
                            </p:stCondLst>
                            <p:childTnLst>
                              <p:par>
                                <p:cTn id="33" presetID="14" presetClass="entr" presetSubtype="10" fill="hold" nodeType="after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randombar(horizontal)">
                                      <p:cBhvr>
                                        <p:cTn id="35" dur="400"/>
                                        <p:tgtEl>
                                          <p:spTgt spid="70"/>
                                        </p:tgtEl>
                                      </p:cBhvr>
                                    </p:animEffect>
                                  </p:childTnLst>
                                </p:cTn>
                              </p:par>
                            </p:childTnLst>
                          </p:cTn>
                        </p:par>
                        <p:par>
                          <p:cTn id="36" fill="hold">
                            <p:stCondLst>
                              <p:cond delay="7200"/>
                            </p:stCondLst>
                            <p:childTnLst>
                              <p:par>
                                <p:cTn id="37" presetID="4" presetClass="entr" presetSubtype="0" fill="hold" nodeType="after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box(in)">
                                      <p:cBhvr>
                                        <p:cTn id="39" dur="400"/>
                                        <p:tgtEl>
                                          <p:spTgt spid="75"/>
                                        </p:tgtEl>
                                      </p:cBhvr>
                                    </p:animEffect>
                                  </p:childTnLst>
                                </p:cTn>
                              </p:par>
                            </p:childTnLst>
                          </p:cTn>
                        </p:par>
                        <p:par>
                          <p:cTn id="40" fill="hold">
                            <p:stCondLst>
                              <p:cond delay="8100"/>
                            </p:stCondLst>
                            <p:childTnLst>
                              <p:par>
                                <p:cTn id="41" presetID="16" presetClass="entr" presetSubtype="21" fill="hold" nodeType="after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barn(inVertical)">
                                      <p:cBhvr>
                                        <p:cTn id="43" dur="400"/>
                                        <p:tgtEl>
                                          <p:spTgt spid="80"/>
                                        </p:tgtEl>
                                      </p:cBhvr>
                                    </p:animEffect>
                                  </p:childTnLst>
                                </p:cTn>
                              </p:par>
                            </p:childTnLst>
                          </p:cTn>
                        </p:par>
                        <p:par>
                          <p:cTn id="44" fill="hold">
                            <p:stCondLst>
                              <p:cond delay="9000"/>
                            </p:stCondLst>
                            <p:childTnLst>
                              <p:par>
                                <p:cTn id="45" presetID="18" presetClass="entr" presetSubtype="12" fill="hold" nodeType="afterEffect">
                                  <p:stCondLst>
                                    <p:cond delay="0"/>
                                  </p:stCondLst>
                                  <p:childTnLst>
                                    <p:set>
                                      <p:cBhvr>
                                        <p:cTn id="46" dur="1" fill="hold">
                                          <p:stCondLst>
                                            <p:cond delay="0"/>
                                          </p:stCondLst>
                                        </p:cTn>
                                        <p:tgtEl>
                                          <p:spTgt spid="85"/>
                                        </p:tgtEl>
                                        <p:attrNameLst>
                                          <p:attrName>style.visibility</p:attrName>
                                        </p:attrNameLst>
                                      </p:cBhvr>
                                      <p:to>
                                        <p:strVal val="visible"/>
                                      </p:to>
                                    </p:set>
                                    <p:animEffect transition="in" filter="strips(downRight)">
                                      <p:cBhvr>
                                        <p:cTn id="47" dur="400"/>
                                        <p:tgtEl>
                                          <p:spTgt spid="85"/>
                                        </p:tgtEl>
                                      </p:cBhvr>
                                    </p:animEffect>
                                  </p:childTnLst>
                                </p:cTn>
                              </p:par>
                            </p:childTnLst>
                          </p:cTn>
                        </p:par>
                        <p:par>
                          <p:cTn id="48" fill="hold">
                            <p:stCondLst>
                              <p:cond delay="9900"/>
                            </p:stCondLst>
                            <p:childTnLst>
                              <p:par>
                                <p:cTn id="49" presetID="20" presetClass="entr" presetSubtype="0" fill="hold" nodeType="afterEffect">
                                  <p:stCondLst>
                                    <p:cond delay="0"/>
                                  </p:stCondLst>
                                  <p:childTnLst>
                                    <p:set>
                                      <p:cBhvr>
                                        <p:cTn id="50" dur="1" fill="hold">
                                          <p:stCondLst>
                                            <p:cond delay="0"/>
                                          </p:stCondLst>
                                        </p:cTn>
                                        <p:tgtEl>
                                          <p:spTgt spid="88"/>
                                        </p:tgtEl>
                                        <p:attrNameLst>
                                          <p:attrName>style.visibility</p:attrName>
                                        </p:attrNameLst>
                                      </p:cBhvr>
                                      <p:to>
                                        <p:strVal val="visible"/>
                                      </p:to>
                                    </p:set>
                                    <p:animEffect transition="in" filter="wedge">
                                      <p:cBhvr>
                                        <p:cTn id="51" dur="400"/>
                                        <p:tgtEl>
                                          <p:spTgt spid="88"/>
                                        </p:tgtEl>
                                      </p:cBhvr>
                                    </p:animEffect>
                                  </p:childTnLst>
                                </p:cTn>
                              </p:par>
                            </p:childTnLst>
                          </p:cTn>
                        </p:par>
                        <p:par>
                          <p:cTn id="52" fill="hold">
                            <p:stCondLst>
                              <p:cond delay="10800"/>
                            </p:stCondLst>
                            <p:childTnLst>
                              <p:par>
                                <p:cTn id="53" presetID="21" presetClass="entr" presetSubtype="0" fill="hold" nodeType="afterEffect">
                                  <p:stCondLst>
                                    <p:cond delay="0"/>
                                  </p:stCondLst>
                                  <p:childTnLst>
                                    <p:set>
                                      <p:cBhvr>
                                        <p:cTn id="54" dur="1" fill="hold">
                                          <p:stCondLst>
                                            <p:cond delay="0"/>
                                          </p:stCondLst>
                                        </p:cTn>
                                        <p:tgtEl>
                                          <p:spTgt spid="95"/>
                                        </p:tgtEl>
                                        <p:attrNameLst>
                                          <p:attrName>style.visibility</p:attrName>
                                        </p:attrNameLst>
                                      </p:cBhvr>
                                      <p:to>
                                        <p:strVal val="visible"/>
                                      </p:to>
                                    </p:set>
                                    <p:animEffect transition="in" filter="wheel(4)">
                                      <p:cBhvr>
                                        <p:cTn id="55" dur="400"/>
                                        <p:tgtEl>
                                          <p:spTgt spid="95"/>
                                        </p:tgtEl>
                                      </p:cBhvr>
                                    </p:animEffect>
                                  </p:childTnLst>
                                </p:cTn>
                              </p:par>
                            </p:childTnLst>
                          </p:cTn>
                        </p:par>
                        <p:par>
                          <p:cTn id="56" fill="hold">
                            <p:stCondLst>
                              <p:cond delay="11700"/>
                            </p:stCondLst>
                            <p:childTnLst>
                              <p:par>
                                <p:cTn id="57" presetID="22" presetClass="entr" presetSubtype="1" fill="hold" nodeType="afterEffect">
                                  <p:stCondLst>
                                    <p:cond delay="0"/>
                                  </p:stCondLst>
                                  <p:childTnLst>
                                    <p:set>
                                      <p:cBhvr>
                                        <p:cTn id="58" dur="1" fill="hold">
                                          <p:stCondLst>
                                            <p:cond delay="0"/>
                                          </p:stCondLst>
                                        </p:cTn>
                                        <p:tgtEl>
                                          <p:spTgt spid="102"/>
                                        </p:tgtEl>
                                        <p:attrNameLst>
                                          <p:attrName>style.visibility</p:attrName>
                                        </p:attrNameLst>
                                      </p:cBhvr>
                                      <p:to>
                                        <p:strVal val="visible"/>
                                      </p:to>
                                    </p:set>
                                    <p:animEffect transition="in" filter="wipe(left)">
                                      <p:cBhvr>
                                        <p:cTn id="59" dur="400"/>
                                        <p:tgtEl>
                                          <p:spTgt spid="102"/>
                                        </p:tgtEl>
                                      </p:cBhvr>
                                    </p:animEffect>
                                  </p:childTnLst>
                                </p:cTn>
                              </p:par>
                            </p:childTnLst>
                          </p:cTn>
                        </p:par>
                        <p:par>
                          <p:cTn id="60" fill="hold">
                            <p:stCondLst>
                              <p:cond delay="12600"/>
                            </p:stCondLst>
                            <p:childTnLst>
                              <p:par>
                                <p:cTn id="61" presetID="50" presetClass="entr" presetSubtype="0" fill="hold" nodeType="afterEffect">
                                  <p:stCondLst>
                                    <p:cond delay="0"/>
                                  </p:stCondLst>
                                  <p:childTnLst>
                                    <p:set>
                                      <p:cBhvr>
                                        <p:cTn id="62" dur="1" fill="hold">
                                          <p:stCondLst>
                                            <p:cond delay="0"/>
                                          </p:stCondLst>
                                        </p:cTn>
                                        <p:tgtEl>
                                          <p:spTgt spid="109"/>
                                        </p:tgtEl>
                                        <p:attrNameLst>
                                          <p:attrName>style.visibility</p:attrName>
                                        </p:attrNameLst>
                                      </p:cBhvr>
                                      <p:to>
                                        <p:strVal val="visible"/>
                                      </p:to>
                                    </p:set>
                                    <p:animEffect transition="in" filter="stretch(across)">
                                      <p:cBhvr>
                                        <p:cTn id="63" dur="400"/>
                                        <p:tgtEl>
                                          <p:spTgt spid="109"/>
                                        </p:tgtEl>
                                      </p:cBhvr>
                                    </p:animEffect>
                                  </p:childTnLst>
                                </p:cTn>
                              </p:par>
                            </p:childTnLst>
                          </p:cTn>
                        </p:par>
                        <p:par>
                          <p:cTn id="64" fill="hold">
                            <p:stCondLst>
                              <p:cond delay="13500"/>
                            </p:stCondLst>
                            <p:childTnLst>
                              <p:par>
                                <p:cTn id="65" presetID="10" presetClass="entr" presetSubtype="0" fill="hold" nodeType="afterEffect">
                                  <p:stCondLst>
                                    <p:cond delay="0"/>
                                  </p:stCondLst>
                                  <p:childTnLst>
                                    <p:set>
                                      <p:cBhvr>
                                        <p:cTn id="66" dur="1" fill="hold">
                                          <p:stCondLst>
                                            <p:cond delay="0"/>
                                          </p:stCondLst>
                                        </p:cTn>
                                        <p:tgtEl>
                                          <p:spTgt spid="111"/>
                                        </p:tgtEl>
                                        <p:attrNameLst>
                                          <p:attrName>style.visibility</p:attrName>
                                        </p:attrNameLst>
                                      </p:cBhvr>
                                      <p:to>
                                        <p:strVal val="visible"/>
                                      </p:to>
                                    </p:set>
                                    <p:animEffect transition="in" filter="fade">
                                      <p:cBhvr>
                                        <p:cTn id="67" dur="400"/>
                                        <p:tgtEl>
                                          <p:spTgt spid="111"/>
                                        </p:tgtEl>
                                      </p:cBhvr>
                                    </p:animEffect>
                                  </p:childTnLst>
                                </p:cTn>
                              </p:par>
                            </p:childTnLst>
                          </p:cTn>
                        </p:par>
                        <p:par>
                          <p:cTn id="68" fill="hold">
                            <p:stCondLst>
                              <p:cond delay="14400"/>
                            </p:stCondLst>
                            <p:childTnLst>
                              <p:par>
                                <p:cTn id="69" presetID="19" presetClass="entr" presetSubtype="0" fill="hold" nodeType="afterEffect">
                                  <p:stCondLst>
                                    <p:cond delay="0"/>
                                  </p:stCondLst>
                                  <p:childTnLst>
                                    <p:set>
                                      <p:cBhvr>
                                        <p:cTn id="70" dur="1" fill="hold">
                                          <p:stCondLst>
                                            <p:cond delay="0"/>
                                          </p:stCondLst>
                                        </p:cTn>
                                        <p:tgtEl>
                                          <p:spTgt spid="116"/>
                                        </p:tgtEl>
                                        <p:attrNameLst>
                                          <p:attrName>style.visibility</p:attrName>
                                        </p:attrNameLst>
                                      </p:cBhvr>
                                      <p:to>
                                        <p:strVal val="visible"/>
                                      </p:to>
                                    </p:set>
                                    <p:animEffect transition="in" filter="wheel(1)">
                                      <p:cBhvr>
                                        <p:cTn id="71" dur="4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31" grpId="0"/>
      <p:bldP spid="41" grpId="0"/>
      <p:bldP spid="51" grpId="0"/>
      <p:bldP spid="62" grpId="0"/>
      <p:bldP spid="65" grpId="0"/>
      <p:bldP spid="70" grpId="0"/>
      <p:bldP spid="75" grpId="0"/>
      <p:bldP spid="80" grpId="0"/>
      <p:bldP spid="85" grpId="0"/>
      <p:bldP spid="88" grpId="0"/>
      <p:bldP spid="95" grpId="0"/>
      <p:bldP spid="102" grpId="0"/>
      <p:bldP spid="109" grpId="0"/>
      <p:bldP spid="111" grpId="0"/>
      <p:bldP spid="1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4496562" y="2743200"/>
            <a:ext cx="2817876" cy="4876800"/>
          </a:xfrm>
          <a:prstGeom prst="rect">
            <a:avLst/>
          </a:prstGeom>
          <a:noFill/>
          <a:ln>
            <a:noFill/>
          </a:ln>
        </p:spPr>
        <p:txBody>
          <a:bodyPr wrap="none" lIns="0" tIns="0" rIns="0" bIns="0" anchor="t" anchorCtr="0">
            <a:spAutoFit/>
          </a:bodyPr>
          <a:lstStyle/>
          <a:p>
            <a:pPr algn="ctr"/>
            <a:r>
              <a:rPr lang="zh-CN" sz="24000" b="1" dirty="0">
                <a:solidFill>
                  <a:srgbClr val="0F1628"/>
                </a:solidFill>
                <a:latin typeface="Arial"/>
                <a:ea typeface="Microsoft YaHei"/>
                <a:cs typeface="Arial"/>
              </a:rPr>
              <a:t>II</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734979" cy="198120"/>
            <a:chOff x="749618" y="2656999"/>
            <a:chExt cx="734979" cy="198120"/>
          </a:xfrm>
        </p:grpSpPr>
        <p:sp>
          <p:nvSpPr>
            <p:cNvPr id="8" name="TextBox 8"/>
            <p:cNvSpPr txBox="1"/>
            <p:nvPr/>
          </p:nvSpPr>
          <p:spPr>
            <a:xfrm>
              <a:off x="749618" y="2656999"/>
              <a:ext cx="734979"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II</a:t>
              </a:r>
            </a:p>
          </p:txBody>
        </p:sp>
      </p:grpSp>
      <p:grpSp>
        <p:nvGrpSpPr>
          <p:cNvPr id="11" name="Group 11"/>
          <p:cNvGrpSpPr/>
          <p:nvPr/>
        </p:nvGrpSpPr>
        <p:grpSpPr>
          <a:xfrm>
            <a:off x="712470" y="3007995"/>
            <a:ext cx="4883658" cy="792480"/>
            <a:chOff x="712470" y="3007995"/>
            <a:chExt cx="4883658" cy="792480"/>
          </a:xfrm>
        </p:grpSpPr>
        <p:sp>
          <p:nvSpPr>
            <p:cNvPr id="10" name="TextBox 10"/>
            <p:cNvSpPr txBox="1"/>
            <p:nvPr/>
          </p:nvSpPr>
          <p:spPr>
            <a:xfrm>
              <a:off x="712470" y="3007995"/>
              <a:ext cx="4883658"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Business Quality</a:t>
              </a:r>
            </a:p>
          </p:txBody>
        </p:sp>
      </p:grpSp>
      <p:grpSp>
        <p:nvGrpSpPr>
          <p:cNvPr id="13" name="Group 13"/>
          <p:cNvGrpSpPr/>
          <p:nvPr/>
        </p:nvGrpSpPr>
        <p:grpSpPr>
          <a:xfrm>
            <a:off x="762000" y="3657600"/>
            <a:ext cx="4191000" cy="19050"/>
            <a:chOff x="762000" y="3657600"/>
            <a:chExt cx="4191000" cy="19050"/>
          </a:xfrm>
        </p:grpSpPr>
        <p:sp>
          <p:nvSpPr>
            <p:cNvPr id="12" name="Rectangle 12"/>
            <p:cNvSpPr/>
            <p:nvPr/>
          </p:nvSpPr>
          <p:spPr>
            <a:xfrm>
              <a:off x="762000" y="3657600"/>
              <a:ext cx="4191000" cy="19050"/>
            </a:xfrm>
            <a:prstGeom prst="rect">
              <a:avLst/>
            </a:prstGeom>
            <a:solidFill>
              <a:srgbClr val="F5C842"/>
            </a:solidFill>
            <a:ln>
              <a:noFill/>
            </a:ln>
          </p:spPr>
        </p:sp>
      </p:grpSp>
      <p:grpSp>
        <p:nvGrpSpPr>
          <p:cNvPr id="15" name="Group 15"/>
          <p:cNvGrpSpPr/>
          <p:nvPr/>
        </p:nvGrpSpPr>
        <p:grpSpPr>
          <a:xfrm>
            <a:off x="742950" y="3838575"/>
            <a:ext cx="3061335" cy="304800"/>
            <a:chOff x="742950" y="3838575"/>
            <a:chExt cx="3061335" cy="304800"/>
          </a:xfrm>
        </p:grpSpPr>
        <p:sp>
          <p:nvSpPr>
            <p:cNvPr id="14" name="TextBox 14"/>
            <p:cNvSpPr txBox="1"/>
            <p:nvPr/>
          </p:nvSpPr>
          <p:spPr>
            <a:xfrm>
              <a:off x="742950" y="3838575"/>
              <a:ext cx="3061335"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Moat, Management &amp; Growth</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image">
                                      <p:cBhvr>
                                        <p:cTn id="11" dur="400"/>
                                        <p:tgtEl>
                                          <p:spTgt spid="9"/>
                                        </p:tgtEl>
                                      </p:cBhvr>
                                    </p:animEffect>
                                  </p:childTnLst>
                                </p:cTn>
                              </p:par>
                            </p:childTnLst>
                          </p:cTn>
                        </p:par>
                        <p:par>
                          <p:cTn id="12" fill="hold">
                            <p:stCondLst>
                              <p:cond delay="1800"/>
                            </p:stCondLst>
                            <p:childTnLst>
                              <p:par>
                                <p:cTn id="13" presetID="3" presetClass="entr" presetSubtype="1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linds(horizontal)">
                                      <p:cBhvr>
                                        <p:cTn id="15" dur="400"/>
                                        <p:tgtEl>
                                          <p:spTgt spid="11"/>
                                        </p:tgtEl>
                                      </p:cBhvr>
                                    </p:animEffect>
                                  </p:childTnLst>
                                </p:cTn>
                              </p:par>
                            </p:childTnLst>
                          </p:cTn>
                        </p:par>
                        <p:par>
                          <p:cTn id="16" fill="hold">
                            <p:stCondLst>
                              <p:cond delay="2700"/>
                            </p:stCondLst>
                            <p:childTnLst>
                              <p:par>
                                <p:cTn id="17" presetID="5" presetClass="entr" presetSubtype="6"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checkerboard(across)">
                                      <p:cBhvr>
                                        <p:cTn id="19" dur="400"/>
                                        <p:tgtEl>
                                          <p:spTgt spid="13"/>
                                        </p:tgtEl>
                                      </p:cBhvr>
                                    </p:animEffect>
                                  </p:childTnLst>
                                </p:cTn>
                              </p:par>
                            </p:childTnLst>
                          </p:cTn>
                        </p:par>
                        <p:par>
                          <p:cTn id="20" fill="hold">
                            <p:stCondLst>
                              <p:cond delay="3600"/>
                            </p:stCondLst>
                            <p:childTnLst>
                              <p:par>
                                <p:cTn id="21" presetID="9"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dissolve">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3249230"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Business Model &amp; Moat</a:t>
              </a:r>
            </a:p>
          </p:txBody>
        </p:sp>
      </p:grpSp>
      <p:grpSp>
        <p:nvGrpSpPr>
          <p:cNvPr id="28" name="Group 28"/>
          <p:cNvGrpSpPr/>
          <p:nvPr/>
        </p:nvGrpSpPr>
        <p:grpSpPr>
          <a:xfrm>
            <a:off x="571500" y="838200"/>
            <a:ext cx="5314950" cy="5334000"/>
            <a:chOff x="571500" y="838200"/>
            <a:chExt cx="5314950" cy="5334000"/>
          </a:xfrm>
        </p:grpSpPr>
        <p:sp>
          <p:nvSpPr>
            <p:cNvPr id="9" name="Rectangle 9"/>
            <p:cNvSpPr/>
            <p:nvPr/>
          </p:nvSpPr>
          <p:spPr>
            <a:xfrm>
              <a:off x="571500" y="838200"/>
              <a:ext cx="5314950" cy="5334000"/>
            </a:xfrm>
            <a:prstGeom prst="roundRect">
              <a:avLst>
                <a:gd name="adj" fmla="val 717"/>
              </a:avLst>
            </a:prstGeom>
            <a:solidFill>
              <a:srgbClr val="131B30"/>
            </a:solidFill>
            <a:ln>
              <a:noFill/>
            </a:ln>
          </p:spPr>
        </p:sp>
        <p:sp>
          <p:nvSpPr>
            <p:cNvPr id="10" name="Rectangle 10"/>
            <p:cNvSpPr/>
            <p:nvPr/>
          </p:nvSpPr>
          <p:spPr>
            <a:xfrm>
              <a:off x="571500" y="838200"/>
              <a:ext cx="5314950" cy="38100"/>
            </a:xfrm>
            <a:prstGeom prst="rect">
              <a:avLst/>
            </a:prstGeom>
            <a:solidFill>
              <a:srgbClr val="4A90D9"/>
            </a:solidFill>
            <a:ln>
              <a:noFill/>
            </a:ln>
          </p:spPr>
        </p:sp>
        <p:sp>
          <p:nvSpPr>
            <p:cNvPr id="11" name="TextBox 11"/>
            <p:cNvSpPr txBox="1"/>
            <p:nvPr/>
          </p:nvSpPr>
          <p:spPr>
            <a:xfrm>
              <a:off x="749618" y="1075849"/>
              <a:ext cx="1161107"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BUSINESS MODEL</a:t>
              </a:r>
            </a:p>
          </p:txBody>
        </p:sp>
        <p:sp>
          <p:nvSpPr>
            <p:cNvPr id="12" name="TextBox 12"/>
            <p:cNvSpPr txBox="1"/>
            <p:nvPr/>
          </p:nvSpPr>
          <p:spPr>
            <a:xfrm>
              <a:off x="747712" y="1383506"/>
              <a:ext cx="2573268" cy="228600"/>
            </a:xfrm>
            <a:prstGeom prst="rect">
              <a:avLst/>
            </a:prstGeom>
            <a:noFill/>
            <a:ln>
              <a:noFill/>
            </a:ln>
          </p:spPr>
          <p:txBody>
            <a:bodyPr wrap="none" lIns="0" tIns="0" rIns="0" bIns="0" anchor="t" anchorCtr="0">
              <a:spAutoFit/>
            </a:bodyPr>
            <a:lstStyle/>
            <a:p>
              <a:pPr algn="l"/>
              <a:r>
                <a:rPr lang="zh-CN" sz="1125" b="1" dirty="0">
                  <a:solidFill>
                    <a:srgbClr val="F5C842"/>
                  </a:solidFill>
                  <a:latin typeface="Arial"/>
                  <a:ea typeface="Microsoft YaHei"/>
                  <a:cs typeface="Arial"/>
                </a:rPr>
                <a:t>Vehicle Sales (76% of revenue)</a:t>
              </a:r>
            </a:p>
          </p:txBody>
        </p:sp>
        <p:sp>
          <p:nvSpPr>
            <p:cNvPr id="13" name="TextBox 13"/>
            <p:cNvSpPr txBox="1"/>
            <p:nvPr/>
          </p:nvSpPr>
          <p:spPr>
            <a:xfrm>
              <a:off x="749618" y="1609249"/>
              <a:ext cx="359897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Direct-to-consumer, no dealer margin. EV across 3</a:t>
              </a:r>
            </a:p>
          </p:txBody>
        </p:sp>
        <p:sp>
          <p:nvSpPr>
            <p:cNvPr id="14" name="TextBox 14"/>
            <p:cNvSpPr txBox="1"/>
            <p:nvPr/>
          </p:nvSpPr>
          <p:spPr>
            <a:xfrm>
              <a:off x="749618" y="1780699"/>
              <a:ext cx="349929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global factories. FSD subscription $8K or $99/mo.</a:t>
              </a:r>
            </a:p>
          </p:txBody>
        </p:sp>
        <p:sp>
          <p:nvSpPr>
            <p:cNvPr id="15" name="Rectangle 15"/>
            <p:cNvSpPr/>
            <p:nvPr/>
          </p:nvSpPr>
          <p:spPr>
            <a:xfrm>
              <a:off x="762000" y="2038350"/>
              <a:ext cx="4953000" cy="9525"/>
            </a:xfrm>
            <a:prstGeom prst="rect">
              <a:avLst/>
            </a:prstGeom>
            <a:solidFill>
              <a:srgbClr val="2A3A5C"/>
            </a:solidFill>
            <a:ln>
              <a:noFill/>
            </a:ln>
          </p:spPr>
        </p:sp>
        <p:sp>
          <p:nvSpPr>
            <p:cNvPr id="16" name="TextBox 16"/>
            <p:cNvSpPr txBox="1"/>
            <p:nvPr/>
          </p:nvSpPr>
          <p:spPr>
            <a:xfrm>
              <a:off x="747712" y="2164556"/>
              <a:ext cx="3366867" cy="228600"/>
            </a:xfrm>
            <a:prstGeom prst="rect">
              <a:avLst/>
            </a:prstGeom>
            <a:noFill/>
            <a:ln>
              <a:noFill/>
            </a:ln>
          </p:spPr>
          <p:txBody>
            <a:bodyPr wrap="none" lIns="0" tIns="0" rIns="0" bIns="0" anchor="t" anchorCtr="0">
              <a:spAutoFit/>
            </a:bodyPr>
            <a:lstStyle/>
            <a:p>
              <a:pPr algn="l"/>
              <a:r>
                <a:rPr lang="zh-CN" sz="1125" b="1" dirty="0">
                  <a:solidFill>
                    <a:srgbClr val="F5C842"/>
                  </a:solidFill>
                  <a:latin typeface="Arial"/>
                  <a:ea typeface="Microsoft YaHei"/>
                  <a:cs typeface="Arial"/>
                </a:rPr>
                <a:t>Energy Storage (12% — fastest growing)</a:t>
              </a:r>
            </a:p>
          </p:txBody>
        </p:sp>
        <p:sp>
          <p:nvSpPr>
            <p:cNvPr id="17" name="TextBox 17"/>
            <p:cNvSpPr txBox="1"/>
            <p:nvPr/>
          </p:nvSpPr>
          <p:spPr>
            <a:xfrm>
              <a:off x="749618" y="2390299"/>
              <a:ext cx="344945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Megapack for grid-scale storage. ~$12B revenue,</a:t>
              </a:r>
            </a:p>
          </p:txBody>
        </p:sp>
        <p:sp>
          <p:nvSpPr>
            <p:cNvPr id="18" name="TextBox 18"/>
            <p:cNvSpPr txBox="1"/>
            <p:nvPr/>
          </p:nvSpPr>
          <p:spPr>
            <a:xfrm>
              <a:off x="749618" y="2561749"/>
              <a:ext cx="313617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25%+ gross margin — highest of all segments.</a:t>
              </a:r>
            </a:p>
          </p:txBody>
        </p:sp>
        <p:sp>
          <p:nvSpPr>
            <p:cNvPr id="19" name="Rectangle 19"/>
            <p:cNvSpPr/>
            <p:nvPr/>
          </p:nvSpPr>
          <p:spPr>
            <a:xfrm>
              <a:off x="762000" y="2819400"/>
              <a:ext cx="4953000" cy="9525"/>
            </a:xfrm>
            <a:prstGeom prst="rect">
              <a:avLst/>
            </a:prstGeom>
            <a:solidFill>
              <a:srgbClr val="2A3A5C"/>
            </a:solidFill>
            <a:ln>
              <a:noFill/>
            </a:ln>
          </p:spPr>
        </p:sp>
        <p:sp>
          <p:nvSpPr>
            <p:cNvPr id="20" name="TextBox 20"/>
            <p:cNvSpPr txBox="1"/>
            <p:nvPr/>
          </p:nvSpPr>
          <p:spPr>
            <a:xfrm>
              <a:off x="747712" y="2945606"/>
              <a:ext cx="2788920" cy="228600"/>
            </a:xfrm>
            <a:prstGeom prst="rect">
              <a:avLst/>
            </a:prstGeom>
            <a:noFill/>
            <a:ln>
              <a:noFill/>
            </a:ln>
          </p:spPr>
          <p:txBody>
            <a:bodyPr wrap="none" lIns="0" tIns="0" rIns="0" bIns="0" anchor="t" anchorCtr="0">
              <a:spAutoFit/>
            </a:bodyPr>
            <a:lstStyle/>
            <a:p>
              <a:pPr algn="l"/>
              <a:r>
                <a:rPr lang="zh-CN" sz="1125" b="1" dirty="0">
                  <a:solidFill>
                    <a:srgbClr val="F5C842"/>
                  </a:solidFill>
                  <a:latin typeface="Arial"/>
                  <a:ea typeface="Microsoft YaHei"/>
                  <a:cs typeface="Arial"/>
                </a:rPr>
                <a:t>Future Layer: Robotaxi Platform</a:t>
              </a:r>
            </a:p>
          </p:txBody>
        </p:sp>
        <p:sp>
          <p:nvSpPr>
            <p:cNvPr id="21" name="TextBox 21"/>
            <p:cNvSpPr txBox="1"/>
            <p:nvPr/>
          </p:nvSpPr>
          <p:spPr>
            <a:xfrm>
              <a:off x="749618" y="3171349"/>
              <a:ext cx="353489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If Cybercab scales, platform revenue could exceed</a:t>
              </a:r>
            </a:p>
          </p:txBody>
        </p:sp>
        <p:sp>
          <p:nvSpPr>
            <p:cNvPr id="22" name="TextBox 22"/>
            <p:cNvSpPr txBox="1"/>
            <p:nvPr/>
          </p:nvSpPr>
          <p:spPr>
            <a:xfrm>
              <a:off x="749618" y="3342799"/>
              <a:ext cx="327145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automotive. TAM: $5-10T ride-sharing market.</a:t>
              </a:r>
            </a:p>
          </p:txBody>
        </p:sp>
        <p:sp>
          <p:nvSpPr>
            <p:cNvPr id="23" name="Rectangle 23"/>
            <p:cNvSpPr/>
            <p:nvPr/>
          </p:nvSpPr>
          <p:spPr>
            <a:xfrm>
              <a:off x="762000" y="3600450"/>
              <a:ext cx="4953000" cy="9525"/>
            </a:xfrm>
            <a:prstGeom prst="rect">
              <a:avLst/>
            </a:prstGeom>
            <a:solidFill>
              <a:srgbClr val="2A3A5C"/>
            </a:solidFill>
            <a:ln>
              <a:noFill/>
            </a:ln>
          </p:spPr>
        </p:sp>
        <p:sp>
          <p:nvSpPr>
            <p:cNvPr id="24" name="TextBox 24"/>
            <p:cNvSpPr txBox="1"/>
            <p:nvPr/>
          </p:nvSpPr>
          <p:spPr>
            <a:xfrm>
              <a:off x="749618" y="3742849"/>
              <a:ext cx="1699374"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MANAGEMENT — GRADE: B</a:t>
              </a:r>
            </a:p>
          </p:txBody>
        </p:sp>
        <p:sp>
          <p:nvSpPr>
            <p:cNvPr id="25" name="TextBox 25"/>
            <p:cNvSpPr txBox="1"/>
            <p:nvPr/>
          </p:nvSpPr>
          <p:spPr>
            <a:xfrm>
              <a:off x="749618" y="3971449"/>
              <a:ext cx="357761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Musk: visionary, uneven execution. Attention split</a:t>
              </a:r>
            </a:p>
          </p:txBody>
        </p:sp>
        <p:sp>
          <p:nvSpPr>
            <p:cNvPr id="26" name="TextBox 26"/>
            <p:cNvSpPr txBox="1"/>
            <p:nvPr/>
          </p:nvSpPr>
          <p:spPr>
            <a:xfrm>
              <a:off x="749618" y="4142899"/>
              <a:ext cx="3371136"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across xAI, SpaceX, X (Twitter). DOGE/political</a:t>
              </a:r>
            </a:p>
          </p:txBody>
        </p:sp>
        <p:sp>
          <p:nvSpPr>
            <p:cNvPr id="27" name="TextBox 27"/>
            <p:cNvSpPr txBox="1"/>
            <p:nvPr/>
          </p:nvSpPr>
          <p:spPr>
            <a:xfrm>
              <a:off x="749618" y="4314349"/>
              <a:ext cx="357049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stance causing documented European sales decline.</a:t>
              </a:r>
            </a:p>
          </p:txBody>
        </p:sp>
      </p:grpSp>
      <p:grpSp>
        <p:nvGrpSpPr>
          <p:cNvPr id="30" name="Group 30"/>
          <p:cNvGrpSpPr/>
          <p:nvPr/>
        </p:nvGrpSpPr>
        <p:grpSpPr>
          <a:xfrm>
            <a:off x="6076950" y="838200"/>
            <a:ext cx="9525" cy="5334000"/>
            <a:chOff x="6076950" y="838200"/>
            <a:chExt cx="9525" cy="5334000"/>
          </a:xfrm>
        </p:grpSpPr>
        <p:sp>
          <p:nvSpPr>
            <p:cNvPr id="29" name="Rectangle 29"/>
            <p:cNvSpPr/>
            <p:nvPr/>
          </p:nvSpPr>
          <p:spPr>
            <a:xfrm>
              <a:off x="6076950" y="838200"/>
              <a:ext cx="9525" cy="5334000"/>
            </a:xfrm>
            <a:prstGeom prst="rect">
              <a:avLst/>
            </a:prstGeom>
            <a:solidFill>
              <a:srgbClr val="2A3A5C"/>
            </a:solidFill>
            <a:ln>
              <a:noFill/>
            </a:ln>
          </p:spPr>
        </p:sp>
      </p:grpSp>
      <p:grpSp>
        <p:nvGrpSpPr>
          <p:cNvPr id="52" name="Group 52"/>
          <p:cNvGrpSpPr/>
          <p:nvPr/>
        </p:nvGrpSpPr>
        <p:grpSpPr>
          <a:xfrm>
            <a:off x="6305550" y="838200"/>
            <a:ext cx="5510118" cy="5334000"/>
            <a:chOff x="6305550" y="838200"/>
            <a:chExt cx="5510118" cy="5334000"/>
          </a:xfrm>
        </p:grpSpPr>
        <p:sp>
          <p:nvSpPr>
            <p:cNvPr id="31" name="Rectangle 31"/>
            <p:cNvSpPr/>
            <p:nvPr/>
          </p:nvSpPr>
          <p:spPr>
            <a:xfrm>
              <a:off x="6305550" y="838200"/>
              <a:ext cx="5314950" cy="5334000"/>
            </a:xfrm>
            <a:prstGeom prst="roundRect">
              <a:avLst>
                <a:gd name="adj" fmla="val 717"/>
              </a:avLst>
            </a:prstGeom>
            <a:solidFill>
              <a:srgbClr val="131B30"/>
            </a:solidFill>
            <a:ln>
              <a:noFill/>
            </a:ln>
          </p:spPr>
        </p:sp>
        <p:sp>
          <p:nvSpPr>
            <p:cNvPr id="32" name="Rectangle 32"/>
            <p:cNvSpPr/>
            <p:nvPr/>
          </p:nvSpPr>
          <p:spPr>
            <a:xfrm>
              <a:off x="6305550" y="838200"/>
              <a:ext cx="5314950" cy="38100"/>
            </a:xfrm>
            <a:prstGeom prst="rect">
              <a:avLst/>
            </a:prstGeom>
            <a:solidFill>
              <a:srgbClr val="F5C842"/>
            </a:solidFill>
            <a:ln>
              <a:noFill/>
            </a:ln>
          </p:spPr>
        </p:sp>
        <p:sp>
          <p:nvSpPr>
            <p:cNvPr id="33" name="TextBox 33"/>
            <p:cNvSpPr txBox="1"/>
            <p:nvPr/>
          </p:nvSpPr>
          <p:spPr>
            <a:xfrm>
              <a:off x="6483668" y="1075849"/>
              <a:ext cx="1348005"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COMPETITIVE MOAT</a:t>
              </a:r>
            </a:p>
          </p:txBody>
        </p:sp>
        <p:sp>
          <p:nvSpPr>
            <p:cNvPr id="34" name="Rectangle 34"/>
            <p:cNvSpPr/>
            <p:nvPr/>
          </p:nvSpPr>
          <p:spPr>
            <a:xfrm>
              <a:off x="6496050" y="1333500"/>
              <a:ext cx="47625" cy="514350"/>
            </a:xfrm>
            <a:prstGeom prst="roundRect">
              <a:avLst>
                <a:gd name="adj" fmla="val 40000"/>
              </a:avLst>
            </a:prstGeom>
            <a:solidFill>
              <a:srgbClr val="F5C842"/>
            </a:solidFill>
            <a:ln>
              <a:noFill/>
            </a:ln>
          </p:spPr>
        </p:sp>
        <p:sp>
          <p:nvSpPr>
            <p:cNvPr id="35" name="TextBox 35"/>
            <p:cNvSpPr txBox="1"/>
            <p:nvPr/>
          </p:nvSpPr>
          <p:spPr>
            <a:xfrm>
              <a:off x="6654165" y="1410652"/>
              <a:ext cx="3126307" cy="213360"/>
            </a:xfrm>
            <a:prstGeom prst="rect">
              <a:avLst/>
            </a:prstGeom>
            <a:noFill/>
            <a:ln>
              <a:noFill/>
            </a:ln>
          </p:spPr>
          <p:txBody>
            <a:bodyPr wrap="none" lIns="0" tIns="0" rIns="0" bIns="0" anchor="t" anchorCtr="0">
              <a:spAutoFit/>
            </a:bodyPr>
            <a:lstStyle/>
            <a:p>
              <a:pPr algn="l"/>
              <a:r>
                <a:rPr lang="zh-CN" sz="1050" b="1" dirty="0">
                  <a:solidFill>
                    <a:srgbClr val="E8EAF0"/>
                  </a:solidFill>
                  <a:latin typeface="Arial"/>
                  <a:ea typeface="Microsoft YaHei"/>
                  <a:cs typeface="Arial"/>
                </a:rPr>
                <a:t>Supercharger Network (70K+ chargers)</a:t>
              </a:r>
            </a:p>
          </p:txBody>
        </p:sp>
        <p:sp>
          <p:nvSpPr>
            <p:cNvPr id="36" name="TextBox 36"/>
            <p:cNvSpPr txBox="1"/>
            <p:nvPr/>
          </p:nvSpPr>
          <p:spPr>
            <a:xfrm>
              <a:off x="6655118" y="1609249"/>
              <a:ext cx="290122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Industry standard — Ford, GM adopted it.</a:t>
              </a:r>
            </a:p>
          </p:txBody>
        </p:sp>
        <p:sp>
          <p:nvSpPr>
            <p:cNvPr id="37" name="Rectangle 37"/>
            <p:cNvSpPr/>
            <p:nvPr/>
          </p:nvSpPr>
          <p:spPr>
            <a:xfrm>
              <a:off x="6496050" y="2000250"/>
              <a:ext cx="47625" cy="514350"/>
            </a:xfrm>
            <a:prstGeom prst="roundRect">
              <a:avLst>
                <a:gd name="adj" fmla="val 40000"/>
              </a:avLst>
            </a:prstGeom>
            <a:solidFill>
              <a:srgbClr val="F5C842"/>
            </a:solidFill>
            <a:ln>
              <a:noFill/>
            </a:ln>
          </p:spPr>
        </p:sp>
        <p:sp>
          <p:nvSpPr>
            <p:cNvPr id="38" name="TextBox 38"/>
            <p:cNvSpPr txBox="1"/>
            <p:nvPr/>
          </p:nvSpPr>
          <p:spPr>
            <a:xfrm>
              <a:off x="6654165" y="2077402"/>
              <a:ext cx="1403392" cy="213360"/>
            </a:xfrm>
            <a:prstGeom prst="rect">
              <a:avLst/>
            </a:prstGeom>
            <a:noFill/>
            <a:ln>
              <a:noFill/>
            </a:ln>
          </p:spPr>
          <p:txBody>
            <a:bodyPr wrap="none" lIns="0" tIns="0" rIns="0" bIns="0" anchor="t" anchorCtr="0">
              <a:spAutoFit/>
            </a:bodyPr>
            <a:lstStyle/>
            <a:p>
              <a:pPr algn="l"/>
              <a:r>
                <a:rPr lang="zh-CN" sz="1050" b="1" dirty="0">
                  <a:solidFill>
                    <a:srgbClr val="E8EAF0"/>
                  </a:solidFill>
                  <a:latin typeface="Arial"/>
                  <a:ea typeface="Microsoft YaHei"/>
                  <a:cs typeface="Arial"/>
                </a:rPr>
                <a:t>FSD Data Flywheel</a:t>
              </a:r>
            </a:p>
          </p:txBody>
        </p:sp>
        <p:sp>
          <p:nvSpPr>
            <p:cNvPr id="39" name="TextBox 39"/>
            <p:cNvSpPr txBox="1"/>
            <p:nvPr/>
          </p:nvSpPr>
          <p:spPr>
            <a:xfrm>
              <a:off x="6655118" y="2275999"/>
              <a:ext cx="341385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Hundreds of millions of real-world miles trained.</a:t>
              </a:r>
            </a:p>
          </p:txBody>
        </p:sp>
        <p:sp>
          <p:nvSpPr>
            <p:cNvPr id="40" name="Rectangle 40"/>
            <p:cNvSpPr/>
            <p:nvPr/>
          </p:nvSpPr>
          <p:spPr>
            <a:xfrm>
              <a:off x="6496050" y="2667000"/>
              <a:ext cx="47625" cy="514350"/>
            </a:xfrm>
            <a:prstGeom prst="roundRect">
              <a:avLst>
                <a:gd name="adj" fmla="val 40000"/>
              </a:avLst>
            </a:prstGeom>
            <a:solidFill>
              <a:srgbClr val="F5C842"/>
            </a:solidFill>
            <a:ln>
              <a:noFill/>
            </a:ln>
          </p:spPr>
        </p:sp>
        <p:sp>
          <p:nvSpPr>
            <p:cNvPr id="41" name="TextBox 41"/>
            <p:cNvSpPr txBox="1"/>
            <p:nvPr/>
          </p:nvSpPr>
          <p:spPr>
            <a:xfrm>
              <a:off x="6654165" y="2744152"/>
              <a:ext cx="3142409" cy="213360"/>
            </a:xfrm>
            <a:prstGeom prst="rect">
              <a:avLst/>
            </a:prstGeom>
            <a:noFill/>
            <a:ln>
              <a:noFill/>
            </a:ln>
          </p:spPr>
          <p:txBody>
            <a:bodyPr wrap="none" lIns="0" tIns="0" rIns="0" bIns="0" anchor="t" anchorCtr="0">
              <a:spAutoFit/>
            </a:bodyPr>
            <a:lstStyle/>
            <a:p>
              <a:pPr algn="l"/>
              <a:r>
                <a:rPr lang="zh-CN" sz="1050" b="1" dirty="0">
                  <a:solidFill>
                    <a:srgbClr val="E8EAF0"/>
                  </a:solidFill>
                  <a:latin typeface="Arial"/>
                  <a:ea typeface="Microsoft YaHei"/>
                  <a:cs typeface="Arial"/>
                </a:rPr>
                <a:t>Vertical Integration (4680 + HW4 + OTA)</a:t>
              </a:r>
            </a:p>
          </p:txBody>
        </p:sp>
        <p:sp>
          <p:nvSpPr>
            <p:cNvPr id="42" name="TextBox 42"/>
            <p:cNvSpPr txBox="1"/>
            <p:nvPr/>
          </p:nvSpPr>
          <p:spPr>
            <a:xfrm>
              <a:off x="6655118" y="2942749"/>
              <a:ext cx="356337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Unmatched cost control vs. assembly-model OEMs.</a:t>
              </a:r>
            </a:p>
          </p:txBody>
        </p:sp>
        <p:sp>
          <p:nvSpPr>
            <p:cNvPr id="43" name="Rectangle 43"/>
            <p:cNvSpPr/>
            <p:nvPr/>
          </p:nvSpPr>
          <p:spPr>
            <a:xfrm>
              <a:off x="6496050" y="3333750"/>
              <a:ext cx="47625" cy="514350"/>
            </a:xfrm>
            <a:prstGeom prst="roundRect">
              <a:avLst>
                <a:gd name="adj" fmla="val 40000"/>
              </a:avLst>
            </a:prstGeom>
            <a:solidFill>
              <a:srgbClr val="4A90D9"/>
            </a:solidFill>
            <a:ln>
              <a:noFill/>
            </a:ln>
          </p:spPr>
        </p:sp>
        <p:sp>
          <p:nvSpPr>
            <p:cNvPr id="44" name="TextBox 44"/>
            <p:cNvSpPr txBox="1"/>
            <p:nvPr/>
          </p:nvSpPr>
          <p:spPr>
            <a:xfrm>
              <a:off x="6654165" y="3410902"/>
              <a:ext cx="1596616" cy="213360"/>
            </a:xfrm>
            <a:prstGeom prst="rect">
              <a:avLst/>
            </a:prstGeom>
            <a:noFill/>
            <a:ln>
              <a:noFill/>
            </a:ln>
          </p:spPr>
          <p:txBody>
            <a:bodyPr wrap="none" lIns="0" tIns="0" rIns="0" bIns="0" anchor="t" anchorCtr="0">
              <a:spAutoFit/>
            </a:bodyPr>
            <a:lstStyle/>
            <a:p>
              <a:pPr algn="l"/>
              <a:r>
                <a:rPr lang="zh-CN" sz="1050" b="1" dirty="0">
                  <a:solidFill>
                    <a:srgbClr val="E8EAF0"/>
                  </a:solidFill>
                  <a:latin typeface="Arial"/>
                  <a:ea typeface="Microsoft YaHei"/>
                  <a:cs typeface="Arial"/>
                </a:rPr>
                <a:t>Brand + Direct Sales</a:t>
              </a:r>
            </a:p>
          </p:txBody>
        </p:sp>
        <p:sp>
          <p:nvSpPr>
            <p:cNvPr id="45" name="TextBox 45"/>
            <p:cNvSpPr txBox="1"/>
            <p:nvPr/>
          </p:nvSpPr>
          <p:spPr>
            <a:xfrm>
              <a:off x="6655118" y="3609499"/>
              <a:ext cx="3371136"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No dealer margin; direct customer relationship.</a:t>
              </a:r>
            </a:p>
          </p:txBody>
        </p:sp>
        <p:sp>
          <p:nvSpPr>
            <p:cNvPr id="46" name="Rectangle 46"/>
            <p:cNvSpPr/>
            <p:nvPr/>
          </p:nvSpPr>
          <p:spPr>
            <a:xfrm>
              <a:off x="6496050" y="4095750"/>
              <a:ext cx="4953000" cy="9525"/>
            </a:xfrm>
            <a:prstGeom prst="rect">
              <a:avLst/>
            </a:prstGeom>
            <a:solidFill>
              <a:srgbClr val="2A3A5C"/>
            </a:solidFill>
            <a:ln>
              <a:noFill/>
            </a:ln>
          </p:spPr>
        </p:sp>
        <p:sp>
          <p:nvSpPr>
            <p:cNvPr id="47" name="TextBox 47"/>
            <p:cNvSpPr txBox="1"/>
            <p:nvPr/>
          </p:nvSpPr>
          <p:spPr>
            <a:xfrm>
              <a:off x="6483668" y="4276249"/>
              <a:ext cx="996636"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MOAT VERDICT</a:t>
              </a:r>
            </a:p>
          </p:txBody>
        </p:sp>
        <p:sp>
          <p:nvSpPr>
            <p:cNvPr id="48" name="Rectangle 48"/>
            <p:cNvSpPr/>
            <p:nvPr/>
          </p:nvSpPr>
          <p:spPr>
            <a:xfrm>
              <a:off x="6496050" y="4514850"/>
              <a:ext cx="4953000" cy="514350"/>
            </a:xfrm>
            <a:prstGeom prst="roundRect">
              <a:avLst>
                <a:gd name="adj" fmla="val 7407"/>
              </a:avLst>
            </a:prstGeom>
            <a:solidFill>
              <a:srgbClr val="0A0E1A"/>
            </a:solidFill>
            <a:ln>
              <a:noFill/>
            </a:ln>
          </p:spPr>
        </p:sp>
        <p:sp>
          <p:nvSpPr>
            <p:cNvPr id="49" name="Rectangle 49"/>
            <p:cNvSpPr/>
            <p:nvPr/>
          </p:nvSpPr>
          <p:spPr>
            <a:xfrm>
              <a:off x="6496050" y="4514850"/>
              <a:ext cx="38100" cy="514350"/>
            </a:xfrm>
            <a:prstGeom prst="rect">
              <a:avLst/>
            </a:prstGeom>
            <a:solidFill>
              <a:srgbClr val="F5C842"/>
            </a:solidFill>
            <a:ln>
              <a:noFill/>
            </a:ln>
          </p:spPr>
        </p:sp>
        <p:sp>
          <p:nvSpPr>
            <p:cNvPr id="50" name="TextBox 50"/>
            <p:cNvSpPr txBox="1"/>
            <p:nvPr/>
          </p:nvSpPr>
          <p:spPr>
            <a:xfrm>
              <a:off x="6635115" y="4611052"/>
              <a:ext cx="1838146" cy="213360"/>
            </a:xfrm>
            <a:prstGeom prst="rect">
              <a:avLst/>
            </a:prstGeom>
            <a:noFill/>
            <a:ln>
              <a:noFill/>
            </a:ln>
          </p:spPr>
          <p:txBody>
            <a:bodyPr wrap="none" lIns="0" tIns="0" rIns="0" bIns="0" anchor="t" anchorCtr="0">
              <a:spAutoFit/>
            </a:bodyPr>
            <a:lstStyle/>
            <a:p>
              <a:pPr algn="l"/>
              <a:r>
                <a:rPr lang="zh-CN" sz="1050" b="1" dirty="0">
                  <a:solidFill>
                    <a:srgbClr val="E8EAF0"/>
                  </a:solidFill>
                  <a:latin typeface="Arial"/>
                  <a:ea typeface="Microsoft YaHei"/>
                  <a:cs typeface="Arial"/>
                </a:rPr>
                <a:t>Narrow → Wide (Binary)</a:t>
              </a:r>
            </a:p>
          </p:txBody>
        </p:sp>
        <p:sp>
          <p:nvSpPr>
            <p:cNvPr id="51" name="TextBox 51"/>
            <p:cNvSpPr txBox="1"/>
            <p:nvPr/>
          </p:nvSpPr>
          <p:spPr>
            <a:xfrm>
              <a:off x="6636068" y="4809649"/>
              <a:ext cx="517960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Supercharger + data flywheel = real moat today. Robotaxi success → Wide.</a:t>
              </a:r>
            </a:p>
          </p:txBody>
        </p:sp>
      </p:grpSp>
      <p:grpSp>
        <p:nvGrpSpPr>
          <p:cNvPr id="57" name="Group 57"/>
          <p:cNvGrpSpPr/>
          <p:nvPr/>
        </p:nvGrpSpPr>
        <p:grpSpPr>
          <a:xfrm>
            <a:off x="0" y="6324600"/>
            <a:ext cx="12192000" cy="533400"/>
            <a:chOff x="0" y="6324600"/>
            <a:chExt cx="12192000" cy="533400"/>
          </a:xfrm>
        </p:grpSpPr>
        <p:sp>
          <p:nvSpPr>
            <p:cNvPr id="53" name="Rectangle 53"/>
            <p:cNvSpPr/>
            <p:nvPr/>
          </p:nvSpPr>
          <p:spPr>
            <a:xfrm>
              <a:off x="0" y="6324600"/>
              <a:ext cx="12192000" cy="533400"/>
            </a:xfrm>
            <a:prstGeom prst="rect">
              <a:avLst/>
            </a:prstGeom>
            <a:solidFill>
              <a:srgbClr val="131B30"/>
            </a:solidFill>
            <a:ln>
              <a:noFill/>
            </a:ln>
          </p:spPr>
        </p:sp>
        <p:sp>
          <p:nvSpPr>
            <p:cNvPr id="54" name="Rectangle 54"/>
            <p:cNvSpPr/>
            <p:nvPr/>
          </p:nvSpPr>
          <p:spPr>
            <a:xfrm>
              <a:off x="0" y="6324600"/>
              <a:ext cx="12192000" cy="9525"/>
            </a:xfrm>
            <a:prstGeom prst="rect">
              <a:avLst/>
            </a:prstGeom>
            <a:solidFill>
              <a:srgbClr val="F5C842">
                <a:alpha val="35000"/>
              </a:srgbClr>
            </a:solidFill>
            <a:ln>
              <a:noFill/>
            </a:ln>
          </p:spPr>
        </p:sp>
        <p:sp>
          <p:nvSpPr>
            <p:cNvPr id="55" name="TextBox 55"/>
            <p:cNvSpPr txBox="1"/>
            <p:nvPr/>
          </p:nvSpPr>
          <p:spPr>
            <a:xfrm>
              <a:off x="749618" y="6533674"/>
              <a:ext cx="116395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Business Quality</a:t>
              </a:r>
            </a:p>
          </p:txBody>
        </p:sp>
        <p:sp>
          <p:nvSpPr>
            <p:cNvPr id="56" name="TextBox 56"/>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400"/>
                                        <p:tgtEl>
                                          <p:spTgt spid="28"/>
                                        </p:tgtEl>
                                      </p:cBhvr>
                                    </p:animEffect>
                                  </p:childTnLst>
                                </p:cTn>
                              </p:par>
                            </p:childTnLst>
                          </p:cTn>
                        </p:par>
                        <p:par>
                          <p:cTn id="12" fill="hold">
                            <p:stCondLst>
                              <p:cond delay="1800"/>
                            </p:stCondLst>
                            <p:childTnLst>
                              <p:par>
                                <p:cTn id="13" presetID="42" presetClass="entr" presetSubtype="8"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slide(fromLeft)">
                                      <p:cBhvr>
                                        <p:cTn id="15" dur="400"/>
                                        <p:tgtEl>
                                          <p:spTgt spid="30"/>
                                        </p:tgtEl>
                                      </p:cBhvr>
                                    </p:animEffect>
                                  </p:childTnLst>
                                </p:cTn>
                              </p:par>
                            </p:childTnLst>
                          </p:cTn>
                        </p:par>
                        <p:par>
                          <p:cTn id="16" fill="hold">
                            <p:stCondLst>
                              <p:cond delay="2700"/>
                            </p:stCondLst>
                            <p:childTnLst>
                              <p:par>
                                <p:cTn id="17" presetID="14" presetClass="entr" presetSubtype="10"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randombar(horizontal)">
                                      <p:cBhvr>
                                        <p:cTn id="19" dur="400"/>
                                        <p:tgtEl>
                                          <p:spTgt spid="52"/>
                                        </p:tgtEl>
                                      </p:cBhvr>
                                    </p:animEffect>
                                  </p:childTnLst>
                                </p:cTn>
                              </p:par>
                            </p:childTnLst>
                          </p:cTn>
                        </p:par>
                        <p:par>
                          <p:cTn id="20" fill="hold">
                            <p:stCondLst>
                              <p:cond delay="3600"/>
                            </p:stCondLst>
                            <p:childTnLst>
                              <p:par>
                                <p:cTn id="21" presetID="4" presetClass="entr" presetSubtype="0"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box(in)">
                                      <p:cBhvr>
                                        <p:cTn id="23"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8" grpId="0"/>
      <p:bldP spid="30" grpId="0"/>
      <p:bldP spid="52" grpId="0"/>
      <p:bldP spid="5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11" name="Group 11"/>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591348"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Growth Catalysts</a:t>
              </a:r>
            </a:p>
          </p:txBody>
        </p:sp>
        <p:sp>
          <p:nvSpPr>
            <p:cNvPr id="8" name="Rectangle 8"/>
            <p:cNvSpPr/>
            <p:nvPr/>
          </p:nvSpPr>
          <p:spPr>
            <a:xfrm>
              <a:off x="9906000" y="190500"/>
              <a:ext cx="1524000" cy="304800"/>
            </a:xfrm>
            <a:prstGeom prst="roundRect">
              <a:avLst>
                <a:gd name="adj" fmla="val 50000"/>
              </a:avLst>
            </a:prstGeom>
            <a:solidFill>
              <a:srgbClr val="4CAF82">
                <a:alpha val="20000"/>
              </a:srgbClr>
            </a:solidFill>
            <a:ln>
              <a:noFill/>
            </a:ln>
          </p:spPr>
        </p:sp>
        <p:sp>
          <p:nvSpPr>
            <p:cNvPr id="9" name="Rectangle 9"/>
            <p:cNvSpPr/>
            <p:nvPr/>
          </p:nvSpPr>
          <p:spPr>
            <a:xfrm>
              <a:off x="9906000" y="190500"/>
              <a:ext cx="1524000" cy="304800"/>
            </a:xfrm>
            <a:prstGeom prst="roundRect">
              <a:avLst>
                <a:gd name="adj" fmla="val 50000"/>
              </a:avLst>
            </a:prstGeom>
            <a:noFill/>
            <a:ln w="9525">
              <a:solidFill>
                <a:srgbClr val="4CAF82"/>
              </a:solidFill>
            </a:ln>
          </p:spPr>
        </p:sp>
        <p:sp>
          <p:nvSpPr>
            <p:cNvPr id="10" name="TextBox 10"/>
            <p:cNvSpPr txBox="1"/>
            <p:nvPr/>
          </p:nvSpPr>
          <p:spPr>
            <a:xfrm>
              <a:off x="10111402" y="293370"/>
              <a:ext cx="1113196" cy="182880"/>
            </a:xfrm>
            <a:prstGeom prst="rect">
              <a:avLst/>
            </a:prstGeom>
            <a:noFill/>
            <a:ln>
              <a:noFill/>
            </a:ln>
          </p:spPr>
          <p:txBody>
            <a:bodyPr wrap="none" lIns="0" tIns="0" rIns="0" bIns="0" anchor="t" anchorCtr="0">
              <a:spAutoFit/>
            </a:bodyPr>
            <a:lstStyle/>
            <a:p>
              <a:pPr algn="ctr"/>
              <a:r>
                <a:rPr lang="zh-CN" sz="900" b="1" dirty="0">
                  <a:solidFill>
                    <a:srgbClr val="4CAF82"/>
                  </a:solidFill>
                  <a:latin typeface="Arial"/>
                  <a:ea typeface="Microsoft YaHei"/>
                  <a:cs typeface="Arial"/>
                </a:rPr>
                <a:t>NEAR &amp; MID-TERM</a:t>
              </a:r>
            </a:p>
          </p:txBody>
        </p:sp>
      </p:grpSp>
      <p:grpSp>
        <p:nvGrpSpPr>
          <p:cNvPr id="15" name="Group 15"/>
          <p:cNvGrpSpPr/>
          <p:nvPr/>
        </p:nvGrpSpPr>
        <p:grpSpPr>
          <a:xfrm>
            <a:off x="571500" y="952500"/>
            <a:ext cx="9588532" cy="571500"/>
            <a:chOff x="571500" y="952500"/>
            <a:chExt cx="9588532" cy="571500"/>
          </a:xfrm>
        </p:grpSpPr>
        <p:sp>
          <p:nvSpPr>
            <p:cNvPr id="12" name="Rectangle 12"/>
            <p:cNvSpPr/>
            <p:nvPr/>
          </p:nvSpPr>
          <p:spPr>
            <a:xfrm>
              <a:off x="571500" y="952500"/>
              <a:ext cx="57150" cy="571500"/>
            </a:xfrm>
            <a:prstGeom prst="roundRect">
              <a:avLst>
                <a:gd name="adj" fmla="val 50000"/>
              </a:avLst>
            </a:prstGeom>
            <a:solidFill>
              <a:srgbClr val="F5C842"/>
            </a:solidFill>
            <a:ln>
              <a:noFill/>
            </a:ln>
          </p:spPr>
        </p:sp>
        <p:sp>
          <p:nvSpPr>
            <p:cNvPr id="13" name="TextBox 13"/>
            <p:cNvSpPr txBox="1"/>
            <p:nvPr/>
          </p:nvSpPr>
          <p:spPr>
            <a:xfrm>
              <a:off x="822008" y="1043464"/>
              <a:ext cx="4402356"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Cybercab / Robotaxi Austin Commercial Launch</a:t>
              </a:r>
            </a:p>
          </p:txBody>
        </p:sp>
        <p:sp>
          <p:nvSpPr>
            <p:cNvPr id="14" name="TextBox 14"/>
            <p:cNvSpPr txBox="1"/>
            <p:nvPr/>
          </p:nvSpPr>
          <p:spPr>
            <a:xfrm>
              <a:off x="824865" y="1296352"/>
              <a:ext cx="9335167"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Regulatory approval (NHTSA + Texas DMV) is the critical gate. Austin trial → multi-city scale. Single biggest binary catalyst.</a:t>
              </a:r>
            </a:p>
          </p:txBody>
        </p:sp>
      </p:grpSp>
      <p:grpSp>
        <p:nvGrpSpPr>
          <p:cNvPr id="19" name="Group 19"/>
          <p:cNvGrpSpPr/>
          <p:nvPr/>
        </p:nvGrpSpPr>
        <p:grpSpPr>
          <a:xfrm>
            <a:off x="571500" y="1695450"/>
            <a:ext cx="9028795" cy="571500"/>
            <a:chOff x="571500" y="1695450"/>
            <a:chExt cx="9028795" cy="571500"/>
          </a:xfrm>
        </p:grpSpPr>
        <p:sp>
          <p:nvSpPr>
            <p:cNvPr id="16" name="Rectangle 16"/>
            <p:cNvSpPr/>
            <p:nvPr/>
          </p:nvSpPr>
          <p:spPr>
            <a:xfrm>
              <a:off x="571500" y="1695450"/>
              <a:ext cx="57150" cy="571500"/>
            </a:xfrm>
            <a:prstGeom prst="roundRect">
              <a:avLst>
                <a:gd name="adj" fmla="val 50000"/>
              </a:avLst>
            </a:prstGeom>
            <a:solidFill>
              <a:srgbClr val="F5C842"/>
            </a:solidFill>
            <a:ln>
              <a:noFill/>
            </a:ln>
          </p:spPr>
        </p:sp>
        <p:sp>
          <p:nvSpPr>
            <p:cNvPr id="17" name="TextBox 17"/>
            <p:cNvSpPr txBox="1"/>
            <p:nvPr/>
          </p:nvSpPr>
          <p:spPr>
            <a:xfrm>
              <a:off x="822008" y="1786414"/>
              <a:ext cx="4069965"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Automotive Gross Margin Recovery to 20%+</a:t>
              </a:r>
            </a:p>
          </p:txBody>
        </p:sp>
        <p:sp>
          <p:nvSpPr>
            <p:cNvPr id="18" name="TextBox 18"/>
            <p:cNvSpPr txBox="1"/>
            <p:nvPr/>
          </p:nvSpPr>
          <p:spPr>
            <a:xfrm>
              <a:off x="824865" y="2039302"/>
              <a:ext cx="8775430"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FSD penetration rate + cost optimization (4680 yield improvement). Q1 2026 auto GM already at 21.1% — needs to hold.</a:t>
              </a:r>
            </a:p>
          </p:txBody>
        </p:sp>
      </p:grpSp>
      <p:grpSp>
        <p:nvGrpSpPr>
          <p:cNvPr id="23" name="Group 23"/>
          <p:cNvGrpSpPr/>
          <p:nvPr/>
        </p:nvGrpSpPr>
        <p:grpSpPr>
          <a:xfrm>
            <a:off x="571500" y="2438400"/>
            <a:ext cx="9189815" cy="571500"/>
            <a:chOff x="571500" y="2438400"/>
            <a:chExt cx="9189815" cy="571500"/>
          </a:xfrm>
        </p:grpSpPr>
        <p:sp>
          <p:nvSpPr>
            <p:cNvPr id="20" name="Rectangle 20"/>
            <p:cNvSpPr/>
            <p:nvPr/>
          </p:nvSpPr>
          <p:spPr>
            <a:xfrm>
              <a:off x="571500" y="2438400"/>
              <a:ext cx="57150" cy="571500"/>
            </a:xfrm>
            <a:prstGeom prst="roundRect">
              <a:avLst>
                <a:gd name="adj" fmla="val 50000"/>
              </a:avLst>
            </a:prstGeom>
            <a:solidFill>
              <a:srgbClr val="F5C842"/>
            </a:solidFill>
            <a:ln>
              <a:noFill/>
            </a:ln>
          </p:spPr>
        </p:sp>
        <p:sp>
          <p:nvSpPr>
            <p:cNvPr id="21" name="TextBox 21"/>
            <p:cNvSpPr txBox="1"/>
            <p:nvPr/>
          </p:nvSpPr>
          <p:spPr>
            <a:xfrm>
              <a:off x="822008" y="2529364"/>
              <a:ext cx="3424734"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Low-Cost Vehicle "Model 2" (~$25K)</a:t>
              </a:r>
            </a:p>
          </p:txBody>
        </p:sp>
        <p:sp>
          <p:nvSpPr>
            <p:cNvPr id="22" name="TextBox 22"/>
            <p:cNvSpPr txBox="1"/>
            <p:nvPr/>
          </p:nvSpPr>
          <p:spPr>
            <a:xfrm>
              <a:off x="824865" y="2782252"/>
              <a:ext cx="8936450"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Mass market TAM expansion — addresses the 80% of the global auto market Tesla currently cannot serve on price alone.</a:t>
              </a:r>
            </a:p>
          </p:txBody>
        </p:sp>
      </p:grpSp>
      <p:grpSp>
        <p:nvGrpSpPr>
          <p:cNvPr id="27" name="Group 27"/>
          <p:cNvGrpSpPr/>
          <p:nvPr/>
        </p:nvGrpSpPr>
        <p:grpSpPr>
          <a:xfrm>
            <a:off x="571500" y="3181350"/>
            <a:ext cx="9795558" cy="571500"/>
            <a:chOff x="571500" y="3181350"/>
            <a:chExt cx="9795558" cy="571500"/>
          </a:xfrm>
        </p:grpSpPr>
        <p:sp>
          <p:nvSpPr>
            <p:cNvPr id="24" name="Rectangle 24"/>
            <p:cNvSpPr/>
            <p:nvPr/>
          </p:nvSpPr>
          <p:spPr>
            <a:xfrm>
              <a:off x="571500" y="3181350"/>
              <a:ext cx="57150" cy="571500"/>
            </a:xfrm>
            <a:prstGeom prst="roundRect">
              <a:avLst>
                <a:gd name="adj" fmla="val 50000"/>
              </a:avLst>
            </a:prstGeom>
            <a:solidFill>
              <a:srgbClr val="4A90D9"/>
            </a:solidFill>
            <a:ln>
              <a:noFill/>
            </a:ln>
          </p:spPr>
        </p:sp>
        <p:sp>
          <p:nvSpPr>
            <p:cNvPr id="25" name="TextBox 25"/>
            <p:cNvSpPr txBox="1"/>
            <p:nvPr/>
          </p:nvSpPr>
          <p:spPr>
            <a:xfrm>
              <a:off x="822008" y="3272314"/>
              <a:ext cx="4304594"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Megapack Capacity Expansion (Energy → $15B)</a:t>
              </a:r>
            </a:p>
          </p:txBody>
        </p:sp>
        <p:sp>
          <p:nvSpPr>
            <p:cNvPr id="26" name="TextBox 26"/>
            <p:cNvSpPr txBox="1"/>
            <p:nvPr/>
          </p:nvSpPr>
          <p:spPr>
            <a:xfrm>
              <a:off x="824865" y="3525202"/>
              <a:ext cx="9542193"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Grid-scale storage demand surging (+40% CAGR). Tesla Megapack is the most undervalued segment — 25%+ margin, growing fast.</a:t>
              </a:r>
            </a:p>
          </p:txBody>
        </p:sp>
      </p:grpSp>
      <p:grpSp>
        <p:nvGrpSpPr>
          <p:cNvPr id="31" name="Group 31"/>
          <p:cNvGrpSpPr/>
          <p:nvPr/>
        </p:nvGrpSpPr>
        <p:grpSpPr>
          <a:xfrm>
            <a:off x="571500" y="3924300"/>
            <a:ext cx="10010251" cy="571500"/>
            <a:chOff x="571500" y="3924300"/>
            <a:chExt cx="10010251" cy="571500"/>
          </a:xfrm>
        </p:grpSpPr>
        <p:sp>
          <p:nvSpPr>
            <p:cNvPr id="28" name="Rectangle 28"/>
            <p:cNvSpPr/>
            <p:nvPr/>
          </p:nvSpPr>
          <p:spPr>
            <a:xfrm>
              <a:off x="571500" y="3924300"/>
              <a:ext cx="57150" cy="571500"/>
            </a:xfrm>
            <a:prstGeom prst="roundRect">
              <a:avLst>
                <a:gd name="adj" fmla="val 50000"/>
              </a:avLst>
            </a:prstGeom>
            <a:solidFill>
              <a:srgbClr val="4A90D9"/>
            </a:solidFill>
            <a:ln>
              <a:noFill/>
            </a:ln>
          </p:spPr>
        </p:sp>
        <p:sp>
          <p:nvSpPr>
            <p:cNvPr id="29" name="TextBox 29"/>
            <p:cNvSpPr txBox="1"/>
            <p:nvPr/>
          </p:nvSpPr>
          <p:spPr>
            <a:xfrm>
              <a:off x="822008" y="4015264"/>
              <a:ext cx="3571377"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Optimus Robot Early Production Ramp</a:t>
              </a:r>
            </a:p>
          </p:txBody>
        </p:sp>
        <p:sp>
          <p:nvSpPr>
            <p:cNvPr id="30" name="TextBox 30"/>
            <p:cNvSpPr txBox="1"/>
            <p:nvPr/>
          </p:nvSpPr>
          <p:spPr>
            <a:xfrm>
              <a:off x="824865" y="4268152"/>
              <a:ext cx="9756886"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Phase 1: Tesla internal use. Phase 2 (2027-28): commercial orders. First external orders would be a material re-rating catalyst.</a:t>
              </a:r>
            </a:p>
          </p:txBody>
        </p:sp>
      </p:grpSp>
      <p:grpSp>
        <p:nvGrpSpPr>
          <p:cNvPr id="35" name="Group 35"/>
          <p:cNvGrpSpPr/>
          <p:nvPr/>
        </p:nvGrpSpPr>
        <p:grpSpPr>
          <a:xfrm>
            <a:off x="571500" y="4762500"/>
            <a:ext cx="11049000" cy="607219"/>
            <a:chOff x="571500" y="4762500"/>
            <a:chExt cx="11049000" cy="607219"/>
          </a:xfrm>
        </p:grpSpPr>
        <p:sp>
          <p:nvSpPr>
            <p:cNvPr id="32" name="Rectangle 32"/>
            <p:cNvSpPr/>
            <p:nvPr/>
          </p:nvSpPr>
          <p:spPr>
            <a:xfrm>
              <a:off x="571500" y="4762500"/>
              <a:ext cx="11049000" cy="9525"/>
            </a:xfrm>
            <a:prstGeom prst="rect">
              <a:avLst/>
            </a:prstGeom>
            <a:solidFill>
              <a:srgbClr val="2A3A5C"/>
            </a:solidFill>
            <a:ln>
              <a:noFill/>
            </a:ln>
          </p:spPr>
        </p:sp>
        <p:sp>
          <p:nvSpPr>
            <p:cNvPr id="33" name="TextBox 33"/>
            <p:cNvSpPr txBox="1"/>
            <p:nvPr/>
          </p:nvSpPr>
          <p:spPr>
            <a:xfrm>
              <a:off x="749618" y="4942999"/>
              <a:ext cx="1527428"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MONITORING TRIGGERS</a:t>
              </a:r>
            </a:p>
          </p:txBody>
        </p:sp>
        <p:sp>
          <p:nvSpPr>
            <p:cNvPr id="34" name="TextBox 34"/>
            <p:cNvSpPr txBox="1"/>
            <p:nvPr/>
          </p:nvSpPr>
          <p:spPr>
            <a:xfrm>
              <a:off x="749618" y="5171599"/>
              <a:ext cx="10711791"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Q2 2026 earnings (Jul 22): EPS ≥$0.46, Revenue ≥$24.6B, Auto GM ≥20% · 50MA $386 reclaim · FSD L4 certification progress · Energy revenue ≥$15B FY2026</a:t>
              </a:r>
            </a:p>
          </p:txBody>
        </p:sp>
      </p:grpSp>
      <p:grpSp>
        <p:nvGrpSpPr>
          <p:cNvPr id="40" name="Group 40"/>
          <p:cNvGrpSpPr/>
          <p:nvPr/>
        </p:nvGrpSpPr>
        <p:grpSpPr>
          <a:xfrm>
            <a:off x="0" y="6324600"/>
            <a:ext cx="12192000" cy="533400"/>
            <a:chOff x="0" y="6324600"/>
            <a:chExt cx="12192000" cy="533400"/>
          </a:xfrm>
        </p:grpSpPr>
        <p:sp>
          <p:nvSpPr>
            <p:cNvPr id="36" name="Rectangle 36"/>
            <p:cNvSpPr/>
            <p:nvPr/>
          </p:nvSpPr>
          <p:spPr>
            <a:xfrm>
              <a:off x="0" y="6324600"/>
              <a:ext cx="12192000" cy="533400"/>
            </a:xfrm>
            <a:prstGeom prst="rect">
              <a:avLst/>
            </a:prstGeom>
            <a:solidFill>
              <a:srgbClr val="131B30"/>
            </a:solidFill>
            <a:ln>
              <a:noFill/>
            </a:ln>
          </p:spPr>
        </p:sp>
        <p:sp>
          <p:nvSpPr>
            <p:cNvPr id="37" name="Rectangle 37"/>
            <p:cNvSpPr/>
            <p:nvPr/>
          </p:nvSpPr>
          <p:spPr>
            <a:xfrm>
              <a:off x="0" y="6324600"/>
              <a:ext cx="12192000" cy="9525"/>
            </a:xfrm>
            <a:prstGeom prst="rect">
              <a:avLst/>
            </a:prstGeom>
            <a:solidFill>
              <a:srgbClr val="F5C842">
                <a:alpha val="35000"/>
              </a:srgbClr>
            </a:solidFill>
            <a:ln>
              <a:noFill/>
            </a:ln>
          </p:spPr>
        </p:sp>
        <p:sp>
          <p:nvSpPr>
            <p:cNvPr id="38" name="TextBox 38"/>
            <p:cNvSpPr txBox="1"/>
            <p:nvPr/>
          </p:nvSpPr>
          <p:spPr>
            <a:xfrm>
              <a:off x="749618" y="6533674"/>
              <a:ext cx="116395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Business Quality</a:t>
              </a:r>
            </a:p>
          </p:txBody>
        </p:sp>
        <p:sp>
          <p:nvSpPr>
            <p:cNvPr id="39" name="TextBox 39"/>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arn(inVertical)">
                                      <p:cBhvr>
                                        <p:cTn id="11" dur="400"/>
                                        <p:tgtEl>
                                          <p:spTgt spid="15"/>
                                        </p:tgtEl>
                                      </p:cBhvr>
                                    </p:animEffect>
                                  </p:childTnLst>
                                </p:cTn>
                              </p:par>
                            </p:childTnLst>
                          </p:cTn>
                        </p:par>
                        <p:par>
                          <p:cTn id="12" fill="hold">
                            <p:stCondLst>
                              <p:cond delay="1800"/>
                            </p:stCondLst>
                            <p:childTnLst>
                              <p:par>
                                <p:cTn id="13" presetID="18" presetClass="entr" presetSubtype="12"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strips(downRight)">
                                      <p:cBhvr>
                                        <p:cTn id="15" dur="400"/>
                                        <p:tgtEl>
                                          <p:spTgt spid="19"/>
                                        </p:tgtEl>
                                      </p:cBhvr>
                                    </p:animEffect>
                                  </p:childTnLst>
                                </p:cTn>
                              </p:par>
                            </p:childTnLst>
                          </p:cTn>
                        </p:par>
                        <p:par>
                          <p:cTn id="16" fill="hold">
                            <p:stCondLst>
                              <p:cond delay="2700"/>
                            </p:stCondLst>
                            <p:childTnLst>
                              <p:par>
                                <p:cTn id="17" presetID="20"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edge">
                                      <p:cBhvr>
                                        <p:cTn id="19" dur="400"/>
                                        <p:tgtEl>
                                          <p:spTgt spid="23"/>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heel(4)">
                                      <p:cBhvr>
                                        <p:cTn id="23" dur="400"/>
                                        <p:tgtEl>
                                          <p:spTgt spid="27"/>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400"/>
                                        <p:tgtEl>
                                          <p:spTgt spid="31"/>
                                        </p:tgtEl>
                                      </p:cBhvr>
                                    </p:animEffect>
                                  </p:childTnLst>
                                </p:cTn>
                              </p:par>
                            </p:childTnLst>
                          </p:cTn>
                        </p:par>
                        <p:par>
                          <p:cTn id="28" fill="hold">
                            <p:stCondLst>
                              <p:cond delay="5400"/>
                            </p:stCondLst>
                            <p:childTnLst>
                              <p:par>
                                <p:cTn id="29" presetID="50" presetClass="entr" presetSubtype="0" fill="hold"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stretch(across)">
                                      <p:cBhvr>
                                        <p:cTn id="31" dur="400"/>
                                        <p:tgtEl>
                                          <p:spTgt spid="35"/>
                                        </p:tgtEl>
                                      </p:cBhvr>
                                    </p:animEffect>
                                  </p:childTnLst>
                                </p:cTn>
                              </p:par>
                            </p:childTnLst>
                          </p:cTn>
                        </p:par>
                        <p:par>
                          <p:cTn id="32" fill="hold">
                            <p:stCondLst>
                              <p:cond delay="6300"/>
                            </p:stCondLst>
                            <p:childTnLst>
                              <p:par>
                                <p:cTn id="33" presetID="10" presetClass="entr" presetSubtype="0" fill="hold" nodeType="after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9" grpId="0"/>
      <p:bldP spid="23" grpId="0"/>
      <p:bldP spid="27" grpId="0"/>
      <p:bldP spid="31" grpId="0"/>
      <p:bldP spid="35" grpId="0"/>
      <p:bldP spid="4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3876556" y="2905125"/>
            <a:ext cx="3676888" cy="4572000"/>
          </a:xfrm>
          <a:prstGeom prst="rect">
            <a:avLst/>
          </a:prstGeom>
          <a:noFill/>
          <a:ln>
            <a:noFill/>
          </a:ln>
        </p:spPr>
        <p:txBody>
          <a:bodyPr wrap="none" lIns="0" tIns="0" rIns="0" bIns="0" anchor="t" anchorCtr="0">
            <a:spAutoFit/>
          </a:bodyPr>
          <a:lstStyle/>
          <a:p>
            <a:pPr algn="ctr"/>
            <a:r>
              <a:rPr lang="zh-CN" sz="22500" b="1" dirty="0">
                <a:solidFill>
                  <a:srgbClr val="0F1628"/>
                </a:solidFill>
                <a:latin typeface="Arial"/>
                <a:ea typeface="Microsoft YaHei"/>
                <a:cs typeface="Arial"/>
              </a:rPr>
              <a:t>III</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E05C5C"/>
            </a:solidFill>
            <a:ln>
              <a:noFill/>
            </a:ln>
          </p:spPr>
        </p:sp>
      </p:grpSp>
      <p:grpSp>
        <p:nvGrpSpPr>
          <p:cNvPr id="9" name="Group 9"/>
          <p:cNvGrpSpPr/>
          <p:nvPr/>
        </p:nvGrpSpPr>
        <p:grpSpPr>
          <a:xfrm>
            <a:off x="749618" y="2656999"/>
            <a:ext cx="779834" cy="198120"/>
            <a:chOff x="749618" y="2656999"/>
            <a:chExt cx="779834" cy="198120"/>
          </a:xfrm>
        </p:grpSpPr>
        <p:sp>
          <p:nvSpPr>
            <p:cNvPr id="8" name="TextBox 8"/>
            <p:cNvSpPr txBox="1"/>
            <p:nvPr/>
          </p:nvSpPr>
          <p:spPr>
            <a:xfrm>
              <a:off x="749618" y="2656999"/>
              <a:ext cx="779834" cy="198120"/>
            </a:xfrm>
            <a:prstGeom prst="rect">
              <a:avLst/>
            </a:prstGeom>
            <a:noFill/>
            <a:ln>
              <a:noFill/>
            </a:ln>
          </p:spPr>
          <p:txBody>
            <a:bodyPr wrap="none" lIns="0" tIns="0" rIns="0" bIns="0" anchor="t" anchorCtr="0">
              <a:spAutoFit/>
            </a:bodyPr>
            <a:lstStyle/>
            <a:p>
              <a:pPr algn="l"/>
              <a:r>
                <a:rPr lang="zh-CN" sz="975" b="1" dirty="0">
                  <a:solidFill>
                    <a:srgbClr val="E05C5C"/>
                  </a:solidFill>
                  <a:latin typeface="Arial"/>
                  <a:ea typeface="Microsoft YaHei"/>
                  <a:cs typeface="Arial"/>
                </a:rPr>
                <a:t>CHAPTER III</a:t>
              </a:r>
            </a:p>
          </p:txBody>
        </p:sp>
      </p:grpSp>
      <p:grpSp>
        <p:nvGrpSpPr>
          <p:cNvPr id="11" name="Group 11"/>
          <p:cNvGrpSpPr/>
          <p:nvPr/>
        </p:nvGrpSpPr>
        <p:grpSpPr>
          <a:xfrm>
            <a:off x="712470" y="3007995"/>
            <a:ext cx="3717412" cy="792480"/>
            <a:chOff x="712470" y="3007995"/>
            <a:chExt cx="3717412" cy="792480"/>
          </a:xfrm>
        </p:grpSpPr>
        <p:sp>
          <p:nvSpPr>
            <p:cNvPr id="10" name="TextBox 10"/>
            <p:cNvSpPr txBox="1"/>
            <p:nvPr/>
          </p:nvSpPr>
          <p:spPr>
            <a:xfrm>
              <a:off x="712470" y="3007995"/>
              <a:ext cx="3717412"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Risk &amp; Macro</a:t>
              </a:r>
            </a:p>
          </p:txBody>
        </p:sp>
      </p:grpSp>
      <p:grpSp>
        <p:nvGrpSpPr>
          <p:cNvPr id="13" name="Group 13"/>
          <p:cNvGrpSpPr/>
          <p:nvPr/>
        </p:nvGrpSpPr>
        <p:grpSpPr>
          <a:xfrm>
            <a:off x="762000" y="3657600"/>
            <a:ext cx="3619500" cy="19050"/>
            <a:chOff x="762000" y="3657600"/>
            <a:chExt cx="3619500" cy="19050"/>
          </a:xfrm>
        </p:grpSpPr>
        <p:sp>
          <p:nvSpPr>
            <p:cNvPr id="12" name="Rectangle 12"/>
            <p:cNvSpPr/>
            <p:nvPr/>
          </p:nvSpPr>
          <p:spPr>
            <a:xfrm>
              <a:off x="762000" y="3657600"/>
              <a:ext cx="3619500" cy="19050"/>
            </a:xfrm>
            <a:prstGeom prst="rect">
              <a:avLst/>
            </a:prstGeom>
            <a:solidFill>
              <a:srgbClr val="E05C5C"/>
            </a:solidFill>
            <a:ln>
              <a:noFill/>
            </a:ln>
          </p:spPr>
        </p:sp>
      </p:grpSp>
      <p:grpSp>
        <p:nvGrpSpPr>
          <p:cNvPr id="15" name="Group 15"/>
          <p:cNvGrpSpPr/>
          <p:nvPr/>
        </p:nvGrpSpPr>
        <p:grpSpPr>
          <a:xfrm>
            <a:off x="742950" y="3838575"/>
            <a:ext cx="2940844" cy="304800"/>
            <a:chOff x="742950" y="3838575"/>
            <a:chExt cx="2940844" cy="304800"/>
          </a:xfrm>
        </p:grpSpPr>
        <p:sp>
          <p:nvSpPr>
            <p:cNvPr id="14" name="TextBox 14"/>
            <p:cNvSpPr txBox="1"/>
            <p:nvPr/>
          </p:nvSpPr>
          <p:spPr>
            <a:xfrm>
              <a:off x="742950" y="3838575"/>
              <a:ext cx="2940844"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Key Risks &amp; Macro Backdrop</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heel(1)">
                                      <p:cBhvr>
                                        <p:cTn id="11" dur="400"/>
                                        <p:tgtEl>
                                          <p:spTgt spid="9"/>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image">
                                      <p:cBhvr>
                                        <p:cTn id="15" dur="400"/>
                                        <p:tgtEl>
                                          <p:spTgt spid="11"/>
                                        </p:tgtEl>
                                      </p:cBhvr>
                                    </p:animEffect>
                                  </p:childTnLst>
                                </p:cTn>
                              </p:par>
                            </p:childTnLst>
                          </p:cTn>
                        </p:par>
                        <p:par>
                          <p:cTn id="16" fill="hold">
                            <p:stCondLst>
                              <p:cond delay="2700"/>
                            </p:stCondLst>
                            <p:childTnLst>
                              <p:par>
                                <p:cTn id="17" presetID="3" presetClass="entr" presetSubtype="1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blinds(horizontal)">
                                      <p:cBhvr>
                                        <p:cTn id="19" dur="400"/>
                                        <p:tgtEl>
                                          <p:spTgt spid="13"/>
                                        </p:tgtEl>
                                      </p:cBhvr>
                                    </p:animEffect>
                                  </p:childTnLst>
                                </p:cTn>
                              </p:par>
                            </p:childTnLst>
                          </p:cTn>
                        </p:par>
                        <p:par>
                          <p:cTn id="20" fill="hold">
                            <p:stCondLst>
                              <p:cond delay="3600"/>
                            </p:stCondLst>
                            <p:childTnLst>
                              <p:par>
                                <p:cTn id="21" presetID="5" presetClass="entr" presetSubtype="6"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checkerboard(across)">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E05C5C"/>
            </a:solidFill>
            <a:ln>
              <a:noFill/>
            </a:ln>
          </p:spPr>
        </p:sp>
        <p:sp>
          <p:nvSpPr>
            <p:cNvPr id="7" name="TextBox 7"/>
            <p:cNvSpPr txBox="1"/>
            <p:nvPr/>
          </p:nvSpPr>
          <p:spPr>
            <a:xfrm>
              <a:off x="737235" y="227648"/>
              <a:ext cx="1380246"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Key Risks</a:t>
              </a:r>
            </a:p>
          </p:txBody>
        </p:sp>
      </p:grpSp>
      <p:grpSp>
        <p:nvGrpSpPr>
          <p:cNvPr id="12" name="Group 12"/>
          <p:cNvGrpSpPr/>
          <p:nvPr/>
        </p:nvGrpSpPr>
        <p:grpSpPr>
          <a:xfrm>
            <a:off x="571500" y="952500"/>
            <a:ext cx="11528441" cy="571500"/>
            <a:chOff x="571500" y="952500"/>
            <a:chExt cx="11528441" cy="571500"/>
          </a:xfrm>
        </p:grpSpPr>
        <p:sp>
          <p:nvSpPr>
            <p:cNvPr id="9" name="Rectangle 9"/>
            <p:cNvSpPr/>
            <p:nvPr/>
          </p:nvSpPr>
          <p:spPr>
            <a:xfrm>
              <a:off x="571500" y="952500"/>
              <a:ext cx="57150" cy="571500"/>
            </a:xfrm>
            <a:prstGeom prst="roundRect">
              <a:avLst>
                <a:gd name="adj" fmla="val 50000"/>
              </a:avLst>
            </a:prstGeom>
            <a:solidFill>
              <a:srgbClr val="E05C5C"/>
            </a:solidFill>
            <a:ln>
              <a:noFill/>
            </a:ln>
          </p:spPr>
        </p:sp>
        <p:sp>
          <p:nvSpPr>
            <p:cNvPr id="10" name="TextBox 10"/>
            <p:cNvSpPr txBox="1"/>
            <p:nvPr/>
          </p:nvSpPr>
          <p:spPr>
            <a:xfrm>
              <a:off x="822008" y="1043464"/>
              <a:ext cx="5301769"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Robotaxi Perpetual Delay [Impact: Critical · Prob: 45%]</a:t>
              </a:r>
            </a:p>
          </p:txBody>
        </p:sp>
        <p:sp>
          <p:nvSpPr>
            <p:cNvPr id="11" name="TextBox 11"/>
            <p:cNvSpPr txBox="1"/>
            <p:nvPr/>
          </p:nvSpPr>
          <p:spPr>
            <a:xfrm>
              <a:off x="824865" y="1296352"/>
              <a:ext cx="11275076"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Another push to 2028+ collapses the AI premium — which accounts for ~80% of TSLA's $1.42T market cap. Without Robotaxi, fair value is $40-50/share.</a:t>
              </a:r>
            </a:p>
          </p:txBody>
        </p:sp>
      </p:grpSp>
      <p:grpSp>
        <p:nvGrpSpPr>
          <p:cNvPr id="16" name="Group 16"/>
          <p:cNvGrpSpPr/>
          <p:nvPr/>
        </p:nvGrpSpPr>
        <p:grpSpPr>
          <a:xfrm>
            <a:off x="571500" y="1695450"/>
            <a:ext cx="12816602" cy="571500"/>
            <a:chOff x="571500" y="1695450"/>
            <a:chExt cx="12816602" cy="571500"/>
          </a:xfrm>
        </p:grpSpPr>
        <p:sp>
          <p:nvSpPr>
            <p:cNvPr id="13" name="Rectangle 13"/>
            <p:cNvSpPr/>
            <p:nvPr/>
          </p:nvSpPr>
          <p:spPr>
            <a:xfrm>
              <a:off x="571500" y="1695450"/>
              <a:ext cx="57150" cy="571500"/>
            </a:xfrm>
            <a:prstGeom prst="roundRect">
              <a:avLst>
                <a:gd name="adj" fmla="val 50000"/>
              </a:avLst>
            </a:prstGeom>
            <a:solidFill>
              <a:srgbClr val="E05C5C"/>
            </a:solidFill>
            <a:ln>
              <a:noFill/>
            </a:ln>
          </p:spPr>
        </p:sp>
        <p:sp>
          <p:nvSpPr>
            <p:cNvPr id="14" name="TextBox 14"/>
            <p:cNvSpPr txBox="1"/>
            <p:nvPr/>
          </p:nvSpPr>
          <p:spPr>
            <a:xfrm>
              <a:off x="822008" y="1786414"/>
              <a:ext cx="5585279"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BYD Price War — Sustained Global Expansion [Critical · 40%]</a:t>
              </a:r>
            </a:p>
          </p:txBody>
        </p:sp>
        <p:sp>
          <p:nvSpPr>
            <p:cNvPr id="15" name="TextBox 15"/>
            <p:cNvSpPr txBox="1"/>
            <p:nvPr/>
          </p:nvSpPr>
          <p:spPr>
            <a:xfrm>
              <a:off x="824865" y="2039302"/>
              <a:ext cx="12563237"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BYD at sub-$20K price points in China, Southeast Asia, Europe. Tesla's cost structure cannot compete at that tier. Gross margin at risk of re-compressing below 17%.</a:t>
              </a:r>
            </a:p>
          </p:txBody>
        </p:sp>
      </p:grpSp>
      <p:grpSp>
        <p:nvGrpSpPr>
          <p:cNvPr id="20" name="Group 20"/>
          <p:cNvGrpSpPr/>
          <p:nvPr/>
        </p:nvGrpSpPr>
        <p:grpSpPr>
          <a:xfrm>
            <a:off x="571500" y="2438400"/>
            <a:ext cx="13414677" cy="571500"/>
            <a:chOff x="571500" y="2438400"/>
            <a:chExt cx="13414677" cy="571500"/>
          </a:xfrm>
        </p:grpSpPr>
        <p:sp>
          <p:nvSpPr>
            <p:cNvPr id="17" name="Rectangle 17"/>
            <p:cNvSpPr/>
            <p:nvPr/>
          </p:nvSpPr>
          <p:spPr>
            <a:xfrm>
              <a:off x="571500" y="2438400"/>
              <a:ext cx="57150" cy="571500"/>
            </a:xfrm>
            <a:prstGeom prst="roundRect">
              <a:avLst>
                <a:gd name="adj" fmla="val 50000"/>
              </a:avLst>
            </a:prstGeom>
            <a:solidFill>
              <a:srgbClr val="E05C5C"/>
            </a:solidFill>
            <a:ln>
              <a:noFill/>
            </a:ln>
          </p:spPr>
        </p:sp>
        <p:sp>
          <p:nvSpPr>
            <p:cNvPr id="18" name="TextBox 18"/>
            <p:cNvSpPr txBox="1"/>
            <p:nvPr/>
          </p:nvSpPr>
          <p:spPr>
            <a:xfrm>
              <a:off x="822008" y="2529364"/>
              <a:ext cx="5624384" cy="259080"/>
            </a:xfrm>
            <a:prstGeom prst="rect">
              <a:avLst/>
            </a:prstGeom>
            <a:noFill/>
            <a:ln>
              <a:noFill/>
            </a:ln>
          </p:spPr>
          <p:txBody>
            <a:bodyPr wrap="none" lIns="0" tIns="0" rIns="0" bIns="0" anchor="t" anchorCtr="0">
              <a:spAutoFit/>
            </a:bodyPr>
            <a:lstStyle/>
            <a:p>
              <a:pPr algn="l"/>
              <a:r>
                <a:rPr lang="zh-CN" sz="1275" b="1" dirty="0">
                  <a:solidFill>
                    <a:srgbClr val="E8EAF0"/>
                  </a:solidFill>
                  <a:latin typeface="Arial"/>
                  <a:ea typeface="Microsoft YaHei"/>
                  <a:cs typeface="Arial"/>
                </a:rPr>
                <a:t>Musk Brand Damage — Documented Sales Impact [High · 35%]</a:t>
              </a:r>
            </a:p>
          </p:txBody>
        </p:sp>
        <p:sp>
          <p:nvSpPr>
            <p:cNvPr id="19" name="TextBox 19"/>
            <p:cNvSpPr txBox="1"/>
            <p:nvPr/>
          </p:nvSpPr>
          <p:spPr>
            <a:xfrm>
              <a:off x="824865" y="2782252"/>
              <a:ext cx="13161312"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DOGE/political controversies: measurable share decline in Germany and Nordics. Buyers explicitly cite Musk stance. Structural brand erosion not captured in valuation models.</a:t>
              </a:r>
            </a:p>
          </p:txBody>
        </p:sp>
      </p:grpSp>
      <p:grpSp>
        <p:nvGrpSpPr>
          <p:cNvPr id="27" name="Group 27"/>
          <p:cNvGrpSpPr/>
          <p:nvPr/>
        </p:nvGrpSpPr>
        <p:grpSpPr>
          <a:xfrm>
            <a:off x="571500" y="3219450"/>
            <a:ext cx="11049000" cy="1143000"/>
            <a:chOff x="571500" y="3219450"/>
            <a:chExt cx="11049000" cy="1143000"/>
          </a:xfrm>
        </p:grpSpPr>
        <p:sp>
          <p:nvSpPr>
            <p:cNvPr id="21" name="Rectangle 21"/>
            <p:cNvSpPr/>
            <p:nvPr/>
          </p:nvSpPr>
          <p:spPr>
            <a:xfrm>
              <a:off x="571500" y="3219450"/>
              <a:ext cx="11049000" cy="9525"/>
            </a:xfrm>
            <a:prstGeom prst="rect">
              <a:avLst/>
            </a:prstGeom>
            <a:solidFill>
              <a:srgbClr val="2A3A5C"/>
            </a:solidFill>
            <a:ln>
              <a:noFill/>
            </a:ln>
          </p:spPr>
        </p:sp>
        <p:sp>
          <p:nvSpPr>
            <p:cNvPr id="22" name="TextBox 22"/>
            <p:cNvSpPr txBox="1"/>
            <p:nvPr/>
          </p:nvSpPr>
          <p:spPr>
            <a:xfrm>
              <a:off x="749618" y="3380899"/>
              <a:ext cx="1220915"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ADDITIONAL RISKS</a:t>
              </a:r>
            </a:p>
          </p:txBody>
        </p:sp>
        <p:sp>
          <p:nvSpPr>
            <p:cNvPr id="23" name="Rectangle 23"/>
            <p:cNvSpPr/>
            <p:nvPr/>
          </p:nvSpPr>
          <p:spPr>
            <a:xfrm>
              <a:off x="571500" y="3600450"/>
              <a:ext cx="57150" cy="342900"/>
            </a:xfrm>
            <a:prstGeom prst="roundRect">
              <a:avLst>
                <a:gd name="adj" fmla="val 50000"/>
              </a:avLst>
            </a:prstGeom>
            <a:solidFill>
              <a:srgbClr val="8899BB"/>
            </a:solidFill>
            <a:ln>
              <a:noFill/>
            </a:ln>
          </p:spPr>
        </p:sp>
        <p:sp>
          <p:nvSpPr>
            <p:cNvPr id="24" name="TextBox 24"/>
            <p:cNvSpPr txBox="1"/>
            <p:nvPr/>
          </p:nvSpPr>
          <p:spPr>
            <a:xfrm>
              <a:off x="824865" y="3715702"/>
              <a:ext cx="8468725" cy="213360"/>
            </a:xfrm>
            <a:prstGeom prst="rect">
              <a:avLst/>
            </a:prstGeom>
            <a:noFill/>
            <a:ln>
              <a:noFill/>
            </a:ln>
          </p:spPr>
          <p:txBody>
            <a:bodyPr wrap="none" lIns="0" tIns="0" rIns="0" bIns="0" anchor="t" anchorCtr="0">
              <a:spAutoFit/>
            </a:bodyPr>
            <a:lstStyle/>
            <a:p>
              <a:pPr algn="l"/>
              <a:r>
                <a:rPr lang="zh-CN" sz="1050" dirty="0">
                  <a:solidFill>
                    <a:srgbClr val="E8EAF0"/>
                  </a:solidFill>
                  <a:latin typeface="Arial"/>
                  <a:ea typeface="Microsoft YaHei"/>
                  <a:cs typeface="Arial"/>
                </a:rPr>
                <a:t>Auto GM% cannot recover to 20% — competition too intense to rebuild margin without price hikes that hurt volume</a:t>
              </a:r>
            </a:p>
          </p:txBody>
        </p:sp>
        <p:sp>
          <p:nvSpPr>
            <p:cNvPr id="25" name="Rectangle 25"/>
            <p:cNvSpPr/>
            <p:nvPr/>
          </p:nvSpPr>
          <p:spPr>
            <a:xfrm>
              <a:off x="571500" y="4019550"/>
              <a:ext cx="57150" cy="342900"/>
            </a:xfrm>
            <a:prstGeom prst="roundRect">
              <a:avLst>
                <a:gd name="adj" fmla="val 50000"/>
              </a:avLst>
            </a:prstGeom>
            <a:solidFill>
              <a:srgbClr val="8899BB"/>
            </a:solidFill>
            <a:ln>
              <a:noFill/>
            </a:ln>
          </p:spPr>
        </p:sp>
        <p:sp>
          <p:nvSpPr>
            <p:cNvPr id="26" name="TextBox 26"/>
            <p:cNvSpPr txBox="1"/>
            <p:nvPr/>
          </p:nvSpPr>
          <p:spPr>
            <a:xfrm>
              <a:off x="824865" y="4134802"/>
              <a:ext cx="7433596" cy="213360"/>
            </a:xfrm>
            <a:prstGeom prst="rect">
              <a:avLst/>
            </a:prstGeom>
            <a:noFill/>
            <a:ln>
              <a:noFill/>
            </a:ln>
          </p:spPr>
          <p:txBody>
            <a:bodyPr wrap="none" lIns="0" tIns="0" rIns="0" bIns="0" anchor="t" anchorCtr="0">
              <a:spAutoFit/>
            </a:bodyPr>
            <a:lstStyle/>
            <a:p>
              <a:pPr algn="l"/>
              <a:r>
                <a:rPr lang="zh-CN" sz="1050" dirty="0">
                  <a:solidFill>
                    <a:srgbClr val="E8EAF0"/>
                  </a:solidFill>
                  <a:latin typeface="Arial"/>
                  <a:ea typeface="Microsoft YaHei"/>
                  <a:cs typeface="Arial"/>
                </a:rPr>
                <a:t>Continued dilution from Musk compensation — share count grew from 3.22B to 3.75B in FY2025 alone</a:t>
              </a:r>
            </a:p>
          </p:txBody>
        </p:sp>
      </p:grpSp>
      <p:grpSp>
        <p:nvGrpSpPr>
          <p:cNvPr id="34" name="Group 34"/>
          <p:cNvGrpSpPr/>
          <p:nvPr/>
        </p:nvGrpSpPr>
        <p:grpSpPr>
          <a:xfrm>
            <a:off x="571500" y="4629150"/>
            <a:ext cx="11049000" cy="933450"/>
            <a:chOff x="571500" y="4629150"/>
            <a:chExt cx="11049000" cy="933450"/>
          </a:xfrm>
        </p:grpSpPr>
        <p:sp>
          <p:nvSpPr>
            <p:cNvPr id="28" name="Rectangle 28"/>
            <p:cNvSpPr/>
            <p:nvPr/>
          </p:nvSpPr>
          <p:spPr>
            <a:xfrm>
              <a:off x="571500" y="4629150"/>
              <a:ext cx="11049000" cy="9525"/>
            </a:xfrm>
            <a:prstGeom prst="rect">
              <a:avLst/>
            </a:prstGeom>
            <a:solidFill>
              <a:srgbClr val="2A3A5C"/>
            </a:solidFill>
            <a:ln>
              <a:noFill/>
            </a:ln>
          </p:spPr>
        </p:sp>
        <p:sp>
          <p:nvSpPr>
            <p:cNvPr id="29" name="TextBox 29"/>
            <p:cNvSpPr txBox="1"/>
            <p:nvPr/>
          </p:nvSpPr>
          <p:spPr>
            <a:xfrm>
              <a:off x="749618" y="4790599"/>
              <a:ext cx="1146155"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MACRO CONTEXT</a:t>
              </a:r>
            </a:p>
          </p:txBody>
        </p:sp>
        <p:sp>
          <p:nvSpPr>
            <p:cNvPr id="30" name="Rectangle 30"/>
            <p:cNvSpPr/>
            <p:nvPr/>
          </p:nvSpPr>
          <p:spPr>
            <a:xfrm>
              <a:off x="571500" y="5029200"/>
              <a:ext cx="11049000" cy="533400"/>
            </a:xfrm>
            <a:prstGeom prst="roundRect">
              <a:avLst>
                <a:gd name="adj" fmla="val 7143"/>
              </a:avLst>
            </a:prstGeom>
            <a:solidFill>
              <a:srgbClr val="131B30"/>
            </a:solidFill>
            <a:ln>
              <a:noFill/>
            </a:ln>
          </p:spPr>
        </p:sp>
        <p:sp>
          <p:nvSpPr>
            <p:cNvPr id="31" name="Rectangle 31"/>
            <p:cNvSpPr/>
            <p:nvPr/>
          </p:nvSpPr>
          <p:spPr>
            <a:xfrm>
              <a:off x="571500" y="5029200"/>
              <a:ext cx="38100" cy="533400"/>
            </a:xfrm>
            <a:prstGeom prst="rect">
              <a:avLst/>
            </a:prstGeom>
            <a:solidFill>
              <a:srgbClr val="4A90D9"/>
            </a:solidFill>
            <a:ln>
              <a:noFill/>
            </a:ln>
          </p:spPr>
        </p:sp>
        <p:sp>
          <p:nvSpPr>
            <p:cNvPr id="32" name="TextBox 32"/>
            <p:cNvSpPr txBox="1"/>
            <p:nvPr/>
          </p:nvSpPr>
          <p:spPr>
            <a:xfrm>
              <a:off x="729615" y="5144452"/>
              <a:ext cx="9220152" cy="213360"/>
            </a:xfrm>
            <a:prstGeom prst="rect">
              <a:avLst/>
            </a:prstGeom>
            <a:noFill/>
            <a:ln>
              <a:noFill/>
            </a:ln>
          </p:spPr>
          <p:txBody>
            <a:bodyPr wrap="none" lIns="0" tIns="0" rIns="0" bIns="0" anchor="t" anchorCtr="0">
              <a:spAutoFit/>
            </a:bodyPr>
            <a:lstStyle/>
            <a:p>
              <a:pPr algn="l"/>
              <a:r>
                <a:rPr lang="zh-CN" sz="1050" dirty="0">
                  <a:solidFill>
                    <a:srgbClr val="E8EAF0"/>
                  </a:solidFill>
                  <a:latin typeface="Arial"/>
                  <a:ea typeface="Microsoft YaHei"/>
                  <a:cs typeface="Arial"/>
                </a:rPr>
                <a:t>Global EV penetration ~18% (2025) → ~40% by 2030 — secular tailwind exists. But IRA tax credits ($7,500) face political risk,</a:t>
              </a:r>
            </a:p>
          </p:txBody>
        </p:sp>
        <p:sp>
          <p:nvSpPr>
            <p:cNvPr id="33" name="TextBox 33"/>
            <p:cNvSpPr txBox="1"/>
            <p:nvPr/>
          </p:nvSpPr>
          <p:spPr>
            <a:xfrm>
              <a:off x="729615" y="5334952"/>
              <a:ext cx="5815727" cy="213360"/>
            </a:xfrm>
            <a:prstGeom prst="rect">
              <a:avLst/>
            </a:prstGeom>
            <a:noFill/>
            <a:ln>
              <a:noFill/>
            </a:ln>
          </p:spPr>
          <p:txBody>
            <a:bodyPr wrap="none" lIns="0" tIns="0" rIns="0" bIns="0" anchor="t" anchorCtr="0">
              <a:spAutoFit/>
            </a:bodyPr>
            <a:lstStyle/>
            <a:p>
              <a:pPr algn="l"/>
              <a:r>
                <a:rPr lang="zh-CN" sz="1050" dirty="0">
                  <a:solidFill>
                    <a:srgbClr val="E8EAF0"/>
                  </a:solidFill>
                  <a:latin typeface="Arial"/>
                  <a:ea typeface="Microsoft YaHei"/>
                  <a:cs typeface="Arial"/>
                </a:rPr>
                <a:t>and BYD's global pricing expansion is compressing EV ASPs across all markets.</a:t>
              </a:r>
            </a:p>
          </p:txBody>
        </p:sp>
      </p:grpSp>
      <p:grpSp>
        <p:nvGrpSpPr>
          <p:cNvPr id="39" name="Group 39"/>
          <p:cNvGrpSpPr/>
          <p:nvPr/>
        </p:nvGrpSpPr>
        <p:grpSpPr>
          <a:xfrm>
            <a:off x="0" y="6324600"/>
            <a:ext cx="12192000" cy="533400"/>
            <a:chOff x="0" y="6324600"/>
            <a:chExt cx="12192000" cy="533400"/>
          </a:xfrm>
        </p:grpSpPr>
        <p:sp>
          <p:nvSpPr>
            <p:cNvPr id="35" name="Rectangle 35"/>
            <p:cNvSpPr/>
            <p:nvPr/>
          </p:nvSpPr>
          <p:spPr>
            <a:xfrm>
              <a:off x="0" y="6324600"/>
              <a:ext cx="12192000" cy="533400"/>
            </a:xfrm>
            <a:prstGeom prst="rect">
              <a:avLst/>
            </a:prstGeom>
            <a:solidFill>
              <a:srgbClr val="131B30"/>
            </a:solidFill>
            <a:ln>
              <a:noFill/>
            </a:ln>
          </p:spPr>
        </p:sp>
        <p:sp>
          <p:nvSpPr>
            <p:cNvPr id="36" name="Rectangle 36"/>
            <p:cNvSpPr/>
            <p:nvPr/>
          </p:nvSpPr>
          <p:spPr>
            <a:xfrm>
              <a:off x="0" y="6324600"/>
              <a:ext cx="12192000" cy="9525"/>
            </a:xfrm>
            <a:prstGeom prst="rect">
              <a:avLst/>
            </a:prstGeom>
            <a:solidFill>
              <a:srgbClr val="F5C842">
                <a:alpha val="35000"/>
              </a:srgbClr>
            </a:solidFill>
            <a:ln>
              <a:noFill/>
            </a:ln>
          </p:spPr>
        </p:sp>
        <p:sp>
          <p:nvSpPr>
            <p:cNvPr id="37" name="TextBox 37"/>
            <p:cNvSpPr txBox="1"/>
            <p:nvPr/>
          </p:nvSpPr>
          <p:spPr>
            <a:xfrm>
              <a:off x="749618" y="6533674"/>
              <a:ext cx="88627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Risk &amp; Macro</a:t>
              </a:r>
            </a:p>
          </p:txBody>
        </p:sp>
        <p:sp>
          <p:nvSpPr>
            <p:cNvPr id="38" name="TextBox 38"/>
            <p:cNvSpPr txBox="1"/>
            <p:nvPr/>
          </p:nvSpPr>
          <p:spPr>
            <a:xfrm>
              <a:off x="11339298" y="6533674"/>
              <a:ext cx="10308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dissolve">
                                      <p:cBhvr>
                                        <p:cTn id="11" dur="400"/>
                                        <p:tgtEl>
                                          <p:spTgt spid="12"/>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slide(fromBottom)">
                                      <p:cBhvr>
                                        <p:cTn id="15" dur="400"/>
                                        <p:tgtEl>
                                          <p:spTgt spid="16"/>
                                        </p:tgtEl>
                                      </p:cBhvr>
                                    </p:animEffect>
                                  </p:childTnLst>
                                </p:cTn>
                              </p:par>
                            </p:childTnLst>
                          </p:cTn>
                        </p:par>
                        <p:par>
                          <p:cTn id="16" fill="hold">
                            <p:stCondLst>
                              <p:cond delay="2700"/>
                            </p:stCondLst>
                            <p:childTnLst>
                              <p:par>
                                <p:cTn id="17" presetID="42" presetClass="entr" presetSubtype="8"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slide(fromLeft)">
                                      <p:cBhvr>
                                        <p:cTn id="19" dur="400"/>
                                        <p:tgtEl>
                                          <p:spTgt spid="20"/>
                                        </p:tgtEl>
                                      </p:cBhvr>
                                    </p:animEffect>
                                  </p:childTnLst>
                                </p:cTn>
                              </p:par>
                            </p:childTnLst>
                          </p:cTn>
                        </p:par>
                        <p:par>
                          <p:cTn id="20" fill="hold">
                            <p:stCondLst>
                              <p:cond delay="3600"/>
                            </p:stCondLst>
                            <p:childTnLst>
                              <p:par>
                                <p:cTn id="21" presetID="14" presetClass="entr" presetSubtype="10" fill="hold"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randombar(horizontal)">
                                      <p:cBhvr>
                                        <p:cTn id="23" dur="400"/>
                                        <p:tgtEl>
                                          <p:spTgt spid="27"/>
                                        </p:tgtEl>
                                      </p:cBhvr>
                                    </p:animEffect>
                                  </p:childTnLst>
                                </p:cTn>
                              </p:par>
                            </p:childTnLst>
                          </p:cTn>
                        </p:par>
                        <p:par>
                          <p:cTn id="24" fill="hold">
                            <p:stCondLst>
                              <p:cond delay="4500"/>
                            </p:stCondLst>
                            <p:childTnLst>
                              <p:par>
                                <p:cTn id="25" presetID="4" presetClass="entr" presetSubtype="0" fill="hold" nodeType="after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box(in)">
                                      <p:cBhvr>
                                        <p:cTn id="27" dur="400"/>
                                        <p:tgtEl>
                                          <p:spTgt spid="34"/>
                                        </p:tgtEl>
                                      </p:cBhvr>
                                    </p:animEffect>
                                  </p:childTnLst>
                                </p:cTn>
                              </p:par>
                            </p:childTnLst>
                          </p:cTn>
                        </p:par>
                        <p:par>
                          <p:cTn id="28" fill="hold">
                            <p:stCondLst>
                              <p:cond delay="5400"/>
                            </p:stCondLst>
                            <p:childTnLst>
                              <p:par>
                                <p:cTn id="29" presetID="16" presetClass="entr" presetSubtype="21"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barn(inVertical)">
                                      <p:cBhvr>
                                        <p:cTn id="31"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6" grpId="0"/>
      <p:bldP spid="20" grpId="0"/>
      <p:bldP spid="27" grpId="0"/>
      <p:bldP spid="34" grpId="0"/>
      <p:bldP spid="3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4079629" y="3067050"/>
            <a:ext cx="3270742" cy="4267200"/>
          </a:xfrm>
          <a:prstGeom prst="rect">
            <a:avLst/>
          </a:prstGeom>
          <a:noFill/>
          <a:ln>
            <a:noFill/>
          </a:ln>
        </p:spPr>
        <p:txBody>
          <a:bodyPr wrap="none" lIns="0" tIns="0" rIns="0" bIns="0" anchor="t" anchorCtr="0">
            <a:spAutoFit/>
          </a:bodyPr>
          <a:lstStyle/>
          <a:p>
            <a:pPr algn="ctr"/>
            <a:r>
              <a:rPr lang="zh-CN" sz="21000" b="1" dirty="0">
                <a:solidFill>
                  <a:srgbClr val="0F1628"/>
                </a:solidFill>
                <a:latin typeface="Arial"/>
                <a:ea typeface="Microsoft YaHei"/>
                <a:cs typeface="Arial"/>
              </a:rPr>
              <a:t>IV</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772358" cy="198120"/>
            <a:chOff x="749618" y="2656999"/>
            <a:chExt cx="772358" cy="198120"/>
          </a:xfrm>
        </p:grpSpPr>
        <p:sp>
          <p:nvSpPr>
            <p:cNvPr id="8" name="TextBox 8"/>
            <p:cNvSpPr txBox="1"/>
            <p:nvPr/>
          </p:nvSpPr>
          <p:spPr>
            <a:xfrm>
              <a:off x="749618" y="2656999"/>
              <a:ext cx="772358"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IV</a:t>
              </a:r>
            </a:p>
          </p:txBody>
        </p:sp>
      </p:grpSp>
      <p:grpSp>
        <p:nvGrpSpPr>
          <p:cNvPr id="11" name="Group 11"/>
          <p:cNvGrpSpPr/>
          <p:nvPr/>
        </p:nvGrpSpPr>
        <p:grpSpPr>
          <a:xfrm>
            <a:off x="712470" y="3007995"/>
            <a:ext cx="6259230" cy="792480"/>
            <a:chOff x="712470" y="3007995"/>
            <a:chExt cx="6259230" cy="792480"/>
          </a:xfrm>
        </p:grpSpPr>
        <p:sp>
          <p:nvSpPr>
            <p:cNvPr id="10" name="TextBox 10"/>
            <p:cNvSpPr txBox="1"/>
            <p:nvPr/>
          </p:nvSpPr>
          <p:spPr>
            <a:xfrm>
              <a:off x="712470" y="3007995"/>
              <a:ext cx="6259230"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Valuation &amp; Scenarios</a:t>
              </a:r>
            </a:p>
          </p:txBody>
        </p:sp>
      </p:grpSp>
      <p:grpSp>
        <p:nvGrpSpPr>
          <p:cNvPr id="13" name="Group 13"/>
          <p:cNvGrpSpPr/>
          <p:nvPr/>
        </p:nvGrpSpPr>
        <p:grpSpPr>
          <a:xfrm>
            <a:off x="762000" y="3657600"/>
            <a:ext cx="5334000" cy="19050"/>
            <a:chOff x="762000" y="3657600"/>
            <a:chExt cx="5334000" cy="19050"/>
          </a:xfrm>
        </p:grpSpPr>
        <p:sp>
          <p:nvSpPr>
            <p:cNvPr id="12" name="Rectangle 12"/>
            <p:cNvSpPr/>
            <p:nvPr/>
          </p:nvSpPr>
          <p:spPr>
            <a:xfrm>
              <a:off x="762000" y="3657600"/>
              <a:ext cx="5334000" cy="19050"/>
            </a:xfrm>
            <a:prstGeom prst="rect">
              <a:avLst/>
            </a:prstGeom>
            <a:solidFill>
              <a:srgbClr val="F5C842"/>
            </a:solidFill>
            <a:ln>
              <a:noFill/>
            </a:ln>
          </p:spPr>
        </p:sp>
      </p:grpSp>
      <p:grpSp>
        <p:nvGrpSpPr>
          <p:cNvPr id="15" name="Group 15"/>
          <p:cNvGrpSpPr/>
          <p:nvPr/>
        </p:nvGrpSpPr>
        <p:grpSpPr>
          <a:xfrm>
            <a:off x="742950" y="3838575"/>
            <a:ext cx="3488531" cy="304800"/>
            <a:chOff x="742950" y="3838575"/>
            <a:chExt cx="3488531" cy="304800"/>
          </a:xfrm>
        </p:grpSpPr>
        <p:sp>
          <p:nvSpPr>
            <p:cNvPr id="14" name="TextBox 14"/>
            <p:cNvSpPr txBox="1"/>
            <p:nvPr/>
          </p:nvSpPr>
          <p:spPr>
            <a:xfrm>
              <a:off x="742950" y="3838575"/>
              <a:ext cx="3488531"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Multiples, Comps &amp; Path Analysis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trips(downRight)">
                                      <p:cBhvr>
                                        <p:cTn id="11" dur="400"/>
                                        <p:tgtEl>
                                          <p:spTgt spid="9"/>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edge">
                                      <p:cBhvr>
                                        <p:cTn id="15" dur="400"/>
                                        <p:tgtEl>
                                          <p:spTgt spid="11"/>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heel(4)">
                                      <p:cBhvr>
                                        <p:cTn id="19" dur="400"/>
                                        <p:tgtEl>
                                          <p:spTgt spid="1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left)">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11" name="Group 11"/>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1380246"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Valuation</a:t>
              </a:r>
            </a:p>
          </p:txBody>
        </p:sp>
        <p:sp>
          <p:nvSpPr>
            <p:cNvPr id="8" name="Rectangle 8"/>
            <p:cNvSpPr/>
            <p:nvPr/>
          </p:nvSpPr>
          <p:spPr>
            <a:xfrm>
              <a:off x="9906000" y="190500"/>
              <a:ext cx="1524000" cy="304800"/>
            </a:xfrm>
            <a:prstGeom prst="roundRect">
              <a:avLst>
                <a:gd name="adj" fmla="val 50000"/>
              </a:avLst>
            </a:prstGeom>
            <a:solidFill>
              <a:srgbClr val="E05C5C">
                <a:alpha val="20000"/>
              </a:srgbClr>
            </a:solidFill>
            <a:ln>
              <a:noFill/>
            </a:ln>
          </p:spPr>
        </p:sp>
        <p:sp>
          <p:nvSpPr>
            <p:cNvPr id="9" name="Rectangle 9"/>
            <p:cNvSpPr/>
            <p:nvPr/>
          </p:nvSpPr>
          <p:spPr>
            <a:xfrm>
              <a:off x="9906000" y="190500"/>
              <a:ext cx="1524000" cy="304800"/>
            </a:xfrm>
            <a:prstGeom prst="roundRect">
              <a:avLst>
                <a:gd name="adj" fmla="val 50000"/>
              </a:avLst>
            </a:prstGeom>
            <a:noFill/>
            <a:ln w="9525">
              <a:solidFill>
                <a:srgbClr val="E05C5C"/>
              </a:solidFill>
            </a:ln>
          </p:spPr>
        </p:sp>
        <p:sp>
          <p:nvSpPr>
            <p:cNvPr id="10" name="TextBox 10"/>
            <p:cNvSpPr txBox="1"/>
            <p:nvPr/>
          </p:nvSpPr>
          <p:spPr>
            <a:xfrm>
              <a:off x="10080348" y="293370"/>
              <a:ext cx="1175304" cy="182880"/>
            </a:xfrm>
            <a:prstGeom prst="rect">
              <a:avLst/>
            </a:prstGeom>
            <a:noFill/>
            <a:ln>
              <a:noFill/>
            </a:ln>
          </p:spPr>
          <p:txBody>
            <a:bodyPr wrap="none" lIns="0" tIns="0" rIns="0" bIns="0" anchor="t" anchorCtr="0">
              <a:spAutoFit/>
            </a:bodyPr>
            <a:lstStyle/>
            <a:p>
              <a:pPr algn="ctr"/>
              <a:r>
                <a:rPr lang="zh-CN" sz="900" b="1" dirty="0">
                  <a:solidFill>
                    <a:srgbClr val="E05C5C"/>
                  </a:solidFill>
                  <a:latin typeface="Arial"/>
                  <a:ea typeface="Microsoft YaHei"/>
                  <a:cs typeface="Arial"/>
                </a:rPr>
                <a:t>EXTREME PREMIUM</a:t>
              </a:r>
            </a:p>
          </p:txBody>
        </p:sp>
      </p:grpSp>
      <p:grpSp>
        <p:nvGrpSpPr>
          <p:cNvPr id="14" name="Group 14"/>
          <p:cNvGrpSpPr/>
          <p:nvPr/>
        </p:nvGrpSpPr>
        <p:grpSpPr>
          <a:xfrm>
            <a:off x="571500" y="885349"/>
            <a:ext cx="11049000" cy="198120"/>
            <a:chOff x="571500" y="885349"/>
            <a:chExt cx="11049000" cy="198120"/>
          </a:xfrm>
        </p:grpSpPr>
        <p:sp>
          <p:nvSpPr>
            <p:cNvPr id="12" name="TextBox 12"/>
            <p:cNvSpPr txBox="1"/>
            <p:nvPr/>
          </p:nvSpPr>
          <p:spPr>
            <a:xfrm>
              <a:off x="749618" y="885349"/>
              <a:ext cx="1549856"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KEY MULTIPLES — TSLA</a:t>
              </a:r>
            </a:p>
          </p:txBody>
        </p:sp>
        <p:sp>
          <p:nvSpPr>
            <p:cNvPr id="13" name="Rectangle 13"/>
            <p:cNvSpPr/>
            <p:nvPr/>
          </p:nvSpPr>
          <p:spPr>
            <a:xfrm>
              <a:off x="571500" y="1066800"/>
              <a:ext cx="11049000" cy="9525"/>
            </a:xfrm>
            <a:prstGeom prst="rect">
              <a:avLst/>
            </a:prstGeom>
            <a:solidFill>
              <a:srgbClr val="2A3A5C"/>
            </a:solidFill>
            <a:ln>
              <a:noFill/>
            </a:ln>
          </p:spPr>
        </p:sp>
      </p:grpSp>
      <p:grpSp>
        <p:nvGrpSpPr>
          <p:cNvPr id="23" name="Group 23"/>
          <p:cNvGrpSpPr/>
          <p:nvPr/>
        </p:nvGrpSpPr>
        <p:grpSpPr>
          <a:xfrm>
            <a:off x="571500" y="1104900"/>
            <a:ext cx="11049000" cy="266700"/>
            <a:chOff x="571500" y="1104900"/>
            <a:chExt cx="11049000" cy="266700"/>
          </a:xfrm>
        </p:grpSpPr>
        <p:sp>
          <p:nvSpPr>
            <p:cNvPr id="15" name="Rectangle 15"/>
            <p:cNvSpPr/>
            <p:nvPr/>
          </p:nvSpPr>
          <p:spPr>
            <a:xfrm>
              <a:off x="571500" y="1104900"/>
              <a:ext cx="11049000" cy="266700"/>
            </a:xfrm>
            <a:prstGeom prst="rect">
              <a:avLst/>
            </a:prstGeom>
            <a:solidFill>
              <a:srgbClr val="1A2540"/>
            </a:solidFill>
            <a:ln>
              <a:noFill/>
            </a:ln>
          </p:spPr>
        </p:sp>
        <p:sp>
          <p:nvSpPr>
            <p:cNvPr id="16" name="TextBox 16"/>
            <p:cNvSpPr txBox="1"/>
            <p:nvPr/>
          </p:nvSpPr>
          <p:spPr>
            <a:xfrm>
              <a:off x="750570" y="1188720"/>
              <a:ext cx="47141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METRIC</a:t>
              </a:r>
            </a:p>
          </p:txBody>
        </p:sp>
        <p:sp>
          <p:nvSpPr>
            <p:cNvPr id="17" name="TextBox 17"/>
            <p:cNvSpPr txBox="1"/>
            <p:nvPr/>
          </p:nvSpPr>
          <p:spPr>
            <a:xfrm>
              <a:off x="2465070" y="1188720"/>
              <a:ext cx="699145"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TTM VALUE</a:t>
              </a:r>
            </a:p>
          </p:txBody>
        </p:sp>
        <p:sp>
          <p:nvSpPr>
            <p:cNvPr id="18" name="TextBox 18"/>
            <p:cNvSpPr txBox="1"/>
            <p:nvPr/>
          </p:nvSpPr>
          <p:spPr>
            <a:xfrm>
              <a:off x="3989070" y="1188720"/>
              <a:ext cx="926873"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FWD (FY2026)</a:t>
              </a:r>
            </a:p>
          </p:txBody>
        </p:sp>
        <p:sp>
          <p:nvSpPr>
            <p:cNvPr id="19" name="TextBox 19"/>
            <p:cNvSpPr txBox="1"/>
            <p:nvPr/>
          </p:nvSpPr>
          <p:spPr>
            <a:xfrm>
              <a:off x="5513070" y="1188720"/>
              <a:ext cx="926873"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FWD (FY2027)</a:t>
              </a:r>
            </a:p>
          </p:txBody>
        </p:sp>
        <p:sp>
          <p:nvSpPr>
            <p:cNvPr id="20" name="TextBox 20"/>
            <p:cNvSpPr txBox="1"/>
            <p:nvPr/>
          </p:nvSpPr>
          <p:spPr>
            <a:xfrm>
              <a:off x="7037070" y="1188720"/>
              <a:ext cx="802657"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SECTOR MED</a:t>
              </a:r>
            </a:p>
          </p:txBody>
        </p:sp>
        <p:sp>
          <p:nvSpPr>
            <p:cNvPr id="21" name="TextBox 21"/>
            <p:cNvSpPr txBox="1"/>
            <p:nvPr/>
          </p:nvSpPr>
          <p:spPr>
            <a:xfrm>
              <a:off x="8561070" y="1188720"/>
              <a:ext cx="699145"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VS SECTOR</a:t>
              </a:r>
            </a:p>
          </p:txBody>
        </p:sp>
        <p:sp>
          <p:nvSpPr>
            <p:cNvPr id="22" name="TextBox 22"/>
            <p:cNvSpPr txBox="1"/>
            <p:nvPr/>
          </p:nvSpPr>
          <p:spPr>
            <a:xfrm>
              <a:off x="10085070" y="1188720"/>
              <a:ext cx="326498"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READ</a:t>
              </a:r>
            </a:p>
          </p:txBody>
        </p:sp>
      </p:grpSp>
      <p:grpSp>
        <p:nvGrpSpPr>
          <p:cNvPr id="32" name="Group 32"/>
          <p:cNvGrpSpPr/>
          <p:nvPr/>
        </p:nvGrpSpPr>
        <p:grpSpPr>
          <a:xfrm>
            <a:off x="571500" y="1371600"/>
            <a:ext cx="11049000" cy="264319"/>
            <a:chOff x="571500" y="1371600"/>
            <a:chExt cx="11049000" cy="264319"/>
          </a:xfrm>
        </p:grpSpPr>
        <p:sp>
          <p:nvSpPr>
            <p:cNvPr id="24" name="Rectangle 24"/>
            <p:cNvSpPr/>
            <p:nvPr/>
          </p:nvSpPr>
          <p:spPr>
            <a:xfrm>
              <a:off x="571500" y="1371600"/>
              <a:ext cx="11049000" cy="247650"/>
            </a:xfrm>
            <a:prstGeom prst="rect">
              <a:avLst/>
            </a:prstGeom>
            <a:solidFill>
              <a:srgbClr val="131B30"/>
            </a:solidFill>
            <a:ln>
              <a:noFill/>
            </a:ln>
          </p:spPr>
        </p:sp>
        <p:sp>
          <p:nvSpPr>
            <p:cNvPr id="25" name="TextBox 25"/>
            <p:cNvSpPr txBox="1"/>
            <p:nvPr/>
          </p:nvSpPr>
          <p:spPr>
            <a:xfrm>
              <a:off x="749618" y="1437799"/>
              <a:ext cx="25972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P/E</a:t>
              </a:r>
            </a:p>
          </p:txBody>
        </p:sp>
        <p:sp>
          <p:nvSpPr>
            <p:cNvPr id="26" name="TextBox 26"/>
            <p:cNvSpPr txBox="1"/>
            <p:nvPr/>
          </p:nvSpPr>
          <p:spPr>
            <a:xfrm>
              <a:off x="2464118" y="1437799"/>
              <a:ext cx="30244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351x</a:t>
              </a:r>
            </a:p>
          </p:txBody>
        </p:sp>
        <p:sp>
          <p:nvSpPr>
            <p:cNvPr id="27" name="TextBox 27"/>
            <p:cNvSpPr txBox="1"/>
            <p:nvPr/>
          </p:nvSpPr>
          <p:spPr>
            <a:xfrm>
              <a:off x="3988118" y="1437799"/>
              <a:ext cx="316326" cy="198120"/>
            </a:xfrm>
            <a:prstGeom prst="rect">
              <a:avLst/>
            </a:prstGeom>
            <a:noFill/>
            <a:ln>
              <a:noFill/>
            </a:ln>
          </p:spPr>
          <p:txBody>
            <a:bodyPr wrap="none" lIns="0" tIns="0" rIns="0" bIns="0" anchor="t" anchorCtr="0">
              <a:spAutoFit/>
            </a:bodyPr>
            <a:lstStyle/>
            <a:p>
              <a:pPr algn="l"/>
              <a:r>
                <a:rPr lang="zh-CN" sz="975" b="1" dirty="0">
                  <a:solidFill>
                    <a:srgbClr val="E8EAF0"/>
                  </a:solidFill>
                  <a:latin typeface="Arial"/>
                  <a:ea typeface="Microsoft YaHei"/>
                  <a:cs typeface="Arial"/>
                </a:rPr>
                <a:t>149x</a:t>
              </a:r>
            </a:p>
          </p:txBody>
        </p:sp>
        <p:sp>
          <p:nvSpPr>
            <p:cNvPr id="28" name="TextBox 28"/>
            <p:cNvSpPr txBox="1"/>
            <p:nvPr/>
          </p:nvSpPr>
          <p:spPr>
            <a:xfrm>
              <a:off x="5512118" y="1437799"/>
              <a:ext cx="33804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~95x</a:t>
              </a:r>
            </a:p>
          </p:txBody>
        </p:sp>
        <p:sp>
          <p:nvSpPr>
            <p:cNvPr id="29" name="TextBox 29"/>
            <p:cNvSpPr txBox="1"/>
            <p:nvPr/>
          </p:nvSpPr>
          <p:spPr>
            <a:xfrm>
              <a:off x="7036118" y="1437799"/>
              <a:ext cx="22412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18x</a:t>
              </a:r>
            </a:p>
          </p:txBody>
        </p:sp>
        <p:sp>
          <p:nvSpPr>
            <p:cNvPr id="30" name="TextBox 30"/>
            <p:cNvSpPr txBox="1"/>
            <p:nvPr/>
          </p:nvSpPr>
          <p:spPr>
            <a:xfrm>
              <a:off x="8560118" y="1437799"/>
              <a:ext cx="793718"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8x PREMIUM</a:t>
              </a:r>
            </a:p>
          </p:txBody>
        </p:sp>
        <p:sp>
          <p:nvSpPr>
            <p:cNvPr id="31" name="TextBox 31"/>
            <p:cNvSpPr txBox="1"/>
            <p:nvPr/>
          </p:nvSpPr>
          <p:spPr>
            <a:xfrm>
              <a:off x="10085070" y="1445895"/>
              <a:ext cx="1258443" cy="182880"/>
            </a:xfrm>
            <a:prstGeom prst="rect">
              <a:avLst/>
            </a:prstGeom>
            <a:noFill/>
            <a:ln>
              <a:noFill/>
            </a:ln>
          </p:spPr>
          <p:txBody>
            <a:bodyPr wrap="none" lIns="0" tIns="0" rIns="0" bIns="0" anchor="t" anchorCtr="0">
              <a:spAutoFit/>
            </a:bodyPr>
            <a:lstStyle/>
            <a:p>
              <a:pPr algn="l"/>
              <a:r>
                <a:rPr lang="zh-CN" sz="900" dirty="0">
                  <a:solidFill>
                    <a:srgbClr val="E05C5C"/>
                  </a:solidFill>
                  <a:latin typeface="Arial"/>
                  <a:ea typeface="Microsoft YaHei"/>
                  <a:cs typeface="Arial"/>
                </a:rPr>
                <a:t>Robotaxi dependent</a:t>
              </a:r>
            </a:p>
          </p:txBody>
        </p:sp>
      </p:grpSp>
      <p:grpSp>
        <p:nvGrpSpPr>
          <p:cNvPr id="41" name="Group 41"/>
          <p:cNvGrpSpPr/>
          <p:nvPr/>
        </p:nvGrpSpPr>
        <p:grpSpPr>
          <a:xfrm>
            <a:off x="571500" y="1619250"/>
            <a:ext cx="11049000" cy="264319"/>
            <a:chOff x="571500" y="1619250"/>
            <a:chExt cx="11049000" cy="264319"/>
          </a:xfrm>
        </p:grpSpPr>
        <p:sp>
          <p:nvSpPr>
            <p:cNvPr id="33" name="Rectangle 33"/>
            <p:cNvSpPr/>
            <p:nvPr/>
          </p:nvSpPr>
          <p:spPr>
            <a:xfrm>
              <a:off x="571500" y="1619250"/>
              <a:ext cx="11049000" cy="247650"/>
            </a:xfrm>
            <a:prstGeom prst="rect">
              <a:avLst/>
            </a:prstGeom>
            <a:solidFill>
              <a:srgbClr val="0A0E1A"/>
            </a:solidFill>
            <a:ln>
              <a:noFill/>
            </a:ln>
          </p:spPr>
        </p:sp>
        <p:sp>
          <p:nvSpPr>
            <p:cNvPr id="34" name="TextBox 34"/>
            <p:cNvSpPr txBox="1"/>
            <p:nvPr/>
          </p:nvSpPr>
          <p:spPr>
            <a:xfrm>
              <a:off x="749618" y="1685449"/>
              <a:ext cx="694039"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EV/EBITDA</a:t>
              </a:r>
            </a:p>
          </p:txBody>
        </p:sp>
        <p:sp>
          <p:nvSpPr>
            <p:cNvPr id="35" name="TextBox 35"/>
            <p:cNvSpPr txBox="1"/>
            <p:nvPr/>
          </p:nvSpPr>
          <p:spPr>
            <a:xfrm>
              <a:off x="2464118" y="1685449"/>
              <a:ext cx="30244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124x</a:t>
              </a:r>
            </a:p>
          </p:txBody>
        </p:sp>
        <p:sp>
          <p:nvSpPr>
            <p:cNvPr id="36" name="TextBox 36"/>
            <p:cNvSpPr txBox="1"/>
            <p:nvPr/>
          </p:nvSpPr>
          <p:spPr>
            <a:xfrm>
              <a:off x="3988118" y="1685449"/>
              <a:ext cx="103084"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t>
              </a:r>
            </a:p>
          </p:txBody>
        </p:sp>
        <p:sp>
          <p:nvSpPr>
            <p:cNvPr id="37" name="TextBox 37"/>
            <p:cNvSpPr txBox="1"/>
            <p:nvPr/>
          </p:nvSpPr>
          <p:spPr>
            <a:xfrm>
              <a:off x="5512118" y="16854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t>
              </a:r>
            </a:p>
          </p:txBody>
        </p:sp>
        <p:sp>
          <p:nvSpPr>
            <p:cNvPr id="38" name="TextBox 38"/>
            <p:cNvSpPr txBox="1"/>
            <p:nvPr/>
          </p:nvSpPr>
          <p:spPr>
            <a:xfrm>
              <a:off x="7036118" y="1685449"/>
              <a:ext cx="22412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10x</a:t>
              </a:r>
            </a:p>
          </p:txBody>
        </p:sp>
        <p:sp>
          <p:nvSpPr>
            <p:cNvPr id="39" name="TextBox 39"/>
            <p:cNvSpPr txBox="1"/>
            <p:nvPr/>
          </p:nvSpPr>
          <p:spPr>
            <a:xfrm>
              <a:off x="8560118" y="1685449"/>
              <a:ext cx="836438"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12x PREMIUM</a:t>
              </a:r>
            </a:p>
          </p:txBody>
        </p:sp>
        <p:sp>
          <p:nvSpPr>
            <p:cNvPr id="40" name="TextBox 40"/>
            <p:cNvSpPr txBox="1"/>
            <p:nvPr/>
          </p:nvSpPr>
          <p:spPr>
            <a:xfrm>
              <a:off x="10085070" y="1693545"/>
              <a:ext cx="1153287" cy="182880"/>
            </a:xfrm>
            <a:prstGeom prst="rect">
              <a:avLst/>
            </a:prstGeom>
            <a:noFill/>
            <a:ln>
              <a:noFill/>
            </a:ln>
          </p:spPr>
          <p:txBody>
            <a:bodyPr wrap="none" lIns="0" tIns="0" rIns="0" bIns="0" anchor="t" anchorCtr="0">
              <a:spAutoFit/>
            </a:bodyPr>
            <a:lstStyle/>
            <a:p>
              <a:pPr algn="l"/>
              <a:r>
                <a:rPr lang="zh-CN" sz="900" dirty="0">
                  <a:solidFill>
                    <a:srgbClr val="E05C5C"/>
                  </a:solidFill>
                  <a:latin typeface="Arial"/>
                  <a:ea typeface="Microsoft YaHei"/>
                  <a:cs typeface="Arial"/>
                </a:rPr>
                <a:t>Auto sector 8-12x</a:t>
              </a:r>
            </a:p>
          </p:txBody>
        </p:sp>
      </p:grpSp>
      <p:grpSp>
        <p:nvGrpSpPr>
          <p:cNvPr id="50" name="Group 50"/>
          <p:cNvGrpSpPr/>
          <p:nvPr/>
        </p:nvGrpSpPr>
        <p:grpSpPr>
          <a:xfrm>
            <a:off x="571500" y="1866900"/>
            <a:ext cx="11049000" cy="264319"/>
            <a:chOff x="571500" y="1866900"/>
            <a:chExt cx="11049000" cy="264319"/>
          </a:xfrm>
        </p:grpSpPr>
        <p:sp>
          <p:nvSpPr>
            <p:cNvPr id="42" name="Rectangle 42"/>
            <p:cNvSpPr/>
            <p:nvPr/>
          </p:nvSpPr>
          <p:spPr>
            <a:xfrm>
              <a:off x="571500" y="1866900"/>
              <a:ext cx="11049000" cy="247650"/>
            </a:xfrm>
            <a:prstGeom prst="rect">
              <a:avLst/>
            </a:prstGeom>
            <a:solidFill>
              <a:srgbClr val="131B30"/>
            </a:solidFill>
            <a:ln>
              <a:noFill/>
            </a:ln>
          </p:spPr>
        </p:sp>
        <p:sp>
          <p:nvSpPr>
            <p:cNvPr id="43" name="TextBox 43"/>
            <p:cNvSpPr txBox="1"/>
            <p:nvPr/>
          </p:nvSpPr>
          <p:spPr>
            <a:xfrm>
              <a:off x="749618" y="1933099"/>
              <a:ext cx="25972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P/S</a:t>
              </a:r>
            </a:p>
          </p:txBody>
        </p:sp>
        <p:sp>
          <p:nvSpPr>
            <p:cNvPr id="44" name="TextBox 44"/>
            <p:cNvSpPr txBox="1"/>
            <p:nvPr/>
          </p:nvSpPr>
          <p:spPr>
            <a:xfrm>
              <a:off x="2464118" y="1933099"/>
              <a:ext cx="3807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14.6x</a:t>
              </a:r>
            </a:p>
          </p:txBody>
        </p:sp>
        <p:sp>
          <p:nvSpPr>
            <p:cNvPr id="45" name="TextBox 45"/>
            <p:cNvSpPr txBox="1"/>
            <p:nvPr/>
          </p:nvSpPr>
          <p:spPr>
            <a:xfrm>
              <a:off x="3988118" y="1933099"/>
              <a:ext cx="103084"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t>
              </a:r>
            </a:p>
          </p:txBody>
        </p:sp>
        <p:sp>
          <p:nvSpPr>
            <p:cNvPr id="46" name="TextBox 46"/>
            <p:cNvSpPr txBox="1"/>
            <p:nvPr/>
          </p:nvSpPr>
          <p:spPr>
            <a:xfrm>
              <a:off x="5512118" y="193309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t>
              </a:r>
            </a:p>
          </p:txBody>
        </p:sp>
        <p:sp>
          <p:nvSpPr>
            <p:cNvPr id="47" name="TextBox 47"/>
            <p:cNvSpPr txBox="1"/>
            <p:nvPr/>
          </p:nvSpPr>
          <p:spPr>
            <a:xfrm>
              <a:off x="7036118" y="1933099"/>
              <a:ext cx="33804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0.8x</a:t>
              </a:r>
            </a:p>
          </p:txBody>
        </p:sp>
        <p:sp>
          <p:nvSpPr>
            <p:cNvPr id="48" name="TextBox 48"/>
            <p:cNvSpPr txBox="1"/>
            <p:nvPr/>
          </p:nvSpPr>
          <p:spPr>
            <a:xfrm>
              <a:off x="8560118" y="1933099"/>
              <a:ext cx="836438"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18x PREMIUM</a:t>
              </a:r>
            </a:p>
          </p:txBody>
        </p:sp>
        <p:sp>
          <p:nvSpPr>
            <p:cNvPr id="49" name="TextBox 49"/>
            <p:cNvSpPr txBox="1"/>
            <p:nvPr/>
          </p:nvSpPr>
          <p:spPr>
            <a:xfrm>
              <a:off x="10085070" y="1941195"/>
              <a:ext cx="1245298" cy="182880"/>
            </a:xfrm>
            <a:prstGeom prst="rect">
              <a:avLst/>
            </a:prstGeom>
            <a:noFill/>
            <a:ln>
              <a:noFill/>
            </a:ln>
          </p:spPr>
          <p:txBody>
            <a:bodyPr wrap="none" lIns="0" tIns="0" rIns="0" bIns="0" anchor="t" anchorCtr="0">
              <a:spAutoFit/>
            </a:bodyPr>
            <a:lstStyle/>
            <a:p>
              <a:pPr algn="l"/>
              <a:r>
                <a:rPr lang="zh-CN" sz="900" dirty="0">
                  <a:solidFill>
                    <a:srgbClr val="E05C5C"/>
                  </a:solidFill>
                  <a:latin typeface="Arial"/>
                  <a:ea typeface="Microsoft YaHei"/>
                  <a:cs typeface="Arial"/>
                </a:rPr>
                <a:t>Tech-level premium</a:t>
              </a:r>
            </a:p>
          </p:txBody>
        </p:sp>
      </p:grpSp>
      <p:grpSp>
        <p:nvGrpSpPr>
          <p:cNvPr id="59" name="Group 59"/>
          <p:cNvGrpSpPr/>
          <p:nvPr/>
        </p:nvGrpSpPr>
        <p:grpSpPr>
          <a:xfrm>
            <a:off x="571500" y="2114550"/>
            <a:ext cx="11049000" cy="264319"/>
            <a:chOff x="571500" y="2114550"/>
            <a:chExt cx="11049000" cy="264319"/>
          </a:xfrm>
        </p:grpSpPr>
        <p:sp>
          <p:nvSpPr>
            <p:cNvPr id="51" name="Rectangle 51"/>
            <p:cNvSpPr/>
            <p:nvPr/>
          </p:nvSpPr>
          <p:spPr>
            <a:xfrm>
              <a:off x="571500" y="2114550"/>
              <a:ext cx="11049000" cy="247650"/>
            </a:xfrm>
            <a:prstGeom prst="rect">
              <a:avLst/>
            </a:prstGeom>
            <a:solidFill>
              <a:srgbClr val="0A0E1A"/>
            </a:solidFill>
            <a:ln>
              <a:noFill/>
            </a:ln>
          </p:spPr>
        </p:sp>
        <p:sp>
          <p:nvSpPr>
            <p:cNvPr id="52" name="TextBox 52"/>
            <p:cNvSpPr txBox="1"/>
            <p:nvPr/>
          </p:nvSpPr>
          <p:spPr>
            <a:xfrm>
              <a:off x="749618" y="218074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P/FCF</a:t>
              </a:r>
            </a:p>
          </p:txBody>
        </p:sp>
        <p:sp>
          <p:nvSpPr>
            <p:cNvPr id="53" name="TextBox 53"/>
            <p:cNvSpPr txBox="1"/>
            <p:nvPr/>
          </p:nvSpPr>
          <p:spPr>
            <a:xfrm>
              <a:off x="2464118" y="2180749"/>
              <a:ext cx="4163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~225x</a:t>
              </a:r>
            </a:p>
          </p:txBody>
        </p:sp>
        <p:sp>
          <p:nvSpPr>
            <p:cNvPr id="54" name="TextBox 54"/>
            <p:cNvSpPr txBox="1"/>
            <p:nvPr/>
          </p:nvSpPr>
          <p:spPr>
            <a:xfrm>
              <a:off x="3988118" y="2180749"/>
              <a:ext cx="103084"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a:t>
              </a:r>
            </a:p>
          </p:txBody>
        </p:sp>
        <p:sp>
          <p:nvSpPr>
            <p:cNvPr id="55" name="TextBox 55"/>
            <p:cNvSpPr txBox="1"/>
            <p:nvPr/>
          </p:nvSpPr>
          <p:spPr>
            <a:xfrm>
              <a:off x="5512118" y="21807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t>
              </a:r>
            </a:p>
          </p:txBody>
        </p:sp>
        <p:sp>
          <p:nvSpPr>
            <p:cNvPr id="56" name="TextBox 56"/>
            <p:cNvSpPr txBox="1"/>
            <p:nvPr/>
          </p:nvSpPr>
          <p:spPr>
            <a:xfrm>
              <a:off x="7036118" y="21807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t>
              </a:r>
            </a:p>
          </p:txBody>
        </p:sp>
        <p:sp>
          <p:nvSpPr>
            <p:cNvPr id="57" name="TextBox 57"/>
            <p:cNvSpPr txBox="1"/>
            <p:nvPr/>
          </p:nvSpPr>
          <p:spPr>
            <a:xfrm>
              <a:off x="8560118" y="2180749"/>
              <a:ext cx="658439"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Very High</a:t>
              </a:r>
            </a:p>
          </p:txBody>
        </p:sp>
        <p:sp>
          <p:nvSpPr>
            <p:cNvPr id="58" name="TextBox 58"/>
            <p:cNvSpPr txBox="1"/>
            <p:nvPr/>
          </p:nvSpPr>
          <p:spPr>
            <a:xfrm>
              <a:off x="10085070" y="2188845"/>
              <a:ext cx="890397" cy="182880"/>
            </a:xfrm>
            <a:prstGeom prst="rect">
              <a:avLst/>
            </a:prstGeom>
            <a:noFill/>
            <a:ln>
              <a:noFill/>
            </a:ln>
          </p:spPr>
          <p:txBody>
            <a:bodyPr wrap="none" lIns="0" tIns="0" rIns="0" bIns="0" anchor="t" anchorCtr="0">
              <a:spAutoFit/>
            </a:bodyPr>
            <a:lstStyle/>
            <a:p>
              <a:pPr algn="l"/>
              <a:r>
                <a:rPr lang="zh-CN" sz="900" dirty="0">
                  <a:solidFill>
                    <a:srgbClr val="8899BB"/>
                  </a:solidFill>
                  <a:latin typeface="Arial"/>
                  <a:ea typeface="Microsoft YaHei"/>
                  <a:cs typeface="Arial"/>
                </a:rPr>
                <a:t>FCF improving</a:t>
              </a:r>
            </a:p>
          </p:txBody>
        </p:sp>
      </p:grpSp>
      <p:grpSp>
        <p:nvGrpSpPr>
          <p:cNvPr id="62" name="Group 62"/>
          <p:cNvGrpSpPr/>
          <p:nvPr/>
        </p:nvGrpSpPr>
        <p:grpSpPr>
          <a:xfrm>
            <a:off x="571500" y="2618899"/>
            <a:ext cx="11049000" cy="198120"/>
            <a:chOff x="571500" y="2618899"/>
            <a:chExt cx="11049000" cy="198120"/>
          </a:xfrm>
        </p:grpSpPr>
        <p:sp>
          <p:nvSpPr>
            <p:cNvPr id="60" name="TextBox 60"/>
            <p:cNvSpPr txBox="1"/>
            <p:nvPr/>
          </p:nvSpPr>
          <p:spPr>
            <a:xfrm>
              <a:off x="749618" y="2618899"/>
              <a:ext cx="1273246"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PEER COMPARISON</a:t>
              </a:r>
            </a:p>
          </p:txBody>
        </p:sp>
        <p:sp>
          <p:nvSpPr>
            <p:cNvPr id="61" name="Rectangle 61"/>
            <p:cNvSpPr/>
            <p:nvPr/>
          </p:nvSpPr>
          <p:spPr>
            <a:xfrm>
              <a:off x="571500" y="2800350"/>
              <a:ext cx="11049000" cy="9525"/>
            </a:xfrm>
            <a:prstGeom prst="rect">
              <a:avLst/>
            </a:prstGeom>
            <a:solidFill>
              <a:srgbClr val="2A3A5C"/>
            </a:solidFill>
            <a:ln>
              <a:noFill/>
            </a:ln>
          </p:spPr>
        </p:sp>
      </p:grpSp>
      <p:grpSp>
        <p:nvGrpSpPr>
          <p:cNvPr id="72" name="Group 72"/>
          <p:cNvGrpSpPr/>
          <p:nvPr/>
        </p:nvGrpSpPr>
        <p:grpSpPr>
          <a:xfrm>
            <a:off x="571500" y="2838450"/>
            <a:ext cx="11049000" cy="266700"/>
            <a:chOff x="571500" y="2838450"/>
            <a:chExt cx="11049000" cy="266700"/>
          </a:xfrm>
        </p:grpSpPr>
        <p:sp>
          <p:nvSpPr>
            <p:cNvPr id="63" name="Rectangle 63"/>
            <p:cNvSpPr/>
            <p:nvPr/>
          </p:nvSpPr>
          <p:spPr>
            <a:xfrm>
              <a:off x="571500" y="2838450"/>
              <a:ext cx="11049000" cy="266700"/>
            </a:xfrm>
            <a:prstGeom prst="rect">
              <a:avLst/>
            </a:prstGeom>
            <a:solidFill>
              <a:srgbClr val="1A2540"/>
            </a:solidFill>
            <a:ln>
              <a:noFill/>
            </a:ln>
          </p:spPr>
        </p:sp>
        <p:sp>
          <p:nvSpPr>
            <p:cNvPr id="64" name="TextBox 64"/>
            <p:cNvSpPr txBox="1"/>
            <p:nvPr/>
          </p:nvSpPr>
          <p:spPr>
            <a:xfrm>
              <a:off x="750570" y="2922270"/>
              <a:ext cx="443813"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TICKER</a:t>
              </a:r>
            </a:p>
          </p:txBody>
        </p:sp>
        <p:sp>
          <p:nvSpPr>
            <p:cNvPr id="65" name="TextBox 65"/>
            <p:cNvSpPr txBox="1"/>
            <p:nvPr/>
          </p:nvSpPr>
          <p:spPr>
            <a:xfrm>
              <a:off x="1893570" y="2922270"/>
              <a:ext cx="54732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MKT CAP</a:t>
              </a:r>
            </a:p>
          </p:txBody>
        </p:sp>
        <p:sp>
          <p:nvSpPr>
            <p:cNvPr id="66" name="TextBox 66"/>
            <p:cNvSpPr txBox="1"/>
            <p:nvPr/>
          </p:nvSpPr>
          <p:spPr>
            <a:xfrm>
              <a:off x="3417570" y="2922270"/>
              <a:ext cx="699145"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REV (TTM)</a:t>
              </a:r>
            </a:p>
          </p:txBody>
        </p:sp>
        <p:sp>
          <p:nvSpPr>
            <p:cNvPr id="67" name="TextBox 67"/>
            <p:cNvSpPr txBox="1"/>
            <p:nvPr/>
          </p:nvSpPr>
          <p:spPr>
            <a:xfrm>
              <a:off x="4941570" y="2922270"/>
              <a:ext cx="802657"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REV GROWTH</a:t>
              </a:r>
            </a:p>
          </p:txBody>
        </p:sp>
        <p:sp>
          <p:nvSpPr>
            <p:cNvPr id="68" name="TextBox 68"/>
            <p:cNvSpPr txBox="1"/>
            <p:nvPr/>
          </p:nvSpPr>
          <p:spPr>
            <a:xfrm>
              <a:off x="6465570" y="2922270"/>
              <a:ext cx="919972"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GROSS MARGIN</a:t>
              </a:r>
            </a:p>
          </p:txBody>
        </p:sp>
        <p:sp>
          <p:nvSpPr>
            <p:cNvPr id="69" name="TextBox 69"/>
            <p:cNvSpPr txBox="1"/>
            <p:nvPr/>
          </p:nvSpPr>
          <p:spPr>
            <a:xfrm>
              <a:off x="8180070" y="2922270"/>
              <a:ext cx="547326"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P/E FWD</a:t>
              </a:r>
            </a:p>
          </p:txBody>
        </p:sp>
        <p:sp>
          <p:nvSpPr>
            <p:cNvPr id="70" name="TextBox 70"/>
            <p:cNvSpPr txBox="1"/>
            <p:nvPr/>
          </p:nvSpPr>
          <p:spPr>
            <a:xfrm>
              <a:off x="9513570" y="2922270"/>
              <a:ext cx="671541"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EV/EBITDA</a:t>
              </a:r>
            </a:p>
          </p:txBody>
        </p:sp>
        <p:sp>
          <p:nvSpPr>
            <p:cNvPr id="71" name="TextBox 71"/>
            <p:cNvSpPr txBox="1"/>
            <p:nvPr/>
          </p:nvSpPr>
          <p:spPr>
            <a:xfrm>
              <a:off x="10751820" y="2922270"/>
              <a:ext cx="381705" cy="182880"/>
            </a:xfrm>
            <a:prstGeom prst="rect">
              <a:avLst/>
            </a:prstGeom>
            <a:noFill/>
            <a:ln>
              <a:noFill/>
            </a:ln>
          </p:spPr>
          <p:txBody>
            <a:bodyPr wrap="none" lIns="0" tIns="0" rIns="0" bIns="0" anchor="t" anchorCtr="0">
              <a:spAutoFit/>
            </a:bodyPr>
            <a:lstStyle/>
            <a:p>
              <a:pPr algn="l"/>
              <a:r>
                <a:rPr lang="zh-CN" sz="900" b="1" dirty="0">
                  <a:solidFill>
                    <a:srgbClr val="8899BB"/>
                  </a:solidFill>
                  <a:latin typeface="Arial"/>
                  <a:ea typeface="Microsoft YaHei"/>
                  <a:cs typeface="Arial"/>
                </a:rPr>
                <a:t>MOAT</a:t>
              </a:r>
            </a:p>
          </p:txBody>
        </p:sp>
      </p:grpSp>
      <p:grpSp>
        <p:nvGrpSpPr>
          <p:cNvPr id="83" name="Group 83"/>
          <p:cNvGrpSpPr/>
          <p:nvPr/>
        </p:nvGrpSpPr>
        <p:grpSpPr>
          <a:xfrm>
            <a:off x="571500" y="3105150"/>
            <a:ext cx="11049000" cy="273844"/>
            <a:chOff x="571500" y="3105150"/>
            <a:chExt cx="11049000" cy="273844"/>
          </a:xfrm>
        </p:grpSpPr>
        <p:sp>
          <p:nvSpPr>
            <p:cNvPr id="73" name="Rectangle 73"/>
            <p:cNvSpPr/>
            <p:nvPr/>
          </p:nvSpPr>
          <p:spPr>
            <a:xfrm>
              <a:off x="571500" y="3105150"/>
              <a:ext cx="11049000" cy="266700"/>
            </a:xfrm>
            <a:prstGeom prst="rect">
              <a:avLst/>
            </a:prstGeom>
            <a:solidFill>
              <a:srgbClr val="1A2A44"/>
            </a:solidFill>
            <a:ln>
              <a:noFill/>
            </a:ln>
          </p:spPr>
        </p:sp>
        <p:sp>
          <p:nvSpPr>
            <p:cNvPr id="74" name="Rectangle 74"/>
            <p:cNvSpPr/>
            <p:nvPr/>
          </p:nvSpPr>
          <p:spPr>
            <a:xfrm>
              <a:off x="571500" y="3105150"/>
              <a:ext cx="38100" cy="266700"/>
            </a:xfrm>
            <a:prstGeom prst="rect">
              <a:avLst/>
            </a:prstGeom>
            <a:solidFill>
              <a:srgbClr val="F5C842"/>
            </a:solidFill>
            <a:ln>
              <a:noFill/>
            </a:ln>
          </p:spPr>
        </p:sp>
        <p:sp>
          <p:nvSpPr>
            <p:cNvPr id="75" name="TextBox 75"/>
            <p:cNvSpPr txBox="1"/>
            <p:nvPr/>
          </p:nvSpPr>
          <p:spPr>
            <a:xfrm>
              <a:off x="749618" y="3180874"/>
              <a:ext cx="353706"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TSLA</a:t>
              </a:r>
            </a:p>
          </p:txBody>
        </p:sp>
        <p:sp>
          <p:nvSpPr>
            <p:cNvPr id="76" name="TextBox 76"/>
            <p:cNvSpPr txBox="1"/>
            <p:nvPr/>
          </p:nvSpPr>
          <p:spPr>
            <a:xfrm>
              <a:off x="1892618" y="3180874"/>
              <a:ext cx="4590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$1.42T</a:t>
              </a:r>
            </a:p>
          </p:txBody>
        </p:sp>
        <p:sp>
          <p:nvSpPr>
            <p:cNvPr id="77" name="TextBox 77"/>
            <p:cNvSpPr txBox="1"/>
            <p:nvPr/>
          </p:nvSpPr>
          <p:spPr>
            <a:xfrm>
              <a:off x="3416618" y="3180874"/>
              <a:ext cx="4946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$97.9B</a:t>
              </a:r>
            </a:p>
          </p:txBody>
        </p:sp>
        <p:sp>
          <p:nvSpPr>
            <p:cNvPr id="78" name="TextBox 78"/>
            <p:cNvSpPr txBox="1"/>
            <p:nvPr/>
          </p:nvSpPr>
          <p:spPr>
            <a:xfrm>
              <a:off x="4940618" y="3180874"/>
              <a:ext cx="807958"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+15.8% (Q1)</a:t>
              </a:r>
            </a:p>
          </p:txBody>
        </p:sp>
        <p:sp>
          <p:nvSpPr>
            <p:cNvPr id="79" name="TextBox 79"/>
            <p:cNvSpPr txBox="1"/>
            <p:nvPr/>
          </p:nvSpPr>
          <p:spPr>
            <a:xfrm>
              <a:off x="6464618" y="3180874"/>
              <a:ext cx="34516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19.1%</a:t>
              </a:r>
            </a:p>
          </p:txBody>
        </p:sp>
        <p:sp>
          <p:nvSpPr>
            <p:cNvPr id="80" name="TextBox 80"/>
            <p:cNvSpPr txBox="1"/>
            <p:nvPr/>
          </p:nvSpPr>
          <p:spPr>
            <a:xfrm>
              <a:off x="8179118" y="3180874"/>
              <a:ext cx="302443"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149x</a:t>
              </a:r>
            </a:p>
          </p:txBody>
        </p:sp>
        <p:sp>
          <p:nvSpPr>
            <p:cNvPr id="81" name="TextBox 81"/>
            <p:cNvSpPr txBox="1"/>
            <p:nvPr/>
          </p:nvSpPr>
          <p:spPr>
            <a:xfrm>
              <a:off x="9512618" y="3180874"/>
              <a:ext cx="302443"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124x</a:t>
              </a:r>
            </a:p>
          </p:txBody>
        </p:sp>
        <p:sp>
          <p:nvSpPr>
            <p:cNvPr id="82" name="TextBox 82"/>
            <p:cNvSpPr txBox="1"/>
            <p:nvPr/>
          </p:nvSpPr>
          <p:spPr>
            <a:xfrm>
              <a:off x="10751820" y="3188970"/>
              <a:ext cx="837819" cy="182880"/>
            </a:xfrm>
            <a:prstGeom prst="rect">
              <a:avLst/>
            </a:prstGeom>
            <a:noFill/>
            <a:ln>
              <a:noFill/>
            </a:ln>
          </p:spPr>
          <p:txBody>
            <a:bodyPr wrap="none" lIns="0" tIns="0" rIns="0" bIns="0" anchor="t" anchorCtr="0">
              <a:spAutoFit/>
            </a:bodyPr>
            <a:lstStyle/>
            <a:p>
              <a:pPr algn="l"/>
              <a:r>
                <a:rPr lang="zh-CN" sz="900" dirty="0">
                  <a:solidFill>
                    <a:srgbClr val="F5C842"/>
                  </a:solidFill>
                  <a:latin typeface="Arial"/>
                  <a:ea typeface="Microsoft YaHei"/>
                  <a:cs typeface="Arial"/>
                </a:rPr>
                <a:t>Narrow→Wide</a:t>
              </a:r>
            </a:p>
          </p:txBody>
        </p:sp>
      </p:grpSp>
      <p:grpSp>
        <p:nvGrpSpPr>
          <p:cNvPr id="93" name="Group 93"/>
          <p:cNvGrpSpPr/>
          <p:nvPr/>
        </p:nvGrpSpPr>
        <p:grpSpPr>
          <a:xfrm>
            <a:off x="571500" y="3371850"/>
            <a:ext cx="11149584" cy="264319"/>
            <a:chOff x="571500" y="3371850"/>
            <a:chExt cx="11149584" cy="264319"/>
          </a:xfrm>
        </p:grpSpPr>
        <p:sp>
          <p:nvSpPr>
            <p:cNvPr id="84" name="Rectangle 84"/>
            <p:cNvSpPr/>
            <p:nvPr/>
          </p:nvSpPr>
          <p:spPr>
            <a:xfrm>
              <a:off x="571500" y="3371850"/>
              <a:ext cx="11049000" cy="247650"/>
            </a:xfrm>
            <a:prstGeom prst="rect">
              <a:avLst/>
            </a:prstGeom>
            <a:solidFill>
              <a:srgbClr val="131B30"/>
            </a:solidFill>
            <a:ln>
              <a:noFill/>
            </a:ln>
          </p:spPr>
        </p:sp>
        <p:sp>
          <p:nvSpPr>
            <p:cNvPr id="85" name="TextBox 85"/>
            <p:cNvSpPr txBox="1"/>
            <p:nvPr/>
          </p:nvSpPr>
          <p:spPr>
            <a:xfrm>
              <a:off x="749618" y="3438049"/>
              <a:ext cx="25972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BYD</a:t>
              </a:r>
            </a:p>
          </p:txBody>
        </p:sp>
        <p:sp>
          <p:nvSpPr>
            <p:cNvPr id="86" name="TextBox 86"/>
            <p:cNvSpPr txBox="1"/>
            <p:nvPr/>
          </p:nvSpPr>
          <p:spPr>
            <a:xfrm>
              <a:off x="1892618" y="3438049"/>
              <a:ext cx="38076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$1.0T</a:t>
              </a:r>
            </a:p>
          </p:txBody>
        </p:sp>
        <p:sp>
          <p:nvSpPr>
            <p:cNvPr id="87" name="TextBox 87"/>
            <p:cNvSpPr txBox="1"/>
            <p:nvPr/>
          </p:nvSpPr>
          <p:spPr>
            <a:xfrm>
              <a:off x="3416618" y="3438049"/>
              <a:ext cx="4946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~$800B</a:t>
              </a:r>
            </a:p>
          </p:txBody>
        </p:sp>
        <p:sp>
          <p:nvSpPr>
            <p:cNvPr id="88" name="TextBox 88"/>
            <p:cNvSpPr txBox="1"/>
            <p:nvPr/>
          </p:nvSpPr>
          <p:spPr>
            <a:xfrm>
              <a:off x="4940618" y="3438049"/>
              <a:ext cx="302443"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High</a:t>
              </a:r>
            </a:p>
          </p:txBody>
        </p:sp>
        <p:sp>
          <p:nvSpPr>
            <p:cNvPr id="89" name="TextBox 89"/>
            <p:cNvSpPr txBox="1"/>
            <p:nvPr/>
          </p:nvSpPr>
          <p:spPr>
            <a:xfrm>
              <a:off x="6464618" y="3438049"/>
              <a:ext cx="30244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~18%</a:t>
              </a:r>
            </a:p>
          </p:txBody>
        </p:sp>
        <p:sp>
          <p:nvSpPr>
            <p:cNvPr id="90" name="TextBox 90"/>
            <p:cNvSpPr txBox="1"/>
            <p:nvPr/>
          </p:nvSpPr>
          <p:spPr>
            <a:xfrm>
              <a:off x="8179118" y="3438049"/>
              <a:ext cx="30244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~12x</a:t>
              </a:r>
            </a:p>
          </p:txBody>
        </p:sp>
        <p:sp>
          <p:nvSpPr>
            <p:cNvPr id="91" name="TextBox 91"/>
            <p:cNvSpPr txBox="1"/>
            <p:nvPr/>
          </p:nvSpPr>
          <p:spPr>
            <a:xfrm>
              <a:off x="9512618" y="3438049"/>
              <a:ext cx="25972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~8x</a:t>
              </a:r>
            </a:p>
          </p:txBody>
        </p:sp>
        <p:sp>
          <p:nvSpPr>
            <p:cNvPr id="92" name="TextBox 92"/>
            <p:cNvSpPr txBox="1"/>
            <p:nvPr/>
          </p:nvSpPr>
          <p:spPr>
            <a:xfrm>
              <a:off x="10751820" y="3446145"/>
              <a:ext cx="969264" cy="182880"/>
            </a:xfrm>
            <a:prstGeom prst="rect">
              <a:avLst/>
            </a:prstGeom>
            <a:noFill/>
            <a:ln>
              <a:noFill/>
            </a:ln>
          </p:spPr>
          <p:txBody>
            <a:bodyPr wrap="none" lIns="0" tIns="0" rIns="0" bIns="0" anchor="t" anchorCtr="0">
              <a:spAutoFit/>
            </a:bodyPr>
            <a:lstStyle/>
            <a:p>
              <a:pPr algn="l"/>
              <a:r>
                <a:rPr lang="zh-CN" sz="900" dirty="0">
                  <a:solidFill>
                    <a:srgbClr val="8899BB"/>
                  </a:solidFill>
                  <a:latin typeface="Arial"/>
                  <a:ea typeface="Microsoft YaHei"/>
                  <a:cs typeface="Arial"/>
                </a:rPr>
                <a:t>Strong (China)</a:t>
              </a:r>
            </a:p>
          </p:txBody>
        </p:sp>
      </p:grpSp>
      <p:grpSp>
        <p:nvGrpSpPr>
          <p:cNvPr id="103" name="Group 103"/>
          <p:cNvGrpSpPr/>
          <p:nvPr/>
        </p:nvGrpSpPr>
        <p:grpSpPr>
          <a:xfrm>
            <a:off x="571500" y="3619500"/>
            <a:ext cx="11049000" cy="264319"/>
            <a:chOff x="571500" y="3619500"/>
            <a:chExt cx="11049000" cy="264319"/>
          </a:xfrm>
        </p:grpSpPr>
        <p:sp>
          <p:nvSpPr>
            <p:cNvPr id="94" name="Rectangle 94"/>
            <p:cNvSpPr/>
            <p:nvPr/>
          </p:nvSpPr>
          <p:spPr>
            <a:xfrm>
              <a:off x="571500" y="3619500"/>
              <a:ext cx="11049000" cy="247650"/>
            </a:xfrm>
            <a:prstGeom prst="rect">
              <a:avLst/>
            </a:prstGeom>
            <a:solidFill>
              <a:srgbClr val="0A0E1A"/>
            </a:solidFill>
            <a:ln>
              <a:noFill/>
            </a:ln>
          </p:spPr>
        </p:sp>
        <p:sp>
          <p:nvSpPr>
            <p:cNvPr id="95" name="TextBox 95"/>
            <p:cNvSpPr txBox="1"/>
            <p:nvPr/>
          </p:nvSpPr>
          <p:spPr>
            <a:xfrm>
              <a:off x="749618" y="3685699"/>
              <a:ext cx="20988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GM</a:t>
              </a:r>
            </a:p>
          </p:txBody>
        </p:sp>
        <p:sp>
          <p:nvSpPr>
            <p:cNvPr id="96" name="TextBox 96"/>
            <p:cNvSpPr txBox="1"/>
            <p:nvPr/>
          </p:nvSpPr>
          <p:spPr>
            <a:xfrm>
              <a:off x="1892618" y="3685699"/>
              <a:ext cx="33804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$55B</a:t>
              </a:r>
            </a:p>
          </p:txBody>
        </p:sp>
        <p:sp>
          <p:nvSpPr>
            <p:cNvPr id="97" name="TextBox 97"/>
            <p:cNvSpPr txBox="1"/>
            <p:nvPr/>
          </p:nvSpPr>
          <p:spPr>
            <a:xfrm>
              <a:off x="3416618" y="3685699"/>
              <a:ext cx="459081"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~$187B</a:t>
              </a:r>
            </a:p>
          </p:txBody>
        </p:sp>
        <p:sp>
          <p:nvSpPr>
            <p:cNvPr id="98" name="TextBox 98"/>
            <p:cNvSpPr txBox="1"/>
            <p:nvPr/>
          </p:nvSpPr>
          <p:spPr>
            <a:xfrm>
              <a:off x="4940618" y="3685699"/>
              <a:ext cx="28820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Low</a:t>
              </a:r>
            </a:p>
          </p:txBody>
        </p:sp>
        <p:sp>
          <p:nvSpPr>
            <p:cNvPr id="99" name="TextBox 99"/>
            <p:cNvSpPr txBox="1"/>
            <p:nvPr/>
          </p:nvSpPr>
          <p:spPr>
            <a:xfrm>
              <a:off x="6464618" y="3685699"/>
              <a:ext cx="30244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~14%</a:t>
              </a:r>
            </a:p>
          </p:txBody>
        </p:sp>
        <p:sp>
          <p:nvSpPr>
            <p:cNvPr id="100" name="TextBox 100"/>
            <p:cNvSpPr txBox="1"/>
            <p:nvPr/>
          </p:nvSpPr>
          <p:spPr>
            <a:xfrm>
              <a:off x="8179118" y="3685699"/>
              <a:ext cx="18140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6x</a:t>
              </a:r>
            </a:p>
          </p:txBody>
        </p:sp>
        <p:sp>
          <p:nvSpPr>
            <p:cNvPr id="101" name="TextBox 101"/>
            <p:cNvSpPr txBox="1"/>
            <p:nvPr/>
          </p:nvSpPr>
          <p:spPr>
            <a:xfrm>
              <a:off x="9512618" y="3685699"/>
              <a:ext cx="181404"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5x</a:t>
              </a:r>
            </a:p>
          </p:txBody>
        </p:sp>
        <p:sp>
          <p:nvSpPr>
            <p:cNvPr id="102" name="TextBox 102"/>
            <p:cNvSpPr txBox="1"/>
            <p:nvPr/>
          </p:nvSpPr>
          <p:spPr>
            <a:xfrm>
              <a:off x="10751820" y="3693795"/>
              <a:ext cx="627507" cy="182880"/>
            </a:xfrm>
            <a:prstGeom prst="rect">
              <a:avLst/>
            </a:prstGeom>
            <a:noFill/>
            <a:ln>
              <a:noFill/>
            </a:ln>
          </p:spPr>
          <p:txBody>
            <a:bodyPr wrap="none" lIns="0" tIns="0" rIns="0" bIns="0" anchor="t" anchorCtr="0">
              <a:spAutoFit/>
            </a:bodyPr>
            <a:lstStyle/>
            <a:p>
              <a:pPr algn="l"/>
              <a:r>
                <a:rPr lang="zh-CN" sz="900" dirty="0">
                  <a:solidFill>
                    <a:srgbClr val="8899BB"/>
                  </a:solidFill>
                  <a:latin typeface="Arial"/>
                  <a:ea typeface="Microsoft YaHei"/>
                  <a:cs typeface="Arial"/>
                </a:rPr>
                <a:t>Moderate</a:t>
              </a:r>
            </a:p>
          </p:txBody>
        </p:sp>
      </p:grpSp>
      <p:grpSp>
        <p:nvGrpSpPr>
          <p:cNvPr id="113" name="Group 113"/>
          <p:cNvGrpSpPr/>
          <p:nvPr/>
        </p:nvGrpSpPr>
        <p:grpSpPr>
          <a:xfrm>
            <a:off x="571500" y="3867150"/>
            <a:ext cx="11049000" cy="264319"/>
            <a:chOff x="571500" y="3867150"/>
            <a:chExt cx="11049000" cy="264319"/>
          </a:xfrm>
        </p:grpSpPr>
        <p:sp>
          <p:nvSpPr>
            <p:cNvPr id="104" name="Rectangle 104"/>
            <p:cNvSpPr/>
            <p:nvPr/>
          </p:nvSpPr>
          <p:spPr>
            <a:xfrm>
              <a:off x="571500" y="3867150"/>
              <a:ext cx="11049000" cy="247650"/>
            </a:xfrm>
            <a:prstGeom prst="rect">
              <a:avLst/>
            </a:prstGeom>
            <a:solidFill>
              <a:srgbClr val="131B30"/>
            </a:solidFill>
            <a:ln>
              <a:noFill/>
            </a:ln>
          </p:spPr>
        </p:sp>
        <p:sp>
          <p:nvSpPr>
            <p:cNvPr id="105" name="TextBox 105"/>
            <p:cNvSpPr txBox="1"/>
            <p:nvPr/>
          </p:nvSpPr>
          <p:spPr>
            <a:xfrm>
              <a:off x="749618" y="3933349"/>
              <a:ext cx="30244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RIVN</a:t>
              </a:r>
            </a:p>
          </p:txBody>
        </p:sp>
        <p:sp>
          <p:nvSpPr>
            <p:cNvPr id="106" name="TextBox 106"/>
            <p:cNvSpPr txBox="1"/>
            <p:nvPr/>
          </p:nvSpPr>
          <p:spPr>
            <a:xfrm>
              <a:off x="1892618" y="3933349"/>
              <a:ext cx="302443"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$17B</a:t>
              </a:r>
            </a:p>
          </p:txBody>
        </p:sp>
        <p:sp>
          <p:nvSpPr>
            <p:cNvPr id="107" name="TextBox 107"/>
            <p:cNvSpPr txBox="1"/>
            <p:nvPr/>
          </p:nvSpPr>
          <p:spPr>
            <a:xfrm>
              <a:off x="3416618" y="3933349"/>
              <a:ext cx="338042" cy="198120"/>
            </a:xfrm>
            <a:prstGeom prst="rect">
              <a:avLst/>
            </a:prstGeom>
            <a:noFill/>
            <a:ln>
              <a:noFill/>
            </a:ln>
          </p:spPr>
          <p:txBody>
            <a:bodyPr wrap="none" lIns="0" tIns="0" rIns="0" bIns="0" anchor="t" anchorCtr="0">
              <a:spAutoFit/>
            </a:bodyPr>
            <a:lstStyle/>
            <a:p>
              <a:pPr algn="l"/>
              <a:r>
                <a:rPr lang="zh-CN" sz="975" dirty="0">
                  <a:solidFill>
                    <a:srgbClr val="E8EAF0"/>
                  </a:solidFill>
                  <a:latin typeface="Arial"/>
                  <a:ea typeface="Microsoft YaHei"/>
                  <a:cs typeface="Arial"/>
                </a:rPr>
                <a:t>~$5B</a:t>
              </a:r>
            </a:p>
          </p:txBody>
        </p:sp>
        <p:sp>
          <p:nvSpPr>
            <p:cNvPr id="108" name="TextBox 108"/>
            <p:cNvSpPr txBox="1"/>
            <p:nvPr/>
          </p:nvSpPr>
          <p:spPr>
            <a:xfrm>
              <a:off x="4940618" y="3933349"/>
              <a:ext cx="302443" cy="198120"/>
            </a:xfrm>
            <a:prstGeom prst="rect">
              <a:avLst/>
            </a:prstGeom>
            <a:noFill/>
            <a:ln>
              <a:noFill/>
            </a:ln>
          </p:spPr>
          <p:txBody>
            <a:bodyPr wrap="none" lIns="0" tIns="0" rIns="0" bIns="0" anchor="t" anchorCtr="0">
              <a:spAutoFit/>
            </a:bodyPr>
            <a:lstStyle/>
            <a:p>
              <a:pPr algn="l"/>
              <a:r>
                <a:rPr lang="zh-CN" sz="975" dirty="0">
                  <a:solidFill>
                    <a:srgbClr val="4CAF82"/>
                  </a:solidFill>
                  <a:latin typeface="Arial"/>
                  <a:ea typeface="Microsoft YaHei"/>
                  <a:cs typeface="Arial"/>
                </a:rPr>
                <a:t>High</a:t>
              </a:r>
            </a:p>
          </p:txBody>
        </p:sp>
        <p:sp>
          <p:nvSpPr>
            <p:cNvPr id="109" name="TextBox 109"/>
            <p:cNvSpPr txBox="1"/>
            <p:nvPr/>
          </p:nvSpPr>
          <p:spPr>
            <a:xfrm>
              <a:off x="6464618" y="3933349"/>
              <a:ext cx="615720" cy="198120"/>
            </a:xfrm>
            <a:prstGeom prst="rect">
              <a:avLst/>
            </a:prstGeom>
            <a:noFill/>
            <a:ln>
              <a:noFill/>
            </a:ln>
          </p:spPr>
          <p:txBody>
            <a:bodyPr wrap="none" lIns="0" tIns="0" rIns="0" bIns="0" anchor="t" anchorCtr="0">
              <a:spAutoFit/>
            </a:bodyPr>
            <a:lstStyle/>
            <a:p>
              <a:pPr algn="l"/>
              <a:r>
                <a:rPr lang="zh-CN" sz="975" dirty="0">
                  <a:solidFill>
                    <a:srgbClr val="E05C5C"/>
                  </a:solidFill>
                  <a:latin typeface="Arial"/>
                  <a:ea typeface="Microsoft YaHei"/>
                  <a:cs typeface="Arial"/>
                </a:rPr>
                <a:t>Negative</a:t>
              </a:r>
            </a:p>
          </p:txBody>
        </p:sp>
        <p:sp>
          <p:nvSpPr>
            <p:cNvPr id="110" name="TextBox 110"/>
            <p:cNvSpPr txBox="1"/>
            <p:nvPr/>
          </p:nvSpPr>
          <p:spPr>
            <a:xfrm>
              <a:off x="8179118" y="39333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t>
              </a:r>
            </a:p>
          </p:txBody>
        </p:sp>
        <p:sp>
          <p:nvSpPr>
            <p:cNvPr id="111" name="TextBox 111"/>
            <p:cNvSpPr txBox="1"/>
            <p:nvPr/>
          </p:nvSpPr>
          <p:spPr>
            <a:xfrm>
              <a:off x="9512618" y="3933349"/>
              <a:ext cx="10308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a:t>
              </a:r>
            </a:p>
          </p:txBody>
        </p:sp>
        <p:sp>
          <p:nvSpPr>
            <p:cNvPr id="112" name="TextBox 112"/>
            <p:cNvSpPr txBox="1"/>
            <p:nvPr/>
          </p:nvSpPr>
          <p:spPr>
            <a:xfrm>
              <a:off x="10751820" y="3941445"/>
              <a:ext cx="785241" cy="182880"/>
            </a:xfrm>
            <a:prstGeom prst="rect">
              <a:avLst/>
            </a:prstGeom>
            <a:noFill/>
            <a:ln>
              <a:noFill/>
            </a:ln>
          </p:spPr>
          <p:txBody>
            <a:bodyPr wrap="none" lIns="0" tIns="0" rIns="0" bIns="0" anchor="t" anchorCtr="0">
              <a:spAutoFit/>
            </a:bodyPr>
            <a:lstStyle/>
            <a:p>
              <a:pPr algn="l"/>
              <a:r>
                <a:rPr lang="zh-CN" sz="900" dirty="0">
                  <a:solidFill>
                    <a:srgbClr val="8899BB"/>
                  </a:solidFill>
                  <a:latin typeface="Arial"/>
                  <a:ea typeface="Microsoft YaHei"/>
                  <a:cs typeface="Arial"/>
                </a:rPr>
                <a:t>Early-stage</a:t>
              </a:r>
            </a:p>
          </p:txBody>
        </p:sp>
      </p:grpSp>
      <p:grpSp>
        <p:nvGrpSpPr>
          <p:cNvPr id="120" name="Group 120"/>
          <p:cNvGrpSpPr/>
          <p:nvPr/>
        </p:nvGrpSpPr>
        <p:grpSpPr>
          <a:xfrm>
            <a:off x="571500" y="4305300"/>
            <a:ext cx="11485899" cy="990600"/>
            <a:chOff x="571500" y="4305300"/>
            <a:chExt cx="11485899" cy="990600"/>
          </a:xfrm>
        </p:grpSpPr>
        <p:sp>
          <p:nvSpPr>
            <p:cNvPr id="114" name="Rectangle 114"/>
            <p:cNvSpPr/>
            <p:nvPr/>
          </p:nvSpPr>
          <p:spPr>
            <a:xfrm>
              <a:off x="571500" y="4305300"/>
              <a:ext cx="11049000" cy="9525"/>
            </a:xfrm>
            <a:prstGeom prst="rect">
              <a:avLst/>
            </a:prstGeom>
            <a:solidFill>
              <a:srgbClr val="2A3A5C"/>
            </a:solidFill>
            <a:ln>
              <a:noFill/>
            </a:ln>
          </p:spPr>
        </p:sp>
        <p:sp>
          <p:nvSpPr>
            <p:cNvPr id="115" name="TextBox 115"/>
            <p:cNvSpPr txBox="1"/>
            <p:nvPr/>
          </p:nvSpPr>
          <p:spPr>
            <a:xfrm>
              <a:off x="749618" y="4466749"/>
              <a:ext cx="1131203"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VALUATION TAKE</a:t>
              </a:r>
            </a:p>
          </p:txBody>
        </p:sp>
        <p:sp>
          <p:nvSpPr>
            <p:cNvPr id="116" name="Rectangle 116"/>
            <p:cNvSpPr/>
            <p:nvPr/>
          </p:nvSpPr>
          <p:spPr>
            <a:xfrm>
              <a:off x="571500" y="4686300"/>
              <a:ext cx="11049000" cy="609600"/>
            </a:xfrm>
            <a:prstGeom prst="roundRect">
              <a:avLst>
                <a:gd name="adj" fmla="val 6250"/>
              </a:avLst>
            </a:prstGeom>
            <a:solidFill>
              <a:srgbClr val="131B30"/>
            </a:solidFill>
            <a:ln>
              <a:noFill/>
            </a:ln>
          </p:spPr>
        </p:sp>
        <p:sp>
          <p:nvSpPr>
            <p:cNvPr id="117" name="Rectangle 117"/>
            <p:cNvSpPr/>
            <p:nvPr/>
          </p:nvSpPr>
          <p:spPr>
            <a:xfrm>
              <a:off x="571500" y="4686300"/>
              <a:ext cx="38100" cy="609600"/>
            </a:xfrm>
            <a:prstGeom prst="rect">
              <a:avLst/>
            </a:prstGeom>
            <a:solidFill>
              <a:srgbClr val="E05C5C"/>
            </a:solidFill>
            <a:ln>
              <a:noFill/>
            </a:ln>
          </p:spPr>
        </p:sp>
        <p:sp>
          <p:nvSpPr>
            <p:cNvPr id="118" name="TextBox 118"/>
            <p:cNvSpPr txBox="1"/>
            <p:nvPr/>
          </p:nvSpPr>
          <p:spPr>
            <a:xfrm>
              <a:off x="728662" y="4812506"/>
              <a:ext cx="11328737" cy="228600"/>
            </a:xfrm>
            <a:prstGeom prst="rect">
              <a:avLst/>
            </a:prstGeom>
            <a:noFill/>
            <a:ln>
              <a:noFill/>
            </a:ln>
          </p:spPr>
          <p:txBody>
            <a:bodyPr wrap="none" lIns="0" tIns="0" rIns="0" bIns="0" anchor="t" anchorCtr="0">
              <a:spAutoFit/>
            </a:bodyPr>
            <a:lstStyle/>
            <a:p>
              <a:pPr algn="l"/>
              <a:r>
                <a:rPr lang="zh-CN" sz="1125" b="1" dirty="0">
                  <a:solidFill>
                    <a:srgbClr val="E8EAF0"/>
                  </a:solidFill>
                  <a:latin typeface="Arial"/>
                  <a:ea typeface="Microsoft YaHei"/>
                  <a:cs typeface="Arial"/>
                </a:rPr>
                <a:t>149x forward P/E is justified only by the Robotaxi/AI optionality. Without Robotaxi: fair value $40-50/share (~$150-200B market cap).</a:t>
              </a:r>
            </a:p>
          </p:txBody>
        </p:sp>
        <p:sp>
          <p:nvSpPr>
            <p:cNvPr id="119" name="TextBox 119"/>
            <p:cNvSpPr txBox="1"/>
            <p:nvPr/>
          </p:nvSpPr>
          <p:spPr>
            <a:xfrm>
              <a:off x="729615" y="5049202"/>
              <a:ext cx="9342834" cy="213360"/>
            </a:xfrm>
            <a:prstGeom prst="rect">
              <a:avLst/>
            </a:prstGeom>
            <a:noFill/>
            <a:ln>
              <a:noFill/>
            </a:ln>
          </p:spPr>
          <p:txBody>
            <a:bodyPr wrap="none" lIns="0" tIns="0" rIns="0" bIns="0" anchor="t" anchorCtr="0">
              <a:spAutoFit/>
            </a:bodyPr>
            <a:lstStyle/>
            <a:p>
              <a:pPr algn="l"/>
              <a:r>
                <a:rPr lang="zh-CN" sz="1050" dirty="0">
                  <a:solidFill>
                    <a:srgbClr val="8899BB"/>
                  </a:solidFill>
                  <a:latin typeface="Arial"/>
                  <a:ea typeface="Microsoft YaHei"/>
                  <a:cs typeface="Arial"/>
                </a:rPr>
                <a:t>Probability-weighted EV of $408 is only +7.6% above current $379 — poor risk/reward while Stage 3 technical setup persists.</a:t>
              </a:r>
            </a:p>
          </p:txBody>
        </p:sp>
      </p:grpSp>
      <p:grpSp>
        <p:nvGrpSpPr>
          <p:cNvPr id="125" name="Group 125"/>
          <p:cNvGrpSpPr/>
          <p:nvPr/>
        </p:nvGrpSpPr>
        <p:grpSpPr>
          <a:xfrm>
            <a:off x="0" y="6324600"/>
            <a:ext cx="12192000" cy="533400"/>
            <a:chOff x="0" y="6324600"/>
            <a:chExt cx="12192000" cy="533400"/>
          </a:xfrm>
        </p:grpSpPr>
        <p:sp>
          <p:nvSpPr>
            <p:cNvPr id="121" name="Rectangle 121"/>
            <p:cNvSpPr/>
            <p:nvPr/>
          </p:nvSpPr>
          <p:spPr>
            <a:xfrm>
              <a:off x="0" y="6324600"/>
              <a:ext cx="12192000" cy="533400"/>
            </a:xfrm>
            <a:prstGeom prst="rect">
              <a:avLst/>
            </a:prstGeom>
            <a:solidFill>
              <a:srgbClr val="131B30"/>
            </a:solidFill>
            <a:ln>
              <a:noFill/>
            </a:ln>
          </p:spPr>
        </p:sp>
        <p:sp>
          <p:nvSpPr>
            <p:cNvPr id="122" name="Rectangle 122"/>
            <p:cNvSpPr/>
            <p:nvPr/>
          </p:nvSpPr>
          <p:spPr>
            <a:xfrm>
              <a:off x="0" y="6324600"/>
              <a:ext cx="12192000" cy="9525"/>
            </a:xfrm>
            <a:prstGeom prst="rect">
              <a:avLst/>
            </a:prstGeom>
            <a:solidFill>
              <a:srgbClr val="F5C842">
                <a:alpha val="35000"/>
              </a:srgbClr>
            </a:solidFill>
            <a:ln>
              <a:noFill/>
            </a:ln>
          </p:spPr>
        </p:sp>
        <p:sp>
          <p:nvSpPr>
            <p:cNvPr id="123" name="TextBox 123"/>
            <p:cNvSpPr txBox="1"/>
            <p:nvPr/>
          </p:nvSpPr>
          <p:spPr>
            <a:xfrm>
              <a:off x="749618" y="6533674"/>
              <a:ext cx="149147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Valuation &amp; Scenarios</a:t>
              </a:r>
            </a:p>
          </p:txBody>
        </p:sp>
        <p:sp>
          <p:nvSpPr>
            <p:cNvPr id="124" name="TextBox 124"/>
            <p:cNvSpPr txBox="1"/>
            <p:nvPr/>
          </p:nvSpPr>
          <p:spPr>
            <a:xfrm>
              <a:off x="11332178" y="6533674"/>
              <a:ext cx="11020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tretch(across)">
                                      <p:cBhvr>
                                        <p:cTn id="11" dur="400"/>
                                        <p:tgtEl>
                                          <p:spTgt spid="14"/>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400"/>
                                        <p:tgtEl>
                                          <p:spTgt spid="32"/>
                                        </p:tgtEl>
                                      </p:cBhvr>
                                    </p:animEffect>
                                  </p:childTnLst>
                                </p:cTn>
                              </p:par>
                            </p:childTnLst>
                          </p:cTn>
                        </p:par>
                        <p:par>
                          <p:cTn id="16" fill="hold">
                            <p:stCondLst>
                              <p:cond delay="2700"/>
                            </p:stCondLst>
                            <p:childTnLst>
                              <p:par>
                                <p:cTn id="17" presetID="19" presetClass="entr" presetSubtype="0" fill="hold" nodeType="after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wheel(1)">
                                      <p:cBhvr>
                                        <p:cTn id="19" dur="400"/>
                                        <p:tgtEl>
                                          <p:spTgt spid="41"/>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image">
                                      <p:cBhvr>
                                        <p:cTn id="23" dur="400"/>
                                        <p:tgtEl>
                                          <p:spTgt spid="50"/>
                                        </p:tgtEl>
                                      </p:cBhvr>
                                    </p:animEffect>
                                  </p:childTnLst>
                                </p:cTn>
                              </p:par>
                            </p:childTnLst>
                          </p:cTn>
                        </p:par>
                        <p:par>
                          <p:cTn id="24" fill="hold">
                            <p:stCondLst>
                              <p:cond delay="4500"/>
                            </p:stCondLst>
                            <p:childTnLst>
                              <p:par>
                                <p:cTn id="25" presetID="3" presetClass="entr" presetSubtype="10"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Effect transition="in" filter="blinds(horizontal)">
                                      <p:cBhvr>
                                        <p:cTn id="27" dur="400"/>
                                        <p:tgtEl>
                                          <p:spTgt spid="59"/>
                                        </p:tgtEl>
                                      </p:cBhvr>
                                    </p:animEffect>
                                  </p:childTnLst>
                                </p:cTn>
                              </p:par>
                            </p:childTnLst>
                          </p:cTn>
                        </p:par>
                        <p:par>
                          <p:cTn id="28" fill="hold">
                            <p:stCondLst>
                              <p:cond delay="5400"/>
                            </p:stCondLst>
                            <p:childTnLst>
                              <p:par>
                                <p:cTn id="29" presetID="5" presetClass="entr" presetSubtype="6" fill="hold" nodeType="afterEffect">
                                  <p:stCondLst>
                                    <p:cond delay="0"/>
                                  </p:stCondLst>
                                  <p:childTnLst>
                                    <p:set>
                                      <p:cBhvr>
                                        <p:cTn id="30" dur="1" fill="hold">
                                          <p:stCondLst>
                                            <p:cond delay="0"/>
                                          </p:stCondLst>
                                        </p:cTn>
                                        <p:tgtEl>
                                          <p:spTgt spid="62"/>
                                        </p:tgtEl>
                                        <p:attrNameLst>
                                          <p:attrName>style.visibility</p:attrName>
                                        </p:attrNameLst>
                                      </p:cBhvr>
                                      <p:to>
                                        <p:strVal val="visible"/>
                                      </p:to>
                                    </p:set>
                                    <p:animEffect transition="in" filter="checkerboard(across)">
                                      <p:cBhvr>
                                        <p:cTn id="31" dur="400"/>
                                        <p:tgtEl>
                                          <p:spTgt spid="62"/>
                                        </p:tgtEl>
                                      </p:cBhvr>
                                    </p:animEffect>
                                  </p:childTnLst>
                                </p:cTn>
                              </p:par>
                            </p:childTnLst>
                          </p:cTn>
                        </p:par>
                        <p:par>
                          <p:cTn id="32" fill="hold">
                            <p:stCondLst>
                              <p:cond delay="6300"/>
                            </p:stCondLst>
                            <p:childTnLst>
                              <p:par>
                                <p:cTn id="33" presetID="9" presetClass="entr" presetSubtype="0" fill="hold" nodeType="afterEffect">
                                  <p:stCondLst>
                                    <p:cond delay="0"/>
                                  </p:stCondLst>
                                  <p:childTnLst>
                                    <p:set>
                                      <p:cBhvr>
                                        <p:cTn id="34" dur="1" fill="hold">
                                          <p:stCondLst>
                                            <p:cond delay="0"/>
                                          </p:stCondLst>
                                        </p:cTn>
                                        <p:tgtEl>
                                          <p:spTgt spid="83"/>
                                        </p:tgtEl>
                                        <p:attrNameLst>
                                          <p:attrName>style.visibility</p:attrName>
                                        </p:attrNameLst>
                                      </p:cBhvr>
                                      <p:to>
                                        <p:strVal val="visible"/>
                                      </p:to>
                                    </p:set>
                                    <p:animEffect transition="in" filter="dissolve">
                                      <p:cBhvr>
                                        <p:cTn id="35" dur="400"/>
                                        <p:tgtEl>
                                          <p:spTgt spid="83"/>
                                        </p:tgtEl>
                                      </p:cBhvr>
                                    </p:animEffect>
                                  </p:childTnLst>
                                </p:cTn>
                              </p:par>
                            </p:childTnLst>
                          </p:cTn>
                        </p:par>
                        <p:par>
                          <p:cTn id="36" fill="hold">
                            <p:stCondLst>
                              <p:cond delay="7200"/>
                            </p:stCondLst>
                            <p:childTnLst>
                              <p:par>
                                <p:cTn id="37" presetID="2" presetClass="entr" presetSubtype="4" fill="hold" nodeType="afterEffect">
                                  <p:stCondLst>
                                    <p:cond delay="0"/>
                                  </p:stCondLst>
                                  <p:childTnLst>
                                    <p:set>
                                      <p:cBhvr>
                                        <p:cTn id="38" dur="1" fill="hold">
                                          <p:stCondLst>
                                            <p:cond delay="0"/>
                                          </p:stCondLst>
                                        </p:cTn>
                                        <p:tgtEl>
                                          <p:spTgt spid="93"/>
                                        </p:tgtEl>
                                        <p:attrNameLst>
                                          <p:attrName>style.visibility</p:attrName>
                                        </p:attrNameLst>
                                      </p:cBhvr>
                                      <p:to>
                                        <p:strVal val="visible"/>
                                      </p:to>
                                    </p:set>
                                    <p:animEffect transition="in" filter="slide(fromBottom)">
                                      <p:cBhvr>
                                        <p:cTn id="39" dur="400"/>
                                        <p:tgtEl>
                                          <p:spTgt spid="93"/>
                                        </p:tgtEl>
                                      </p:cBhvr>
                                    </p:animEffect>
                                  </p:childTnLst>
                                </p:cTn>
                              </p:par>
                            </p:childTnLst>
                          </p:cTn>
                        </p:par>
                        <p:par>
                          <p:cTn id="40" fill="hold">
                            <p:stCondLst>
                              <p:cond delay="8100"/>
                            </p:stCondLst>
                            <p:childTnLst>
                              <p:par>
                                <p:cTn id="41" presetID="42" presetClass="entr" presetSubtype="8" fill="hold" nodeType="afterEffect">
                                  <p:stCondLst>
                                    <p:cond delay="0"/>
                                  </p:stCondLst>
                                  <p:childTnLst>
                                    <p:set>
                                      <p:cBhvr>
                                        <p:cTn id="42" dur="1" fill="hold">
                                          <p:stCondLst>
                                            <p:cond delay="0"/>
                                          </p:stCondLst>
                                        </p:cTn>
                                        <p:tgtEl>
                                          <p:spTgt spid="103"/>
                                        </p:tgtEl>
                                        <p:attrNameLst>
                                          <p:attrName>style.visibility</p:attrName>
                                        </p:attrNameLst>
                                      </p:cBhvr>
                                      <p:to>
                                        <p:strVal val="visible"/>
                                      </p:to>
                                    </p:set>
                                    <p:animEffect transition="in" filter="slide(fromLeft)">
                                      <p:cBhvr>
                                        <p:cTn id="43" dur="400"/>
                                        <p:tgtEl>
                                          <p:spTgt spid="103"/>
                                        </p:tgtEl>
                                      </p:cBhvr>
                                    </p:animEffect>
                                  </p:childTnLst>
                                </p:cTn>
                              </p:par>
                            </p:childTnLst>
                          </p:cTn>
                        </p:par>
                        <p:par>
                          <p:cTn id="44" fill="hold">
                            <p:stCondLst>
                              <p:cond delay="9000"/>
                            </p:stCondLst>
                            <p:childTnLst>
                              <p:par>
                                <p:cTn id="45" presetID="14" presetClass="entr" presetSubtype="10" fill="hold" nodeType="afterEffect">
                                  <p:stCondLst>
                                    <p:cond delay="0"/>
                                  </p:stCondLst>
                                  <p:childTnLst>
                                    <p:set>
                                      <p:cBhvr>
                                        <p:cTn id="46" dur="1" fill="hold">
                                          <p:stCondLst>
                                            <p:cond delay="0"/>
                                          </p:stCondLst>
                                        </p:cTn>
                                        <p:tgtEl>
                                          <p:spTgt spid="113"/>
                                        </p:tgtEl>
                                        <p:attrNameLst>
                                          <p:attrName>style.visibility</p:attrName>
                                        </p:attrNameLst>
                                      </p:cBhvr>
                                      <p:to>
                                        <p:strVal val="visible"/>
                                      </p:to>
                                    </p:set>
                                    <p:animEffect transition="in" filter="randombar(horizontal)">
                                      <p:cBhvr>
                                        <p:cTn id="47" dur="400"/>
                                        <p:tgtEl>
                                          <p:spTgt spid="113"/>
                                        </p:tgtEl>
                                      </p:cBhvr>
                                    </p:animEffect>
                                  </p:childTnLst>
                                </p:cTn>
                              </p:par>
                            </p:childTnLst>
                          </p:cTn>
                        </p:par>
                        <p:par>
                          <p:cTn id="48" fill="hold">
                            <p:stCondLst>
                              <p:cond delay="9900"/>
                            </p:stCondLst>
                            <p:childTnLst>
                              <p:par>
                                <p:cTn id="49" presetID="4" presetClass="entr" presetSubtype="0" fill="hold" nodeType="after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box(in)">
                                      <p:cBhvr>
                                        <p:cTn id="51" dur="400"/>
                                        <p:tgtEl>
                                          <p:spTgt spid="120"/>
                                        </p:tgtEl>
                                      </p:cBhvr>
                                    </p:animEffect>
                                  </p:childTnLst>
                                </p:cTn>
                              </p:par>
                            </p:childTnLst>
                          </p:cTn>
                        </p:par>
                        <p:par>
                          <p:cTn id="52" fill="hold">
                            <p:stCondLst>
                              <p:cond delay="10800"/>
                            </p:stCondLst>
                            <p:childTnLst>
                              <p:par>
                                <p:cTn id="53" presetID="16" presetClass="entr" presetSubtype="21" fill="hold" nodeType="afterEffect">
                                  <p:stCondLst>
                                    <p:cond delay="0"/>
                                  </p:stCondLst>
                                  <p:childTnLst>
                                    <p:set>
                                      <p:cBhvr>
                                        <p:cTn id="54" dur="1" fill="hold">
                                          <p:stCondLst>
                                            <p:cond delay="0"/>
                                          </p:stCondLst>
                                        </p:cTn>
                                        <p:tgtEl>
                                          <p:spTgt spid="125"/>
                                        </p:tgtEl>
                                        <p:attrNameLst>
                                          <p:attrName>style.visibility</p:attrName>
                                        </p:attrNameLst>
                                      </p:cBhvr>
                                      <p:to>
                                        <p:strVal val="visible"/>
                                      </p:to>
                                    </p:set>
                                    <p:animEffect transition="in" filter="barn(inVertical)">
                                      <p:cBhvr>
                                        <p:cTn id="55"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32" grpId="0"/>
      <p:bldP spid="41" grpId="0"/>
      <p:bldP spid="50" grpId="0"/>
      <p:bldP spid="59" grpId="0"/>
      <p:bldP spid="62" grpId="0"/>
      <p:bldP spid="83" grpId="0"/>
      <p:bldP spid="93" grpId="0"/>
      <p:bldP spid="103" grpId="0"/>
      <p:bldP spid="113" grpId="0"/>
      <p:bldP spid="120" grpId="0"/>
      <p:bldP spid="1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546492"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Scenario Analysis</a:t>
              </a:r>
            </a:p>
          </p:txBody>
        </p:sp>
      </p:grpSp>
      <p:grpSp>
        <p:nvGrpSpPr>
          <p:cNvPr id="25" name="Group 25"/>
          <p:cNvGrpSpPr/>
          <p:nvPr/>
        </p:nvGrpSpPr>
        <p:grpSpPr>
          <a:xfrm>
            <a:off x="571500" y="838200"/>
            <a:ext cx="3409950" cy="5334000"/>
            <a:chOff x="571500" y="838200"/>
            <a:chExt cx="3409950" cy="5334000"/>
          </a:xfrm>
        </p:grpSpPr>
        <p:sp>
          <p:nvSpPr>
            <p:cNvPr id="9" name="Rectangle 9"/>
            <p:cNvSpPr/>
            <p:nvPr/>
          </p:nvSpPr>
          <p:spPr>
            <a:xfrm>
              <a:off x="571500" y="838200"/>
              <a:ext cx="3409950" cy="5334000"/>
            </a:xfrm>
            <a:prstGeom prst="roundRect">
              <a:avLst>
                <a:gd name="adj" fmla="val 1117"/>
              </a:avLst>
            </a:prstGeom>
            <a:solidFill>
              <a:srgbClr val="131B30"/>
            </a:solidFill>
            <a:ln>
              <a:noFill/>
            </a:ln>
          </p:spPr>
        </p:sp>
        <p:sp>
          <p:nvSpPr>
            <p:cNvPr id="10" name="Rectangle 10"/>
            <p:cNvSpPr/>
            <p:nvPr/>
          </p:nvSpPr>
          <p:spPr>
            <a:xfrm>
              <a:off x="571500" y="838200"/>
              <a:ext cx="3409950" cy="38100"/>
            </a:xfrm>
            <a:prstGeom prst="rect">
              <a:avLst/>
            </a:prstGeom>
            <a:solidFill>
              <a:srgbClr val="4CAF82"/>
            </a:solidFill>
            <a:ln>
              <a:noFill/>
            </a:ln>
          </p:spPr>
        </p:sp>
        <p:sp>
          <p:nvSpPr>
            <p:cNvPr id="11" name="TextBox 11"/>
            <p:cNvSpPr txBox="1"/>
            <p:nvPr/>
          </p:nvSpPr>
          <p:spPr>
            <a:xfrm>
              <a:off x="1782344" y="1111568"/>
              <a:ext cx="1007312" cy="274320"/>
            </a:xfrm>
            <a:prstGeom prst="rect">
              <a:avLst/>
            </a:prstGeom>
            <a:noFill/>
            <a:ln>
              <a:noFill/>
            </a:ln>
          </p:spPr>
          <p:txBody>
            <a:bodyPr wrap="none" lIns="0" tIns="0" rIns="0" bIns="0" anchor="t" anchorCtr="0">
              <a:spAutoFit/>
            </a:bodyPr>
            <a:lstStyle/>
            <a:p>
              <a:pPr algn="ctr"/>
              <a:r>
                <a:rPr lang="zh-CN" sz="1350" b="1" dirty="0">
                  <a:solidFill>
                    <a:srgbClr val="4CAF82"/>
                  </a:solidFill>
                  <a:latin typeface="Arial"/>
                  <a:ea typeface="Microsoft YaHei"/>
                  <a:cs typeface="Arial"/>
                </a:rPr>
                <a:t>BULL CASE</a:t>
              </a:r>
            </a:p>
          </p:txBody>
        </p:sp>
        <p:sp>
          <p:nvSpPr>
            <p:cNvPr id="12" name="Rectangle 12"/>
            <p:cNvSpPr/>
            <p:nvPr/>
          </p:nvSpPr>
          <p:spPr>
            <a:xfrm>
              <a:off x="1524000" y="1390650"/>
              <a:ext cx="1524000" cy="266700"/>
            </a:xfrm>
            <a:prstGeom prst="roundRect">
              <a:avLst>
                <a:gd name="adj" fmla="val 50000"/>
              </a:avLst>
            </a:prstGeom>
            <a:solidFill>
              <a:srgbClr val="1A3A28"/>
            </a:solidFill>
            <a:ln>
              <a:noFill/>
            </a:ln>
          </p:spPr>
        </p:sp>
        <p:sp>
          <p:nvSpPr>
            <p:cNvPr id="13" name="TextBox 13"/>
            <p:cNvSpPr txBox="1"/>
            <p:nvPr/>
          </p:nvSpPr>
          <p:spPr>
            <a:xfrm>
              <a:off x="1688967" y="1458278"/>
              <a:ext cx="1194066" cy="213360"/>
            </a:xfrm>
            <a:prstGeom prst="rect">
              <a:avLst/>
            </a:prstGeom>
            <a:noFill/>
            <a:ln>
              <a:noFill/>
            </a:ln>
          </p:spPr>
          <p:txBody>
            <a:bodyPr wrap="none" lIns="0" tIns="0" rIns="0" bIns="0" anchor="t" anchorCtr="0">
              <a:spAutoFit/>
            </a:bodyPr>
            <a:lstStyle/>
            <a:p>
              <a:pPr algn="ctr"/>
              <a:r>
                <a:rPr lang="zh-CN" sz="1050" b="1" dirty="0">
                  <a:solidFill>
                    <a:srgbClr val="4CAF82"/>
                  </a:solidFill>
                  <a:latin typeface="Arial"/>
                  <a:ea typeface="Microsoft YaHei"/>
                  <a:cs typeface="Arial"/>
                </a:rPr>
                <a:t>20% Probability</a:t>
              </a:r>
            </a:p>
          </p:txBody>
        </p:sp>
        <p:sp>
          <p:nvSpPr>
            <p:cNvPr id="14" name="TextBox 14"/>
            <p:cNvSpPr txBox="1"/>
            <p:nvPr/>
          </p:nvSpPr>
          <p:spPr>
            <a:xfrm>
              <a:off x="1578588" y="1674495"/>
              <a:ext cx="1414824" cy="792480"/>
            </a:xfrm>
            <a:prstGeom prst="rect">
              <a:avLst/>
            </a:prstGeom>
            <a:noFill/>
            <a:ln>
              <a:noFill/>
            </a:ln>
          </p:spPr>
          <p:txBody>
            <a:bodyPr wrap="none" lIns="0" tIns="0" rIns="0" bIns="0" anchor="t" anchorCtr="0">
              <a:spAutoFit/>
            </a:bodyPr>
            <a:lstStyle/>
            <a:p>
              <a:pPr algn="ctr"/>
              <a:r>
                <a:rPr lang="zh-CN" sz="3900" b="1" dirty="0">
                  <a:solidFill>
                    <a:srgbClr val="F5C842"/>
                  </a:solidFill>
                  <a:latin typeface="Arial"/>
                  <a:ea typeface="Microsoft YaHei"/>
                  <a:cs typeface="Arial"/>
                </a:rPr>
                <a:t>$650</a:t>
              </a:r>
            </a:p>
          </p:txBody>
        </p:sp>
        <p:sp>
          <p:nvSpPr>
            <p:cNvPr id="15" name="TextBox 15"/>
            <p:cNvSpPr txBox="1"/>
            <p:nvPr/>
          </p:nvSpPr>
          <p:spPr>
            <a:xfrm>
              <a:off x="1994006" y="2244090"/>
              <a:ext cx="583987" cy="365760"/>
            </a:xfrm>
            <a:prstGeom prst="rect">
              <a:avLst/>
            </a:prstGeom>
            <a:noFill/>
            <a:ln>
              <a:noFill/>
            </a:ln>
          </p:spPr>
          <p:txBody>
            <a:bodyPr wrap="none" lIns="0" tIns="0" rIns="0" bIns="0" anchor="t" anchorCtr="0">
              <a:spAutoFit/>
            </a:bodyPr>
            <a:lstStyle/>
            <a:p>
              <a:pPr algn="ctr"/>
              <a:r>
                <a:rPr lang="zh-CN" sz="1800" b="1" dirty="0">
                  <a:solidFill>
                    <a:srgbClr val="4CAF82"/>
                  </a:solidFill>
                  <a:latin typeface="Arial"/>
                  <a:ea typeface="Microsoft YaHei"/>
                  <a:cs typeface="Arial"/>
                </a:rPr>
                <a:t>+71%</a:t>
              </a:r>
            </a:p>
          </p:txBody>
        </p:sp>
        <p:sp>
          <p:nvSpPr>
            <p:cNvPr id="16" name="Rectangle 16"/>
            <p:cNvSpPr/>
            <p:nvPr/>
          </p:nvSpPr>
          <p:spPr>
            <a:xfrm>
              <a:off x="952500" y="2590800"/>
              <a:ext cx="2667000" cy="9525"/>
            </a:xfrm>
            <a:prstGeom prst="rect">
              <a:avLst/>
            </a:prstGeom>
            <a:solidFill>
              <a:srgbClr val="2A3A5C"/>
            </a:solidFill>
            <a:ln>
              <a:noFill/>
            </a:ln>
          </p:spPr>
        </p:sp>
        <p:sp>
          <p:nvSpPr>
            <p:cNvPr id="17" name="TextBox 17"/>
            <p:cNvSpPr txBox="1"/>
            <p:nvPr/>
          </p:nvSpPr>
          <p:spPr>
            <a:xfrm>
              <a:off x="1444145" y="2847499"/>
              <a:ext cx="1683710"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Robotaxi Austin success</a:t>
              </a:r>
            </a:p>
          </p:txBody>
        </p:sp>
        <p:sp>
          <p:nvSpPr>
            <p:cNvPr id="18" name="TextBox 18"/>
            <p:cNvSpPr txBox="1"/>
            <p:nvPr/>
          </p:nvSpPr>
          <p:spPr>
            <a:xfrm>
              <a:off x="1394305" y="3037999"/>
              <a:ext cx="1783390"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 Optimus Phase 2 orders</a:t>
              </a:r>
            </a:p>
          </p:txBody>
        </p:sp>
        <p:sp>
          <p:nvSpPr>
            <p:cNvPr id="19" name="TextBox 19"/>
            <p:cNvSpPr txBox="1"/>
            <p:nvPr/>
          </p:nvSpPr>
          <p:spPr>
            <a:xfrm>
              <a:off x="1508224" y="3247549"/>
              <a:ext cx="1555552"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Auto GM recovers 18%+</a:t>
              </a:r>
            </a:p>
          </p:txBody>
        </p:sp>
        <p:sp>
          <p:nvSpPr>
            <p:cNvPr id="20" name="TextBox 20"/>
            <p:cNvSpPr txBox="1"/>
            <p:nvPr/>
          </p:nvSpPr>
          <p:spPr>
            <a:xfrm>
              <a:off x="1308866" y="3457099"/>
              <a:ext cx="1954268"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EPS $4+, market gives 150x+</a:t>
              </a:r>
            </a:p>
          </p:txBody>
        </p:sp>
        <p:sp>
          <p:nvSpPr>
            <p:cNvPr id="21" name="Rectangle 21"/>
            <p:cNvSpPr/>
            <p:nvPr/>
          </p:nvSpPr>
          <p:spPr>
            <a:xfrm>
              <a:off x="952500" y="3790950"/>
              <a:ext cx="2667000" cy="9525"/>
            </a:xfrm>
            <a:prstGeom prst="rect">
              <a:avLst/>
            </a:prstGeom>
            <a:solidFill>
              <a:srgbClr val="2A3A5C"/>
            </a:solidFill>
            <a:ln>
              <a:noFill/>
            </a:ln>
          </p:spPr>
        </p:sp>
        <p:sp>
          <p:nvSpPr>
            <p:cNvPr id="22" name="TextBox 22"/>
            <p:cNvSpPr txBox="1"/>
            <p:nvPr/>
          </p:nvSpPr>
          <p:spPr>
            <a:xfrm>
              <a:off x="1985794" y="4009549"/>
              <a:ext cx="600412"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FY2027E</a:t>
              </a:r>
            </a:p>
          </p:txBody>
        </p:sp>
        <p:sp>
          <p:nvSpPr>
            <p:cNvPr id="23" name="TextBox 23"/>
            <p:cNvSpPr txBox="1"/>
            <p:nvPr/>
          </p:nvSpPr>
          <p:spPr>
            <a:xfrm>
              <a:off x="1760982" y="4219099"/>
              <a:ext cx="1050036"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Revenue: $150B</a:t>
              </a:r>
            </a:p>
          </p:txBody>
        </p:sp>
        <p:sp>
          <p:nvSpPr>
            <p:cNvPr id="24" name="TextBox 24"/>
            <p:cNvSpPr txBox="1"/>
            <p:nvPr/>
          </p:nvSpPr>
          <p:spPr>
            <a:xfrm>
              <a:off x="1344466" y="4409599"/>
              <a:ext cx="1883069"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EPS: $4.00 · Multiple: 162x</a:t>
              </a:r>
            </a:p>
          </p:txBody>
        </p:sp>
      </p:grpSp>
      <p:grpSp>
        <p:nvGrpSpPr>
          <p:cNvPr id="42" name="Group 42"/>
          <p:cNvGrpSpPr/>
          <p:nvPr/>
        </p:nvGrpSpPr>
        <p:grpSpPr>
          <a:xfrm>
            <a:off x="4391025" y="838200"/>
            <a:ext cx="3409950" cy="5334000"/>
            <a:chOff x="4391025" y="838200"/>
            <a:chExt cx="3409950" cy="5334000"/>
          </a:xfrm>
        </p:grpSpPr>
        <p:sp>
          <p:nvSpPr>
            <p:cNvPr id="26" name="Rectangle 26"/>
            <p:cNvSpPr/>
            <p:nvPr/>
          </p:nvSpPr>
          <p:spPr>
            <a:xfrm>
              <a:off x="4391025" y="838200"/>
              <a:ext cx="3409950" cy="5334000"/>
            </a:xfrm>
            <a:prstGeom prst="roundRect">
              <a:avLst>
                <a:gd name="adj" fmla="val 1117"/>
              </a:avLst>
            </a:prstGeom>
            <a:solidFill>
              <a:srgbClr val="131B30"/>
            </a:solidFill>
            <a:ln>
              <a:noFill/>
            </a:ln>
          </p:spPr>
        </p:sp>
        <p:sp>
          <p:nvSpPr>
            <p:cNvPr id="27" name="Rectangle 27"/>
            <p:cNvSpPr/>
            <p:nvPr/>
          </p:nvSpPr>
          <p:spPr>
            <a:xfrm>
              <a:off x="4391025" y="838200"/>
              <a:ext cx="3409950" cy="38100"/>
            </a:xfrm>
            <a:prstGeom prst="rect">
              <a:avLst/>
            </a:prstGeom>
            <a:solidFill>
              <a:srgbClr val="4A90D9"/>
            </a:solidFill>
            <a:ln>
              <a:noFill/>
            </a:ln>
          </p:spPr>
        </p:sp>
        <p:sp>
          <p:nvSpPr>
            <p:cNvPr id="28" name="TextBox 28"/>
            <p:cNvSpPr txBox="1"/>
            <p:nvPr/>
          </p:nvSpPr>
          <p:spPr>
            <a:xfrm>
              <a:off x="5592344" y="1111568"/>
              <a:ext cx="1007312" cy="274320"/>
            </a:xfrm>
            <a:prstGeom prst="rect">
              <a:avLst/>
            </a:prstGeom>
            <a:noFill/>
            <a:ln>
              <a:noFill/>
            </a:ln>
          </p:spPr>
          <p:txBody>
            <a:bodyPr wrap="none" lIns="0" tIns="0" rIns="0" bIns="0" anchor="t" anchorCtr="0">
              <a:spAutoFit/>
            </a:bodyPr>
            <a:lstStyle/>
            <a:p>
              <a:pPr algn="ctr"/>
              <a:r>
                <a:rPr lang="zh-CN" sz="1350" b="1" dirty="0">
                  <a:solidFill>
                    <a:srgbClr val="4A90D9"/>
                  </a:solidFill>
                  <a:latin typeface="Arial"/>
                  <a:ea typeface="Microsoft YaHei"/>
                  <a:cs typeface="Arial"/>
                </a:rPr>
                <a:t>BASE CASE</a:t>
              </a:r>
            </a:p>
          </p:txBody>
        </p:sp>
        <p:sp>
          <p:nvSpPr>
            <p:cNvPr id="29" name="Rectangle 29"/>
            <p:cNvSpPr/>
            <p:nvPr/>
          </p:nvSpPr>
          <p:spPr>
            <a:xfrm>
              <a:off x="5334000" y="1390650"/>
              <a:ext cx="1524000" cy="266700"/>
            </a:xfrm>
            <a:prstGeom prst="roundRect">
              <a:avLst>
                <a:gd name="adj" fmla="val 50000"/>
              </a:avLst>
            </a:prstGeom>
            <a:solidFill>
              <a:srgbClr val="1A2540"/>
            </a:solidFill>
            <a:ln>
              <a:noFill/>
            </a:ln>
          </p:spPr>
        </p:sp>
        <p:sp>
          <p:nvSpPr>
            <p:cNvPr id="30" name="TextBox 30"/>
            <p:cNvSpPr txBox="1"/>
            <p:nvPr/>
          </p:nvSpPr>
          <p:spPr>
            <a:xfrm>
              <a:off x="5498967" y="1458278"/>
              <a:ext cx="1194066" cy="213360"/>
            </a:xfrm>
            <a:prstGeom prst="rect">
              <a:avLst/>
            </a:prstGeom>
            <a:noFill/>
            <a:ln>
              <a:noFill/>
            </a:ln>
          </p:spPr>
          <p:txBody>
            <a:bodyPr wrap="none" lIns="0" tIns="0" rIns="0" bIns="0" anchor="t" anchorCtr="0">
              <a:spAutoFit/>
            </a:bodyPr>
            <a:lstStyle/>
            <a:p>
              <a:pPr algn="ctr"/>
              <a:r>
                <a:rPr lang="zh-CN" sz="1050" b="1" dirty="0">
                  <a:solidFill>
                    <a:srgbClr val="4A90D9"/>
                  </a:solidFill>
                  <a:latin typeface="Arial"/>
                  <a:ea typeface="Microsoft YaHei"/>
                  <a:cs typeface="Arial"/>
                </a:rPr>
                <a:t>40% Probability</a:t>
              </a:r>
            </a:p>
          </p:txBody>
        </p:sp>
        <p:sp>
          <p:nvSpPr>
            <p:cNvPr id="31" name="TextBox 31"/>
            <p:cNvSpPr txBox="1"/>
            <p:nvPr/>
          </p:nvSpPr>
          <p:spPr>
            <a:xfrm>
              <a:off x="5388588" y="1674495"/>
              <a:ext cx="1414824" cy="792480"/>
            </a:xfrm>
            <a:prstGeom prst="rect">
              <a:avLst/>
            </a:prstGeom>
            <a:noFill/>
            <a:ln>
              <a:noFill/>
            </a:ln>
          </p:spPr>
          <p:txBody>
            <a:bodyPr wrap="none" lIns="0" tIns="0" rIns="0" bIns="0" anchor="t" anchorCtr="0">
              <a:spAutoFit/>
            </a:bodyPr>
            <a:lstStyle/>
            <a:p>
              <a:pPr algn="ctr"/>
              <a:r>
                <a:rPr lang="zh-CN" sz="3900" b="1" dirty="0">
                  <a:solidFill>
                    <a:srgbClr val="F5C842"/>
                  </a:solidFill>
                  <a:latin typeface="Arial"/>
                  <a:ea typeface="Microsoft YaHei"/>
                  <a:cs typeface="Arial"/>
                </a:rPr>
                <a:t>$475</a:t>
              </a:r>
            </a:p>
          </p:txBody>
        </p:sp>
        <p:sp>
          <p:nvSpPr>
            <p:cNvPr id="32" name="TextBox 32"/>
            <p:cNvSpPr txBox="1"/>
            <p:nvPr/>
          </p:nvSpPr>
          <p:spPr>
            <a:xfrm>
              <a:off x="5769502" y="2244090"/>
              <a:ext cx="652996" cy="365760"/>
            </a:xfrm>
            <a:prstGeom prst="rect">
              <a:avLst/>
            </a:prstGeom>
            <a:noFill/>
            <a:ln>
              <a:noFill/>
            </a:ln>
          </p:spPr>
          <p:txBody>
            <a:bodyPr wrap="none" lIns="0" tIns="0" rIns="0" bIns="0" anchor="t" anchorCtr="0">
              <a:spAutoFit/>
            </a:bodyPr>
            <a:lstStyle/>
            <a:p>
              <a:pPr algn="ctr"/>
              <a:r>
                <a:rPr lang="zh-CN" sz="1800" b="1" dirty="0">
                  <a:solidFill>
                    <a:srgbClr val="4A90D9"/>
                  </a:solidFill>
                  <a:latin typeface="Arial"/>
                  <a:ea typeface="Microsoft YaHei"/>
                  <a:cs typeface="Arial"/>
                </a:rPr>
                <a:t>+25%</a:t>
              </a:r>
            </a:p>
          </p:txBody>
        </p:sp>
        <p:sp>
          <p:nvSpPr>
            <p:cNvPr id="33" name="Rectangle 33"/>
            <p:cNvSpPr/>
            <p:nvPr/>
          </p:nvSpPr>
          <p:spPr>
            <a:xfrm>
              <a:off x="4772025" y="2590800"/>
              <a:ext cx="2667000" cy="9525"/>
            </a:xfrm>
            <a:prstGeom prst="rect">
              <a:avLst/>
            </a:prstGeom>
            <a:solidFill>
              <a:srgbClr val="2A3A5C"/>
            </a:solidFill>
            <a:ln>
              <a:noFill/>
            </a:ln>
          </p:spPr>
        </p:sp>
        <p:sp>
          <p:nvSpPr>
            <p:cNvPr id="34" name="TextBox 34"/>
            <p:cNvSpPr txBox="1"/>
            <p:nvPr/>
          </p:nvSpPr>
          <p:spPr>
            <a:xfrm>
              <a:off x="5161586" y="2847499"/>
              <a:ext cx="1868829"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Auto stable, Energy grows</a:t>
              </a:r>
            </a:p>
          </p:txBody>
        </p:sp>
        <p:sp>
          <p:nvSpPr>
            <p:cNvPr id="35" name="TextBox 35"/>
            <p:cNvSpPr txBox="1"/>
            <p:nvPr/>
          </p:nvSpPr>
          <p:spPr>
            <a:xfrm>
              <a:off x="5232785" y="3037999"/>
              <a:ext cx="1726430"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Robotaxi delayed to 2027</a:t>
              </a:r>
            </a:p>
          </p:txBody>
        </p:sp>
        <p:sp>
          <p:nvSpPr>
            <p:cNvPr id="36" name="TextBox 36"/>
            <p:cNvSpPr txBox="1"/>
            <p:nvPr/>
          </p:nvSpPr>
          <p:spPr>
            <a:xfrm>
              <a:off x="5492663" y="3247549"/>
              <a:ext cx="1206675"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FY2027 EPS $2.50</a:t>
              </a:r>
            </a:p>
          </p:txBody>
        </p:sp>
        <p:sp>
          <p:nvSpPr>
            <p:cNvPr id="37" name="TextBox 37"/>
            <p:cNvSpPr txBox="1"/>
            <p:nvPr/>
          </p:nvSpPr>
          <p:spPr>
            <a:xfrm>
              <a:off x="5179385" y="3457099"/>
              <a:ext cx="1833229"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Market gives 190x multiple</a:t>
              </a:r>
            </a:p>
          </p:txBody>
        </p:sp>
        <p:sp>
          <p:nvSpPr>
            <p:cNvPr id="38" name="Rectangle 38"/>
            <p:cNvSpPr/>
            <p:nvPr/>
          </p:nvSpPr>
          <p:spPr>
            <a:xfrm>
              <a:off x="4772025" y="3790950"/>
              <a:ext cx="2667000" cy="9525"/>
            </a:xfrm>
            <a:prstGeom prst="rect">
              <a:avLst/>
            </a:prstGeom>
            <a:solidFill>
              <a:srgbClr val="2A3A5C"/>
            </a:solidFill>
            <a:ln>
              <a:noFill/>
            </a:ln>
          </p:spPr>
        </p:sp>
        <p:sp>
          <p:nvSpPr>
            <p:cNvPr id="39" name="TextBox 39"/>
            <p:cNvSpPr txBox="1"/>
            <p:nvPr/>
          </p:nvSpPr>
          <p:spPr>
            <a:xfrm>
              <a:off x="5795794" y="4009549"/>
              <a:ext cx="600412"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FY2027E</a:t>
              </a:r>
            </a:p>
          </p:txBody>
        </p:sp>
        <p:sp>
          <p:nvSpPr>
            <p:cNvPr id="40" name="TextBox 40"/>
            <p:cNvSpPr txBox="1"/>
            <p:nvPr/>
          </p:nvSpPr>
          <p:spPr>
            <a:xfrm>
              <a:off x="5570982" y="4219099"/>
              <a:ext cx="1050036"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Revenue: $120B</a:t>
              </a:r>
            </a:p>
          </p:txBody>
        </p:sp>
        <p:sp>
          <p:nvSpPr>
            <p:cNvPr id="41" name="TextBox 41"/>
            <p:cNvSpPr txBox="1"/>
            <p:nvPr/>
          </p:nvSpPr>
          <p:spPr>
            <a:xfrm>
              <a:off x="5154466" y="4409599"/>
              <a:ext cx="1883069"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EPS: $2.50 · Multiple: 190x</a:t>
              </a:r>
            </a:p>
          </p:txBody>
        </p:sp>
      </p:grpSp>
      <p:grpSp>
        <p:nvGrpSpPr>
          <p:cNvPr id="59" name="Group 59"/>
          <p:cNvGrpSpPr/>
          <p:nvPr/>
        </p:nvGrpSpPr>
        <p:grpSpPr>
          <a:xfrm>
            <a:off x="8210550" y="838200"/>
            <a:ext cx="3409950" cy="5334000"/>
            <a:chOff x="8210550" y="838200"/>
            <a:chExt cx="3409950" cy="5334000"/>
          </a:xfrm>
        </p:grpSpPr>
        <p:sp>
          <p:nvSpPr>
            <p:cNvPr id="43" name="Rectangle 43"/>
            <p:cNvSpPr/>
            <p:nvPr/>
          </p:nvSpPr>
          <p:spPr>
            <a:xfrm>
              <a:off x="8210550" y="838200"/>
              <a:ext cx="3409950" cy="5334000"/>
            </a:xfrm>
            <a:prstGeom prst="roundRect">
              <a:avLst>
                <a:gd name="adj" fmla="val 1117"/>
              </a:avLst>
            </a:prstGeom>
            <a:solidFill>
              <a:srgbClr val="131B30"/>
            </a:solidFill>
            <a:ln>
              <a:noFill/>
            </a:ln>
          </p:spPr>
        </p:sp>
        <p:sp>
          <p:nvSpPr>
            <p:cNvPr id="44" name="Rectangle 44"/>
            <p:cNvSpPr/>
            <p:nvPr/>
          </p:nvSpPr>
          <p:spPr>
            <a:xfrm>
              <a:off x="8210550" y="838200"/>
              <a:ext cx="3409950" cy="38100"/>
            </a:xfrm>
            <a:prstGeom prst="rect">
              <a:avLst/>
            </a:prstGeom>
            <a:solidFill>
              <a:srgbClr val="E05C5C"/>
            </a:solidFill>
            <a:ln>
              <a:noFill/>
            </a:ln>
          </p:spPr>
        </p:sp>
        <p:sp>
          <p:nvSpPr>
            <p:cNvPr id="45" name="TextBox 45"/>
            <p:cNvSpPr txBox="1"/>
            <p:nvPr/>
          </p:nvSpPr>
          <p:spPr>
            <a:xfrm>
              <a:off x="9411869" y="1111568"/>
              <a:ext cx="1007312" cy="274320"/>
            </a:xfrm>
            <a:prstGeom prst="rect">
              <a:avLst/>
            </a:prstGeom>
            <a:noFill/>
            <a:ln>
              <a:noFill/>
            </a:ln>
          </p:spPr>
          <p:txBody>
            <a:bodyPr wrap="none" lIns="0" tIns="0" rIns="0" bIns="0" anchor="t" anchorCtr="0">
              <a:spAutoFit/>
            </a:bodyPr>
            <a:lstStyle/>
            <a:p>
              <a:pPr algn="ctr"/>
              <a:r>
                <a:rPr lang="zh-CN" sz="1350" b="1" dirty="0">
                  <a:solidFill>
                    <a:srgbClr val="E05C5C"/>
                  </a:solidFill>
                  <a:latin typeface="Arial"/>
                  <a:ea typeface="Microsoft YaHei"/>
                  <a:cs typeface="Arial"/>
                </a:rPr>
                <a:t>BEAR CASE</a:t>
              </a:r>
            </a:p>
          </p:txBody>
        </p:sp>
        <p:sp>
          <p:nvSpPr>
            <p:cNvPr id="46" name="Rectangle 46"/>
            <p:cNvSpPr/>
            <p:nvPr/>
          </p:nvSpPr>
          <p:spPr>
            <a:xfrm>
              <a:off x="9153525" y="1390650"/>
              <a:ext cx="1524000" cy="266700"/>
            </a:xfrm>
            <a:prstGeom prst="roundRect">
              <a:avLst>
                <a:gd name="adj" fmla="val 50000"/>
              </a:avLst>
            </a:prstGeom>
            <a:solidFill>
              <a:srgbClr val="3A1A1A"/>
            </a:solidFill>
            <a:ln>
              <a:noFill/>
            </a:ln>
          </p:spPr>
        </p:sp>
        <p:sp>
          <p:nvSpPr>
            <p:cNvPr id="47" name="TextBox 47"/>
            <p:cNvSpPr txBox="1"/>
            <p:nvPr/>
          </p:nvSpPr>
          <p:spPr>
            <a:xfrm>
              <a:off x="9318492" y="1458278"/>
              <a:ext cx="1194066" cy="213360"/>
            </a:xfrm>
            <a:prstGeom prst="rect">
              <a:avLst/>
            </a:prstGeom>
            <a:noFill/>
            <a:ln>
              <a:noFill/>
            </a:ln>
          </p:spPr>
          <p:txBody>
            <a:bodyPr wrap="none" lIns="0" tIns="0" rIns="0" bIns="0" anchor="t" anchorCtr="0">
              <a:spAutoFit/>
            </a:bodyPr>
            <a:lstStyle/>
            <a:p>
              <a:pPr algn="ctr"/>
              <a:r>
                <a:rPr lang="zh-CN" sz="1050" b="1" dirty="0">
                  <a:solidFill>
                    <a:srgbClr val="E05C5C"/>
                  </a:solidFill>
                  <a:latin typeface="Arial"/>
                  <a:ea typeface="Microsoft YaHei"/>
                  <a:cs typeface="Arial"/>
                </a:rPr>
                <a:t>40% Probability</a:t>
              </a:r>
            </a:p>
          </p:txBody>
        </p:sp>
        <p:sp>
          <p:nvSpPr>
            <p:cNvPr id="48" name="TextBox 48"/>
            <p:cNvSpPr txBox="1"/>
            <p:nvPr/>
          </p:nvSpPr>
          <p:spPr>
            <a:xfrm>
              <a:off x="9208113" y="1674495"/>
              <a:ext cx="1414824" cy="792480"/>
            </a:xfrm>
            <a:prstGeom prst="rect">
              <a:avLst/>
            </a:prstGeom>
            <a:noFill/>
            <a:ln>
              <a:noFill/>
            </a:ln>
          </p:spPr>
          <p:txBody>
            <a:bodyPr wrap="none" lIns="0" tIns="0" rIns="0" bIns="0" anchor="t" anchorCtr="0">
              <a:spAutoFit/>
            </a:bodyPr>
            <a:lstStyle/>
            <a:p>
              <a:pPr algn="ctr"/>
              <a:r>
                <a:rPr lang="zh-CN" sz="3900" b="1" dirty="0">
                  <a:solidFill>
                    <a:srgbClr val="F5C842"/>
                  </a:solidFill>
                  <a:latin typeface="Arial"/>
                  <a:ea typeface="Microsoft YaHei"/>
                  <a:cs typeface="Arial"/>
                </a:rPr>
                <a:t>$220</a:t>
              </a:r>
            </a:p>
          </p:txBody>
        </p:sp>
        <p:sp>
          <p:nvSpPr>
            <p:cNvPr id="49" name="TextBox 49"/>
            <p:cNvSpPr txBox="1"/>
            <p:nvPr/>
          </p:nvSpPr>
          <p:spPr>
            <a:xfrm>
              <a:off x="9589027" y="2244090"/>
              <a:ext cx="652996" cy="365760"/>
            </a:xfrm>
            <a:prstGeom prst="rect">
              <a:avLst/>
            </a:prstGeom>
            <a:noFill/>
            <a:ln>
              <a:noFill/>
            </a:ln>
          </p:spPr>
          <p:txBody>
            <a:bodyPr wrap="none" lIns="0" tIns="0" rIns="0" bIns="0" anchor="t" anchorCtr="0">
              <a:spAutoFit/>
            </a:bodyPr>
            <a:lstStyle/>
            <a:p>
              <a:pPr algn="ctr"/>
              <a:r>
                <a:rPr lang="zh-CN" sz="1800" b="1" dirty="0">
                  <a:solidFill>
                    <a:srgbClr val="E05C5C"/>
                  </a:solidFill>
                  <a:latin typeface="Arial"/>
                  <a:ea typeface="Microsoft YaHei"/>
                  <a:cs typeface="Arial"/>
                </a:rPr>
                <a:t>-42%</a:t>
              </a:r>
            </a:p>
          </p:txBody>
        </p:sp>
        <p:sp>
          <p:nvSpPr>
            <p:cNvPr id="50" name="Rectangle 50"/>
            <p:cNvSpPr/>
            <p:nvPr/>
          </p:nvSpPr>
          <p:spPr>
            <a:xfrm>
              <a:off x="8582025" y="2590800"/>
              <a:ext cx="2667000" cy="9525"/>
            </a:xfrm>
            <a:prstGeom prst="rect">
              <a:avLst/>
            </a:prstGeom>
            <a:solidFill>
              <a:srgbClr val="2A3A5C"/>
            </a:solidFill>
            <a:ln>
              <a:noFill/>
            </a:ln>
          </p:spPr>
        </p:sp>
        <p:sp>
          <p:nvSpPr>
            <p:cNvPr id="51" name="TextBox 51"/>
            <p:cNvSpPr txBox="1"/>
            <p:nvPr/>
          </p:nvSpPr>
          <p:spPr>
            <a:xfrm>
              <a:off x="8895671" y="2847499"/>
              <a:ext cx="2039707"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Robotaxi re-delayed to 2028+</a:t>
              </a:r>
            </a:p>
          </p:txBody>
        </p:sp>
        <p:sp>
          <p:nvSpPr>
            <p:cNvPr id="52" name="TextBox 52"/>
            <p:cNvSpPr txBox="1"/>
            <p:nvPr/>
          </p:nvSpPr>
          <p:spPr>
            <a:xfrm>
              <a:off x="9105710" y="3037999"/>
              <a:ext cx="1619631"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BYD intensifies globally</a:t>
              </a:r>
            </a:p>
          </p:txBody>
        </p:sp>
        <p:sp>
          <p:nvSpPr>
            <p:cNvPr id="53" name="TextBox 53"/>
            <p:cNvSpPr txBox="1"/>
            <p:nvPr/>
          </p:nvSpPr>
          <p:spPr>
            <a:xfrm>
              <a:off x="8934831" y="3247549"/>
              <a:ext cx="1961388"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Musk brand damage worsens</a:t>
              </a:r>
            </a:p>
          </p:txBody>
        </p:sp>
        <p:sp>
          <p:nvSpPr>
            <p:cNvPr id="54" name="TextBox 54"/>
            <p:cNvSpPr txBox="1"/>
            <p:nvPr/>
          </p:nvSpPr>
          <p:spPr>
            <a:xfrm>
              <a:off x="8924151" y="3457099"/>
              <a:ext cx="1982748"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Re-rated as traditional OEM</a:t>
              </a:r>
            </a:p>
          </p:txBody>
        </p:sp>
        <p:sp>
          <p:nvSpPr>
            <p:cNvPr id="55" name="Rectangle 55"/>
            <p:cNvSpPr/>
            <p:nvPr/>
          </p:nvSpPr>
          <p:spPr>
            <a:xfrm>
              <a:off x="8582025" y="3790950"/>
              <a:ext cx="2667000" cy="9525"/>
            </a:xfrm>
            <a:prstGeom prst="rect">
              <a:avLst/>
            </a:prstGeom>
            <a:solidFill>
              <a:srgbClr val="2A3A5C"/>
            </a:solidFill>
            <a:ln>
              <a:noFill/>
            </a:ln>
          </p:spPr>
        </p:sp>
        <p:sp>
          <p:nvSpPr>
            <p:cNvPr id="56" name="TextBox 56"/>
            <p:cNvSpPr txBox="1"/>
            <p:nvPr/>
          </p:nvSpPr>
          <p:spPr>
            <a:xfrm>
              <a:off x="9615319" y="4009549"/>
              <a:ext cx="600412" cy="198120"/>
            </a:xfrm>
            <a:prstGeom prst="rect">
              <a:avLst/>
            </a:prstGeom>
            <a:noFill/>
            <a:ln>
              <a:noFill/>
            </a:ln>
          </p:spPr>
          <p:txBody>
            <a:bodyPr wrap="none" lIns="0" tIns="0" rIns="0" bIns="0" anchor="t" anchorCtr="0">
              <a:spAutoFit/>
            </a:bodyPr>
            <a:lstStyle/>
            <a:p>
              <a:pPr algn="ctr"/>
              <a:r>
                <a:rPr lang="zh-CN" sz="975" b="1" dirty="0">
                  <a:solidFill>
                    <a:srgbClr val="4A90D9"/>
                  </a:solidFill>
                  <a:latin typeface="Arial"/>
                  <a:ea typeface="Microsoft YaHei"/>
                  <a:cs typeface="Arial"/>
                </a:rPr>
                <a:t>FY2027E</a:t>
              </a:r>
            </a:p>
          </p:txBody>
        </p:sp>
        <p:sp>
          <p:nvSpPr>
            <p:cNvPr id="57" name="TextBox 57"/>
            <p:cNvSpPr txBox="1"/>
            <p:nvPr/>
          </p:nvSpPr>
          <p:spPr>
            <a:xfrm>
              <a:off x="9411867" y="4219099"/>
              <a:ext cx="1007316"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Revenue: $90B</a:t>
              </a:r>
            </a:p>
          </p:txBody>
        </p:sp>
        <p:sp>
          <p:nvSpPr>
            <p:cNvPr id="58" name="TextBox 58"/>
            <p:cNvSpPr txBox="1"/>
            <p:nvPr/>
          </p:nvSpPr>
          <p:spPr>
            <a:xfrm>
              <a:off x="8991790" y="4409599"/>
              <a:ext cx="1847469" cy="198120"/>
            </a:xfrm>
            <a:prstGeom prst="rect">
              <a:avLst/>
            </a:prstGeom>
            <a:noFill/>
            <a:ln>
              <a:noFill/>
            </a:ln>
          </p:spPr>
          <p:txBody>
            <a:bodyPr wrap="none" lIns="0" tIns="0" rIns="0" bIns="0" anchor="t" anchorCtr="0">
              <a:spAutoFit/>
            </a:bodyPr>
            <a:lstStyle/>
            <a:p>
              <a:pPr algn="ctr"/>
              <a:r>
                <a:rPr lang="zh-CN" sz="975" dirty="0">
                  <a:solidFill>
                    <a:srgbClr val="E8EAF0"/>
                  </a:solidFill>
                  <a:latin typeface="Arial"/>
                  <a:ea typeface="Microsoft YaHei"/>
                  <a:cs typeface="Arial"/>
                </a:rPr>
                <a:t>EPS: $1.50 · Multiple: 147x</a:t>
              </a:r>
            </a:p>
          </p:txBody>
        </p:sp>
      </p:grpSp>
      <p:grpSp>
        <p:nvGrpSpPr>
          <p:cNvPr id="62" name="Group 62"/>
          <p:cNvGrpSpPr/>
          <p:nvPr/>
        </p:nvGrpSpPr>
        <p:grpSpPr>
          <a:xfrm>
            <a:off x="571500" y="6096952"/>
            <a:ext cx="11049000" cy="213360"/>
            <a:chOff x="571500" y="6096952"/>
            <a:chExt cx="11049000" cy="213360"/>
          </a:xfrm>
        </p:grpSpPr>
        <p:sp>
          <p:nvSpPr>
            <p:cNvPr id="60" name="Rectangle 60"/>
            <p:cNvSpPr/>
            <p:nvPr/>
          </p:nvSpPr>
          <p:spPr>
            <a:xfrm>
              <a:off x="571500" y="6267450"/>
              <a:ext cx="11049000" cy="9525"/>
            </a:xfrm>
            <a:prstGeom prst="rect">
              <a:avLst/>
            </a:prstGeom>
            <a:solidFill>
              <a:srgbClr val="2A3A5C"/>
            </a:solidFill>
            <a:ln>
              <a:noFill/>
            </a:ln>
          </p:spPr>
        </p:sp>
        <p:sp>
          <p:nvSpPr>
            <p:cNvPr id="61" name="TextBox 61"/>
            <p:cNvSpPr txBox="1"/>
            <p:nvPr/>
          </p:nvSpPr>
          <p:spPr>
            <a:xfrm>
              <a:off x="2153007" y="6096952"/>
              <a:ext cx="7885986" cy="213360"/>
            </a:xfrm>
            <a:prstGeom prst="rect">
              <a:avLst/>
            </a:prstGeom>
            <a:noFill/>
            <a:ln>
              <a:noFill/>
            </a:ln>
          </p:spPr>
          <p:txBody>
            <a:bodyPr wrap="none" lIns="0" tIns="0" rIns="0" bIns="0" anchor="t" anchorCtr="0">
              <a:spAutoFit/>
            </a:bodyPr>
            <a:lstStyle/>
            <a:p>
              <a:pPr algn="ctr"/>
              <a:r>
                <a:rPr lang="zh-CN" sz="1050" dirty="0">
                  <a:solidFill>
                    <a:srgbClr val="8899BB"/>
                  </a:solidFill>
                  <a:latin typeface="Arial"/>
                  <a:ea typeface="Microsoft YaHei"/>
                  <a:cs typeface="Arial"/>
                </a:rPr>
                <a:t xml:space="preserve">Probability-Weighted Expected Value: 0.20×$650 + 0.40×$475 + 0.40×$220 = </a:t>
              </a:r>
              <a:r>
                <a:rPr lang="zh-CN" sz="1050" b="1" dirty="0">
                  <a:solidFill>
                    <a:srgbClr val="F5C842"/>
                  </a:solidFill>
                  <a:latin typeface="Arial"/>
                  <a:ea typeface="Microsoft YaHei"/>
                  <a:cs typeface="Arial"/>
                </a:rPr>
                <a:t>$408</a:t>
              </a:r>
              <a:r>
                <a:rPr lang="zh-CN" sz="1050" dirty="0">
                  <a:solidFill>
                    <a:srgbClr val="8899BB"/>
                  </a:solidFill>
                  <a:latin typeface="Arial"/>
                  <a:ea typeface="Microsoft YaHei"/>
                  <a:cs typeface="Arial"/>
                </a:rPr>
                <a:t xml:space="preserve"> (+7.6% vs current $379)</a:t>
              </a:r>
            </a:p>
          </p:txBody>
        </p:sp>
      </p:grpSp>
      <p:grpSp>
        <p:nvGrpSpPr>
          <p:cNvPr id="67" name="Group 67"/>
          <p:cNvGrpSpPr/>
          <p:nvPr/>
        </p:nvGrpSpPr>
        <p:grpSpPr>
          <a:xfrm>
            <a:off x="0" y="6324600"/>
            <a:ext cx="12192000" cy="533400"/>
            <a:chOff x="0" y="6324600"/>
            <a:chExt cx="12192000" cy="533400"/>
          </a:xfrm>
        </p:grpSpPr>
        <p:sp>
          <p:nvSpPr>
            <p:cNvPr id="63" name="Rectangle 63"/>
            <p:cNvSpPr/>
            <p:nvPr/>
          </p:nvSpPr>
          <p:spPr>
            <a:xfrm>
              <a:off x="0" y="6324600"/>
              <a:ext cx="12192000" cy="533400"/>
            </a:xfrm>
            <a:prstGeom prst="rect">
              <a:avLst/>
            </a:prstGeom>
            <a:solidFill>
              <a:srgbClr val="131B30"/>
            </a:solidFill>
            <a:ln>
              <a:noFill/>
            </a:ln>
          </p:spPr>
        </p:sp>
        <p:sp>
          <p:nvSpPr>
            <p:cNvPr id="64" name="Rectangle 64"/>
            <p:cNvSpPr/>
            <p:nvPr/>
          </p:nvSpPr>
          <p:spPr>
            <a:xfrm>
              <a:off x="0" y="6324600"/>
              <a:ext cx="12192000" cy="9525"/>
            </a:xfrm>
            <a:prstGeom prst="rect">
              <a:avLst/>
            </a:prstGeom>
            <a:solidFill>
              <a:srgbClr val="F5C842">
                <a:alpha val="35000"/>
              </a:srgbClr>
            </a:solidFill>
            <a:ln>
              <a:noFill/>
            </a:ln>
          </p:spPr>
        </p:sp>
        <p:sp>
          <p:nvSpPr>
            <p:cNvPr id="65" name="TextBox 65"/>
            <p:cNvSpPr txBox="1"/>
            <p:nvPr/>
          </p:nvSpPr>
          <p:spPr>
            <a:xfrm>
              <a:off x="749618" y="6533674"/>
              <a:ext cx="149147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Valuation &amp; Scenarios</a:t>
              </a:r>
            </a:p>
          </p:txBody>
        </p:sp>
        <p:sp>
          <p:nvSpPr>
            <p:cNvPr id="66" name="TextBox 66"/>
            <p:cNvSpPr txBox="1"/>
            <p:nvPr/>
          </p:nvSpPr>
          <p:spPr>
            <a:xfrm>
              <a:off x="11296579" y="6533674"/>
              <a:ext cx="14580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trips(downRight)">
                                      <p:cBhvr>
                                        <p:cTn id="11" dur="400"/>
                                        <p:tgtEl>
                                          <p:spTgt spid="25"/>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wedge">
                                      <p:cBhvr>
                                        <p:cTn id="15" dur="400"/>
                                        <p:tgtEl>
                                          <p:spTgt spid="42"/>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heel(4)">
                                      <p:cBhvr>
                                        <p:cTn id="19" dur="400"/>
                                        <p:tgtEl>
                                          <p:spTgt spid="59"/>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62"/>
                                        </p:tgtEl>
                                        <p:attrNameLst>
                                          <p:attrName>style.visibility</p:attrName>
                                        </p:attrNameLst>
                                      </p:cBhvr>
                                      <p:to>
                                        <p:strVal val="visible"/>
                                      </p:to>
                                    </p:set>
                                    <p:animEffect transition="in" filter="wipe(left)">
                                      <p:cBhvr>
                                        <p:cTn id="23" dur="400"/>
                                        <p:tgtEl>
                                          <p:spTgt spid="62"/>
                                        </p:tgtEl>
                                      </p:cBhvr>
                                    </p:animEffect>
                                  </p:childTnLst>
                                </p:cTn>
                              </p:par>
                            </p:childTnLst>
                          </p:cTn>
                        </p:par>
                        <p:par>
                          <p:cTn id="24" fill="hold">
                            <p:stCondLst>
                              <p:cond delay="4500"/>
                            </p:stCondLst>
                            <p:childTnLst>
                              <p:par>
                                <p:cTn id="25" presetID="50" presetClass="entr" presetSubtype="0" fill="hold" nodeType="after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stretch(across)">
                                      <p:cBhvr>
                                        <p:cTn id="27"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5" grpId="0"/>
      <p:bldP spid="42" grpId="0"/>
      <p:bldP spid="59" grpId="0"/>
      <p:bldP spid="62" grpId="0"/>
      <p:bldP spid="6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sp>
        <p:nvSpPr>
          <p:cNvPr id="5" name="TextBox 5"/>
          <p:cNvSpPr txBox="1"/>
          <p:nvPr/>
        </p:nvSpPr>
        <p:spPr>
          <a:xfrm>
            <a:off x="4943689" y="3067050"/>
            <a:ext cx="2304621" cy="4267200"/>
          </a:xfrm>
          <a:prstGeom prst="rect">
            <a:avLst/>
          </a:prstGeom>
          <a:noFill/>
          <a:ln>
            <a:noFill/>
          </a:ln>
        </p:spPr>
        <p:txBody>
          <a:bodyPr wrap="none" lIns="0" tIns="0" rIns="0" bIns="0" anchor="t" anchorCtr="0">
            <a:spAutoFit/>
          </a:bodyPr>
          <a:lstStyle/>
          <a:p>
            <a:pPr algn="ctr"/>
            <a:r>
              <a:rPr lang="zh-CN" sz="21000" b="1" dirty="0">
                <a:solidFill>
                  <a:srgbClr val="0F1628"/>
                </a:solidFill>
                <a:latin typeface="Arial"/>
                <a:ea typeface="Microsoft YaHei"/>
                <a:cs typeface="Arial"/>
              </a:rPr>
              <a:t>V</a:t>
            </a:r>
          </a:p>
        </p:txBody>
      </p:sp>
      <p:grpSp>
        <p:nvGrpSpPr>
          <p:cNvPr id="7" name="Group 7"/>
          <p:cNvGrpSpPr/>
          <p:nvPr/>
        </p:nvGrpSpPr>
        <p:grpSpPr>
          <a:xfrm>
            <a:off x="0" y="38100"/>
            <a:ext cx="38100" cy="6781800"/>
            <a:chOff x="0" y="38100"/>
            <a:chExt cx="38100" cy="6781800"/>
          </a:xfrm>
        </p:grpSpPr>
        <p:sp>
          <p:nvSpPr>
            <p:cNvPr id="6" name="Rectangle 6"/>
            <p:cNvSpPr/>
            <p:nvPr/>
          </p:nvSpPr>
          <p:spPr>
            <a:xfrm>
              <a:off x="0" y="38100"/>
              <a:ext cx="38100" cy="6781800"/>
            </a:xfrm>
            <a:prstGeom prst="rect">
              <a:avLst/>
            </a:prstGeom>
            <a:solidFill>
              <a:srgbClr val="F5C842"/>
            </a:solidFill>
            <a:ln>
              <a:noFill/>
            </a:ln>
          </p:spPr>
        </p:sp>
      </p:grpSp>
      <p:grpSp>
        <p:nvGrpSpPr>
          <p:cNvPr id="9" name="Group 9"/>
          <p:cNvGrpSpPr/>
          <p:nvPr/>
        </p:nvGrpSpPr>
        <p:grpSpPr>
          <a:xfrm>
            <a:off x="749618" y="2656999"/>
            <a:ext cx="727503" cy="198120"/>
            <a:chOff x="749618" y="2656999"/>
            <a:chExt cx="727503" cy="198120"/>
          </a:xfrm>
        </p:grpSpPr>
        <p:sp>
          <p:nvSpPr>
            <p:cNvPr id="8" name="TextBox 8"/>
            <p:cNvSpPr txBox="1"/>
            <p:nvPr/>
          </p:nvSpPr>
          <p:spPr>
            <a:xfrm>
              <a:off x="749618" y="2656999"/>
              <a:ext cx="727503" cy="198120"/>
            </a:xfrm>
            <a:prstGeom prst="rect">
              <a:avLst/>
            </a:prstGeom>
            <a:noFill/>
            <a:ln>
              <a:noFill/>
            </a:ln>
          </p:spPr>
          <p:txBody>
            <a:bodyPr wrap="none" lIns="0" tIns="0" rIns="0" bIns="0" anchor="t" anchorCtr="0">
              <a:spAutoFit/>
            </a:bodyPr>
            <a:lstStyle/>
            <a:p>
              <a:pPr algn="l"/>
              <a:r>
                <a:rPr lang="zh-CN" sz="975" b="1" dirty="0">
                  <a:solidFill>
                    <a:srgbClr val="F5C842"/>
                  </a:solidFill>
                  <a:latin typeface="Arial"/>
                  <a:ea typeface="Microsoft YaHei"/>
                  <a:cs typeface="Arial"/>
                </a:rPr>
                <a:t>CHAPTER V</a:t>
              </a:r>
            </a:p>
          </p:txBody>
        </p:sp>
      </p:grpSp>
      <p:grpSp>
        <p:nvGrpSpPr>
          <p:cNvPr id="11" name="Group 11"/>
          <p:cNvGrpSpPr/>
          <p:nvPr/>
        </p:nvGrpSpPr>
        <p:grpSpPr>
          <a:xfrm>
            <a:off x="712470" y="3007995"/>
            <a:ext cx="5810674" cy="792480"/>
            <a:chOff x="712470" y="3007995"/>
            <a:chExt cx="5810674" cy="792480"/>
          </a:xfrm>
        </p:grpSpPr>
        <p:sp>
          <p:nvSpPr>
            <p:cNvPr id="10" name="TextBox 10"/>
            <p:cNvSpPr txBox="1"/>
            <p:nvPr/>
          </p:nvSpPr>
          <p:spPr>
            <a:xfrm>
              <a:off x="712470" y="3007995"/>
              <a:ext cx="5810674" cy="792480"/>
            </a:xfrm>
            <a:prstGeom prst="rect">
              <a:avLst/>
            </a:prstGeom>
            <a:noFill/>
            <a:ln>
              <a:noFill/>
            </a:ln>
          </p:spPr>
          <p:txBody>
            <a:bodyPr wrap="none" lIns="0" tIns="0" rIns="0" bIns="0" anchor="t" anchorCtr="0">
              <a:spAutoFit/>
            </a:bodyPr>
            <a:lstStyle/>
            <a:p>
              <a:pPr algn="l"/>
              <a:r>
                <a:rPr lang="zh-CN" sz="3900" b="1" dirty="0">
                  <a:solidFill>
                    <a:srgbClr val="E8EAF0"/>
                  </a:solidFill>
                  <a:latin typeface="Arial"/>
                  <a:ea typeface="Microsoft YaHei"/>
                  <a:cs typeface="Arial"/>
                </a:rPr>
                <a:t>Decision Framework</a:t>
              </a:r>
            </a:p>
          </p:txBody>
        </p:sp>
      </p:grpSp>
      <p:grpSp>
        <p:nvGrpSpPr>
          <p:cNvPr id="13" name="Group 13"/>
          <p:cNvGrpSpPr/>
          <p:nvPr/>
        </p:nvGrpSpPr>
        <p:grpSpPr>
          <a:xfrm>
            <a:off x="762000" y="3657600"/>
            <a:ext cx="4762500" cy="19050"/>
            <a:chOff x="762000" y="3657600"/>
            <a:chExt cx="4762500" cy="19050"/>
          </a:xfrm>
        </p:grpSpPr>
        <p:sp>
          <p:nvSpPr>
            <p:cNvPr id="12" name="Rectangle 12"/>
            <p:cNvSpPr/>
            <p:nvPr/>
          </p:nvSpPr>
          <p:spPr>
            <a:xfrm>
              <a:off x="762000" y="3657600"/>
              <a:ext cx="4762500" cy="19050"/>
            </a:xfrm>
            <a:prstGeom prst="rect">
              <a:avLst/>
            </a:prstGeom>
            <a:solidFill>
              <a:srgbClr val="F5C842"/>
            </a:solidFill>
            <a:ln>
              <a:noFill/>
            </a:ln>
          </p:spPr>
        </p:sp>
      </p:grpSp>
      <p:grpSp>
        <p:nvGrpSpPr>
          <p:cNvPr id="15" name="Group 15"/>
          <p:cNvGrpSpPr/>
          <p:nvPr/>
        </p:nvGrpSpPr>
        <p:grpSpPr>
          <a:xfrm>
            <a:off x="742950" y="3838575"/>
            <a:ext cx="2426018" cy="304800"/>
            <a:chOff x="742950" y="3838575"/>
            <a:chExt cx="2426018" cy="304800"/>
          </a:xfrm>
        </p:grpSpPr>
        <p:sp>
          <p:nvSpPr>
            <p:cNvPr id="14" name="TextBox 14"/>
            <p:cNvSpPr txBox="1"/>
            <p:nvPr/>
          </p:nvSpPr>
          <p:spPr>
            <a:xfrm>
              <a:off x="742950" y="3838575"/>
              <a:ext cx="2426018" cy="304800"/>
            </a:xfrm>
            <a:prstGeom prst="rect">
              <a:avLst/>
            </a:prstGeom>
            <a:noFill/>
            <a:ln>
              <a:noFill/>
            </a:ln>
          </p:spPr>
          <p:txBody>
            <a:bodyPr wrap="none" lIns="0" tIns="0" rIns="0" bIns="0" anchor="t" anchorCtr="0">
              <a:spAutoFit/>
            </a:bodyPr>
            <a:lstStyle/>
            <a:p>
              <a:pPr algn="l"/>
              <a:r>
                <a:rPr lang="zh-CN" sz="1500" dirty="0">
                  <a:solidFill>
                    <a:srgbClr val="8899BB"/>
                  </a:solidFill>
                  <a:latin typeface="Arial"/>
                  <a:ea typeface="Microsoft YaHei"/>
                  <a:cs typeface="Arial"/>
                </a:rPr>
                <a:t>BAIT Analysis &amp; Verdict</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par>
                          <p:cTn id="12" fill="hold">
                            <p:stCondLst>
                              <p:cond delay="1800"/>
                            </p:stCondLst>
                            <p:childTnLst>
                              <p:par>
                                <p:cTn id="13" presetID="19"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heel(1)">
                                      <p:cBhvr>
                                        <p:cTn id="15" dur="400"/>
                                        <p:tgtEl>
                                          <p:spTgt spid="11"/>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image">
                                      <p:cBhvr>
                                        <p:cTn id="19" dur="400"/>
                                        <p:tgtEl>
                                          <p:spTgt spid="13"/>
                                        </p:tgtEl>
                                      </p:cBhvr>
                                    </p:animEffect>
                                  </p:childTnLst>
                                </p:cTn>
                              </p:par>
                            </p:childTnLst>
                          </p:cTn>
                        </p:par>
                        <p:par>
                          <p:cTn id="20" fill="hold">
                            <p:stCondLst>
                              <p:cond delay="3600"/>
                            </p:stCondLst>
                            <p:childTnLst>
                              <p:par>
                                <p:cTn id="21" presetID="3" presetClass="entr" presetSubtype="1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linds(horizontal)">
                                      <p:cBhvr>
                                        <p:cTn id="23"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4370620"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BAIT Framework (Mauboussin)</a:t>
              </a:r>
            </a:p>
          </p:txBody>
        </p:sp>
      </p:grpSp>
      <p:grpSp>
        <p:nvGrpSpPr>
          <p:cNvPr id="12" name="Group 12"/>
          <p:cNvGrpSpPr/>
          <p:nvPr/>
        </p:nvGrpSpPr>
        <p:grpSpPr>
          <a:xfrm>
            <a:off x="5143500" y="2552700"/>
            <a:ext cx="1905000" cy="457200"/>
            <a:chOff x="5143500" y="2552700"/>
            <a:chExt cx="1905000" cy="457200"/>
          </a:xfrm>
        </p:grpSpPr>
        <p:sp>
          <p:nvSpPr>
            <p:cNvPr id="9" name="Rectangle 9"/>
            <p:cNvSpPr/>
            <p:nvPr/>
          </p:nvSpPr>
          <p:spPr>
            <a:xfrm>
              <a:off x="5143500" y="2552700"/>
              <a:ext cx="1905000" cy="457200"/>
            </a:xfrm>
            <a:prstGeom prst="roundRect">
              <a:avLst>
                <a:gd name="adj" fmla="val 50000"/>
              </a:avLst>
            </a:prstGeom>
            <a:solidFill>
              <a:srgbClr val="8899BB">
                <a:alpha val="30000"/>
              </a:srgbClr>
            </a:solidFill>
            <a:ln>
              <a:noFill/>
            </a:ln>
          </p:spPr>
        </p:sp>
        <p:sp>
          <p:nvSpPr>
            <p:cNvPr id="10" name="Rectangle 10"/>
            <p:cNvSpPr/>
            <p:nvPr/>
          </p:nvSpPr>
          <p:spPr>
            <a:xfrm>
              <a:off x="5143500" y="2552700"/>
              <a:ext cx="1905000" cy="457200"/>
            </a:xfrm>
            <a:prstGeom prst="roundRect">
              <a:avLst>
                <a:gd name="adj" fmla="val 50000"/>
              </a:avLst>
            </a:prstGeom>
            <a:noFill/>
            <a:ln w="9525">
              <a:solidFill>
                <a:srgbClr val="8899BB"/>
              </a:solidFill>
            </a:ln>
          </p:spPr>
        </p:sp>
        <p:sp>
          <p:nvSpPr>
            <p:cNvPr id="11" name="TextBox 11"/>
            <p:cNvSpPr txBox="1"/>
            <p:nvPr/>
          </p:nvSpPr>
          <p:spPr>
            <a:xfrm>
              <a:off x="5773492" y="2702242"/>
              <a:ext cx="645016" cy="274320"/>
            </a:xfrm>
            <a:prstGeom prst="rect">
              <a:avLst/>
            </a:prstGeom>
            <a:noFill/>
            <a:ln>
              <a:noFill/>
            </a:ln>
          </p:spPr>
          <p:txBody>
            <a:bodyPr wrap="none" lIns="0" tIns="0" rIns="0" bIns="0" anchor="t" anchorCtr="0">
              <a:spAutoFit/>
            </a:bodyPr>
            <a:lstStyle/>
            <a:p>
              <a:pPr algn="ctr"/>
              <a:r>
                <a:rPr lang="zh-CN" sz="1350" b="1" dirty="0">
                  <a:solidFill>
                    <a:srgbClr val="E8EAF0"/>
                  </a:solidFill>
                  <a:latin typeface="Arial"/>
                  <a:ea typeface="Microsoft YaHei"/>
                  <a:cs typeface="Arial"/>
                </a:rPr>
                <a:t>WATCH</a:t>
              </a:r>
            </a:p>
          </p:txBody>
        </p:sp>
      </p:grpSp>
      <p:grpSp>
        <p:nvGrpSpPr>
          <p:cNvPr id="15" name="Group 15"/>
          <p:cNvGrpSpPr/>
          <p:nvPr/>
        </p:nvGrpSpPr>
        <p:grpSpPr>
          <a:xfrm>
            <a:off x="571500" y="838200"/>
            <a:ext cx="11049000" cy="5334000"/>
            <a:chOff x="571500" y="838200"/>
            <a:chExt cx="11049000" cy="5334000"/>
          </a:xfrm>
        </p:grpSpPr>
        <p:sp>
          <p:nvSpPr>
            <p:cNvPr id="13" name="Rectangle 13"/>
            <p:cNvSpPr/>
            <p:nvPr/>
          </p:nvSpPr>
          <p:spPr>
            <a:xfrm>
              <a:off x="571500" y="3352800"/>
              <a:ext cx="11049000" cy="9525"/>
            </a:xfrm>
            <a:prstGeom prst="rect">
              <a:avLst/>
            </a:prstGeom>
            <a:solidFill>
              <a:srgbClr val="2A3A5C"/>
            </a:solidFill>
            <a:ln>
              <a:noFill/>
            </a:ln>
          </p:spPr>
        </p:sp>
        <p:sp>
          <p:nvSpPr>
            <p:cNvPr id="14" name="Rectangle 14"/>
            <p:cNvSpPr/>
            <p:nvPr/>
          </p:nvSpPr>
          <p:spPr>
            <a:xfrm>
              <a:off x="6096000" y="838200"/>
              <a:ext cx="9525" cy="5334000"/>
            </a:xfrm>
            <a:prstGeom prst="rect">
              <a:avLst/>
            </a:prstGeom>
            <a:solidFill>
              <a:srgbClr val="2A3A5C"/>
            </a:solidFill>
            <a:ln>
              <a:noFill/>
            </a:ln>
          </p:spPr>
        </p:sp>
      </p:grpSp>
      <p:grpSp>
        <p:nvGrpSpPr>
          <p:cNvPr id="22" name="Group 22"/>
          <p:cNvGrpSpPr/>
          <p:nvPr/>
        </p:nvGrpSpPr>
        <p:grpSpPr>
          <a:xfrm>
            <a:off x="571500" y="838200"/>
            <a:ext cx="5334000" cy="2438400"/>
            <a:chOff x="571500" y="838200"/>
            <a:chExt cx="5334000" cy="2438400"/>
          </a:xfrm>
        </p:grpSpPr>
        <p:sp>
          <p:nvSpPr>
            <p:cNvPr id="16" name="Rectangle 16"/>
            <p:cNvSpPr/>
            <p:nvPr/>
          </p:nvSpPr>
          <p:spPr>
            <a:xfrm>
              <a:off x="571500" y="838200"/>
              <a:ext cx="5334000" cy="2438400"/>
            </a:xfrm>
            <a:prstGeom prst="roundRect">
              <a:avLst>
                <a:gd name="adj" fmla="val 1562"/>
              </a:avLst>
            </a:prstGeom>
            <a:solidFill>
              <a:srgbClr val="131B30"/>
            </a:solidFill>
            <a:ln>
              <a:noFill/>
            </a:ln>
          </p:spPr>
        </p:sp>
        <p:sp>
          <p:nvSpPr>
            <p:cNvPr id="17" name="TextBox 17"/>
            <p:cNvSpPr txBox="1"/>
            <p:nvPr/>
          </p:nvSpPr>
          <p:spPr>
            <a:xfrm>
              <a:off x="749618" y="1037749"/>
              <a:ext cx="1093824"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B — BEHAVIORAL</a:t>
              </a:r>
            </a:p>
          </p:txBody>
        </p:sp>
        <p:sp>
          <p:nvSpPr>
            <p:cNvPr id="18" name="TextBox 18"/>
            <p:cNvSpPr txBox="1"/>
            <p:nvPr/>
          </p:nvSpPr>
          <p:spPr>
            <a:xfrm>
              <a:off x="744855" y="1283018"/>
              <a:ext cx="779583" cy="274320"/>
            </a:xfrm>
            <a:prstGeom prst="rect">
              <a:avLst/>
            </a:prstGeom>
            <a:noFill/>
            <a:ln>
              <a:noFill/>
            </a:ln>
          </p:spPr>
          <p:txBody>
            <a:bodyPr wrap="none" lIns="0" tIns="0" rIns="0" bIns="0" anchor="t" anchorCtr="0">
              <a:spAutoFit/>
            </a:bodyPr>
            <a:lstStyle/>
            <a:p>
              <a:pPr algn="l"/>
              <a:r>
                <a:rPr lang="zh-CN" sz="1350" b="1" dirty="0">
                  <a:solidFill>
                    <a:srgbClr val="8899BB"/>
                  </a:solidFill>
                  <a:latin typeface="Arial"/>
                  <a:ea typeface="Microsoft YaHei"/>
                  <a:cs typeface="Arial"/>
                </a:rPr>
                <a:t>Neutral</a:t>
              </a:r>
            </a:p>
          </p:txBody>
        </p:sp>
        <p:sp>
          <p:nvSpPr>
            <p:cNvPr id="19" name="TextBox 19"/>
            <p:cNvSpPr txBox="1"/>
            <p:nvPr/>
          </p:nvSpPr>
          <p:spPr>
            <a:xfrm>
              <a:off x="749618" y="1590199"/>
              <a:ext cx="2687622"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Reddit: 27% bullish · X.com: 51% bullish</a:t>
              </a:r>
            </a:p>
          </p:txBody>
        </p:sp>
        <p:sp>
          <p:nvSpPr>
            <p:cNvPr id="20" name="TextBox 20"/>
            <p:cNvSpPr txBox="1"/>
            <p:nvPr/>
          </p:nvSpPr>
          <p:spPr>
            <a:xfrm>
              <a:off x="749618" y="1780699"/>
              <a:ext cx="358473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Extremely polarized — price moves on Musk tweets,</a:t>
              </a:r>
            </a:p>
          </p:txBody>
        </p:sp>
        <p:sp>
          <p:nvSpPr>
            <p:cNvPr id="21" name="TextBox 21"/>
            <p:cNvSpPr txBox="1"/>
            <p:nvPr/>
          </p:nvSpPr>
          <p:spPr>
            <a:xfrm>
              <a:off x="749618" y="1971199"/>
              <a:ext cx="367017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not fundamentals. Extreme vol creates mis-pricing.</a:t>
              </a:r>
            </a:p>
          </p:txBody>
        </p:sp>
      </p:grpSp>
      <p:grpSp>
        <p:nvGrpSpPr>
          <p:cNvPr id="29" name="Group 29"/>
          <p:cNvGrpSpPr/>
          <p:nvPr/>
        </p:nvGrpSpPr>
        <p:grpSpPr>
          <a:xfrm>
            <a:off x="6286500" y="838200"/>
            <a:ext cx="5334000" cy="2438400"/>
            <a:chOff x="6286500" y="838200"/>
            <a:chExt cx="5334000" cy="2438400"/>
          </a:xfrm>
        </p:grpSpPr>
        <p:sp>
          <p:nvSpPr>
            <p:cNvPr id="23" name="Rectangle 23"/>
            <p:cNvSpPr/>
            <p:nvPr/>
          </p:nvSpPr>
          <p:spPr>
            <a:xfrm>
              <a:off x="6286500" y="838200"/>
              <a:ext cx="5334000" cy="2438400"/>
            </a:xfrm>
            <a:prstGeom prst="roundRect">
              <a:avLst>
                <a:gd name="adj" fmla="val 1562"/>
              </a:avLst>
            </a:prstGeom>
            <a:solidFill>
              <a:srgbClr val="131B30"/>
            </a:solidFill>
            <a:ln>
              <a:noFill/>
            </a:ln>
          </p:spPr>
        </p:sp>
        <p:sp>
          <p:nvSpPr>
            <p:cNvPr id="24" name="TextBox 24"/>
            <p:cNvSpPr txBox="1"/>
            <p:nvPr/>
          </p:nvSpPr>
          <p:spPr>
            <a:xfrm>
              <a:off x="6464618" y="1037749"/>
              <a:ext cx="1063920"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A — ANALYTICAL</a:t>
              </a:r>
            </a:p>
          </p:txBody>
        </p:sp>
        <p:sp>
          <p:nvSpPr>
            <p:cNvPr id="25" name="TextBox 25"/>
            <p:cNvSpPr txBox="1"/>
            <p:nvPr/>
          </p:nvSpPr>
          <p:spPr>
            <a:xfrm>
              <a:off x="6459855" y="1283018"/>
              <a:ext cx="779583" cy="274320"/>
            </a:xfrm>
            <a:prstGeom prst="rect">
              <a:avLst/>
            </a:prstGeom>
            <a:noFill/>
            <a:ln>
              <a:noFill/>
            </a:ln>
          </p:spPr>
          <p:txBody>
            <a:bodyPr wrap="none" lIns="0" tIns="0" rIns="0" bIns="0" anchor="t" anchorCtr="0">
              <a:spAutoFit/>
            </a:bodyPr>
            <a:lstStyle/>
            <a:p>
              <a:pPr algn="l"/>
              <a:r>
                <a:rPr lang="zh-CN" sz="1350" b="1" dirty="0">
                  <a:solidFill>
                    <a:srgbClr val="E05C5C"/>
                  </a:solidFill>
                  <a:latin typeface="Arial"/>
                  <a:ea typeface="Microsoft YaHei"/>
                  <a:cs typeface="Arial"/>
                </a:rPr>
                <a:t>Bearish</a:t>
              </a:r>
            </a:p>
          </p:txBody>
        </p:sp>
        <p:sp>
          <p:nvSpPr>
            <p:cNvPr id="26" name="TextBox 26"/>
            <p:cNvSpPr txBox="1"/>
            <p:nvPr/>
          </p:nvSpPr>
          <p:spPr>
            <a:xfrm>
              <a:off x="6464618" y="1590199"/>
              <a:ext cx="307209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149x P/E requires Robotaxi generating $50B+</a:t>
              </a:r>
            </a:p>
          </p:txBody>
        </p:sp>
        <p:sp>
          <p:nvSpPr>
            <p:cNvPr id="27" name="TextBox 27"/>
            <p:cNvSpPr txBox="1"/>
            <p:nvPr/>
          </p:nvSpPr>
          <p:spPr>
            <a:xfrm>
              <a:off x="6464618" y="1780699"/>
              <a:ext cx="354913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operating profit by 2028-2030 — not yet validated.</a:t>
              </a:r>
            </a:p>
          </p:txBody>
        </p:sp>
        <p:sp>
          <p:nvSpPr>
            <p:cNvPr id="28" name="TextBox 28"/>
            <p:cNvSpPr txBox="1"/>
            <p:nvPr/>
          </p:nvSpPr>
          <p:spPr>
            <a:xfrm>
              <a:off x="6464618" y="1971199"/>
              <a:ext cx="3969210"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FY2027 EPS consensus cut -15.7%. Fundamental risk high.</a:t>
              </a:r>
            </a:p>
          </p:txBody>
        </p:sp>
      </p:grpSp>
      <p:grpSp>
        <p:nvGrpSpPr>
          <p:cNvPr id="36" name="Group 36"/>
          <p:cNvGrpSpPr/>
          <p:nvPr/>
        </p:nvGrpSpPr>
        <p:grpSpPr>
          <a:xfrm>
            <a:off x="571500" y="3448050"/>
            <a:ext cx="5334000" cy="2495550"/>
            <a:chOff x="571500" y="3448050"/>
            <a:chExt cx="5334000" cy="2495550"/>
          </a:xfrm>
        </p:grpSpPr>
        <p:sp>
          <p:nvSpPr>
            <p:cNvPr id="30" name="Rectangle 30"/>
            <p:cNvSpPr/>
            <p:nvPr/>
          </p:nvSpPr>
          <p:spPr>
            <a:xfrm>
              <a:off x="571500" y="3448050"/>
              <a:ext cx="5334000" cy="2495550"/>
            </a:xfrm>
            <a:prstGeom prst="roundRect">
              <a:avLst>
                <a:gd name="adj" fmla="val 1527"/>
              </a:avLst>
            </a:prstGeom>
            <a:solidFill>
              <a:srgbClr val="131B30"/>
            </a:solidFill>
            <a:ln>
              <a:noFill/>
            </a:ln>
          </p:spPr>
        </p:sp>
        <p:sp>
          <p:nvSpPr>
            <p:cNvPr id="31" name="TextBox 31"/>
            <p:cNvSpPr txBox="1"/>
            <p:nvPr/>
          </p:nvSpPr>
          <p:spPr>
            <a:xfrm>
              <a:off x="749618" y="3647599"/>
              <a:ext cx="1325578"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I — INFORMATIONAL</a:t>
              </a:r>
            </a:p>
          </p:txBody>
        </p:sp>
        <p:sp>
          <p:nvSpPr>
            <p:cNvPr id="32" name="TextBox 32"/>
            <p:cNvSpPr txBox="1"/>
            <p:nvPr/>
          </p:nvSpPr>
          <p:spPr>
            <a:xfrm>
              <a:off x="744855" y="3892868"/>
              <a:ext cx="779583" cy="274320"/>
            </a:xfrm>
            <a:prstGeom prst="rect">
              <a:avLst/>
            </a:prstGeom>
            <a:noFill/>
            <a:ln>
              <a:noFill/>
            </a:ln>
          </p:spPr>
          <p:txBody>
            <a:bodyPr wrap="none" lIns="0" tIns="0" rIns="0" bIns="0" anchor="t" anchorCtr="0">
              <a:spAutoFit/>
            </a:bodyPr>
            <a:lstStyle/>
            <a:p>
              <a:pPr algn="l"/>
              <a:r>
                <a:rPr lang="zh-CN" sz="1350" b="1" dirty="0">
                  <a:solidFill>
                    <a:srgbClr val="8899BB"/>
                  </a:solidFill>
                  <a:latin typeface="Arial"/>
                  <a:ea typeface="Microsoft YaHei"/>
                  <a:cs typeface="Arial"/>
                </a:rPr>
                <a:t>Neutral</a:t>
              </a:r>
            </a:p>
          </p:txBody>
        </p:sp>
        <p:sp>
          <p:nvSpPr>
            <p:cNvPr id="33" name="TextBox 33"/>
            <p:cNvSpPr txBox="1"/>
            <p:nvPr/>
          </p:nvSpPr>
          <p:spPr>
            <a:xfrm>
              <a:off x="749618" y="4200049"/>
              <a:ext cx="344233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FSD progress (miles trained) and Megapack order</a:t>
              </a:r>
            </a:p>
          </p:txBody>
        </p:sp>
        <p:sp>
          <p:nvSpPr>
            <p:cNvPr id="34" name="TextBox 34"/>
            <p:cNvSpPr txBox="1"/>
            <p:nvPr/>
          </p:nvSpPr>
          <p:spPr>
            <a:xfrm>
              <a:off x="749618" y="4390549"/>
              <a:ext cx="3520654"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visibility are best info edges. Robotaxi regulatory</a:t>
              </a:r>
            </a:p>
          </p:txBody>
        </p:sp>
        <p:sp>
          <p:nvSpPr>
            <p:cNvPr id="35" name="TextBox 35"/>
            <p:cNvSpPr txBox="1"/>
            <p:nvPr/>
          </p:nvSpPr>
          <p:spPr>
            <a:xfrm>
              <a:off x="749618" y="4581049"/>
              <a:ext cx="3477935"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timeline is opaque — depends on non-public filings.</a:t>
              </a:r>
            </a:p>
          </p:txBody>
        </p:sp>
      </p:grpSp>
      <p:grpSp>
        <p:nvGrpSpPr>
          <p:cNvPr id="43" name="Group 43"/>
          <p:cNvGrpSpPr/>
          <p:nvPr/>
        </p:nvGrpSpPr>
        <p:grpSpPr>
          <a:xfrm>
            <a:off x="6286500" y="3448050"/>
            <a:ext cx="5334000" cy="2495550"/>
            <a:chOff x="6286500" y="3448050"/>
            <a:chExt cx="5334000" cy="2495550"/>
          </a:xfrm>
        </p:grpSpPr>
        <p:sp>
          <p:nvSpPr>
            <p:cNvPr id="37" name="Rectangle 37"/>
            <p:cNvSpPr/>
            <p:nvPr/>
          </p:nvSpPr>
          <p:spPr>
            <a:xfrm>
              <a:off x="6286500" y="3448050"/>
              <a:ext cx="5334000" cy="2495550"/>
            </a:xfrm>
            <a:prstGeom prst="roundRect">
              <a:avLst>
                <a:gd name="adj" fmla="val 1527"/>
              </a:avLst>
            </a:prstGeom>
            <a:solidFill>
              <a:srgbClr val="131B30"/>
            </a:solidFill>
            <a:ln>
              <a:noFill/>
            </a:ln>
          </p:spPr>
        </p:sp>
        <p:sp>
          <p:nvSpPr>
            <p:cNvPr id="38" name="TextBox 38"/>
            <p:cNvSpPr txBox="1"/>
            <p:nvPr/>
          </p:nvSpPr>
          <p:spPr>
            <a:xfrm>
              <a:off x="6464618" y="3647599"/>
              <a:ext cx="981685"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T — TECHNICAL</a:t>
              </a:r>
            </a:p>
          </p:txBody>
        </p:sp>
        <p:sp>
          <p:nvSpPr>
            <p:cNvPr id="39" name="TextBox 39"/>
            <p:cNvSpPr txBox="1"/>
            <p:nvPr/>
          </p:nvSpPr>
          <p:spPr>
            <a:xfrm>
              <a:off x="6459855" y="3892868"/>
              <a:ext cx="779583" cy="274320"/>
            </a:xfrm>
            <a:prstGeom prst="rect">
              <a:avLst/>
            </a:prstGeom>
            <a:noFill/>
            <a:ln>
              <a:noFill/>
            </a:ln>
          </p:spPr>
          <p:txBody>
            <a:bodyPr wrap="none" lIns="0" tIns="0" rIns="0" bIns="0" anchor="t" anchorCtr="0">
              <a:spAutoFit/>
            </a:bodyPr>
            <a:lstStyle/>
            <a:p>
              <a:pPr algn="l"/>
              <a:r>
                <a:rPr lang="zh-CN" sz="1350" b="1" dirty="0">
                  <a:solidFill>
                    <a:srgbClr val="E05C5C"/>
                  </a:solidFill>
                  <a:latin typeface="Arial"/>
                  <a:ea typeface="Microsoft YaHei"/>
                  <a:cs typeface="Arial"/>
                </a:rPr>
                <a:t>Bearish</a:t>
              </a:r>
            </a:p>
          </p:txBody>
        </p:sp>
        <p:sp>
          <p:nvSpPr>
            <p:cNvPr id="40" name="TextBox 40"/>
            <p:cNvSpPr txBox="1"/>
            <p:nvPr/>
          </p:nvSpPr>
          <p:spPr>
            <a:xfrm>
              <a:off x="6464618" y="4200049"/>
              <a:ext cx="3079218"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Stage 3 — price below 50MA / 150MA / 200MA.</a:t>
              </a:r>
            </a:p>
          </p:txBody>
        </p:sp>
        <p:sp>
          <p:nvSpPr>
            <p:cNvPr id="41" name="TextBox 41"/>
            <p:cNvSpPr txBox="1"/>
            <p:nvPr/>
          </p:nvSpPr>
          <p:spPr>
            <a:xfrm>
              <a:off x="6464618" y="4390549"/>
              <a:ext cx="320737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Trend template 3/8. RS vs SPY: -15ppt (3mo).</a:t>
              </a:r>
            </a:p>
          </p:txBody>
        </p:sp>
        <p:sp>
          <p:nvSpPr>
            <p:cNvPr id="42" name="TextBox 42"/>
            <p:cNvSpPr txBox="1"/>
            <p:nvPr/>
          </p:nvSpPr>
          <p:spPr>
            <a:xfrm>
              <a:off x="6464618" y="4581049"/>
              <a:ext cx="3356896"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No valid consolidation base. SEPA: do not enter.</a:t>
              </a:r>
            </a:p>
          </p:txBody>
        </p:sp>
      </p:grpSp>
      <p:grpSp>
        <p:nvGrpSpPr>
          <p:cNvPr id="48" name="Group 48"/>
          <p:cNvGrpSpPr/>
          <p:nvPr/>
        </p:nvGrpSpPr>
        <p:grpSpPr>
          <a:xfrm>
            <a:off x="0" y="6324600"/>
            <a:ext cx="12192000" cy="533400"/>
            <a:chOff x="0" y="6324600"/>
            <a:chExt cx="12192000" cy="533400"/>
          </a:xfrm>
        </p:grpSpPr>
        <p:sp>
          <p:nvSpPr>
            <p:cNvPr id="44" name="Rectangle 44"/>
            <p:cNvSpPr/>
            <p:nvPr/>
          </p:nvSpPr>
          <p:spPr>
            <a:xfrm>
              <a:off x="0" y="6324600"/>
              <a:ext cx="12192000" cy="533400"/>
            </a:xfrm>
            <a:prstGeom prst="rect">
              <a:avLst/>
            </a:prstGeom>
            <a:solidFill>
              <a:srgbClr val="131B30"/>
            </a:solidFill>
            <a:ln>
              <a:noFill/>
            </a:ln>
          </p:spPr>
        </p:sp>
        <p:sp>
          <p:nvSpPr>
            <p:cNvPr id="45" name="Rectangle 45"/>
            <p:cNvSpPr/>
            <p:nvPr/>
          </p:nvSpPr>
          <p:spPr>
            <a:xfrm>
              <a:off x="0" y="6324600"/>
              <a:ext cx="12192000" cy="9525"/>
            </a:xfrm>
            <a:prstGeom prst="rect">
              <a:avLst/>
            </a:prstGeom>
            <a:solidFill>
              <a:srgbClr val="F5C842">
                <a:alpha val="35000"/>
              </a:srgbClr>
            </a:solidFill>
            <a:ln>
              <a:noFill/>
            </a:ln>
          </p:spPr>
        </p:sp>
        <p:sp>
          <p:nvSpPr>
            <p:cNvPr id="46" name="TextBox 46"/>
            <p:cNvSpPr txBox="1"/>
            <p:nvPr/>
          </p:nvSpPr>
          <p:spPr>
            <a:xfrm>
              <a:off x="749618" y="6533674"/>
              <a:ext cx="138467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Decision Framework</a:t>
              </a:r>
            </a:p>
          </p:txBody>
        </p:sp>
        <p:sp>
          <p:nvSpPr>
            <p:cNvPr id="47" name="TextBox 47"/>
            <p:cNvSpPr txBox="1"/>
            <p:nvPr/>
          </p:nvSpPr>
          <p:spPr>
            <a:xfrm>
              <a:off x="11296579" y="6533674"/>
              <a:ext cx="14580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checkerboard(across)">
                                      <p:cBhvr>
                                        <p:cTn id="11" dur="400"/>
                                        <p:tgtEl>
                                          <p:spTgt spid="12"/>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ssolve">
                                      <p:cBhvr>
                                        <p:cTn id="15" dur="400"/>
                                        <p:tgtEl>
                                          <p:spTgt spid="15"/>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lide(fromBottom)">
                                      <p:cBhvr>
                                        <p:cTn id="19" dur="400"/>
                                        <p:tgtEl>
                                          <p:spTgt spid="22"/>
                                        </p:tgtEl>
                                      </p:cBhvr>
                                    </p:animEffect>
                                  </p:childTnLst>
                                </p:cTn>
                              </p:par>
                            </p:childTnLst>
                          </p:cTn>
                        </p:par>
                        <p:par>
                          <p:cTn id="20" fill="hold">
                            <p:stCondLst>
                              <p:cond delay="3600"/>
                            </p:stCondLst>
                            <p:childTnLst>
                              <p:par>
                                <p:cTn id="21" presetID="42" presetClass="entr" presetSubtype="8"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slide(fromLeft)">
                                      <p:cBhvr>
                                        <p:cTn id="23" dur="400"/>
                                        <p:tgtEl>
                                          <p:spTgt spid="29"/>
                                        </p:tgtEl>
                                      </p:cBhvr>
                                    </p:animEffect>
                                  </p:childTnLst>
                                </p:cTn>
                              </p:par>
                            </p:childTnLst>
                          </p:cTn>
                        </p:par>
                        <p:par>
                          <p:cTn id="24" fill="hold">
                            <p:stCondLst>
                              <p:cond delay="4500"/>
                            </p:stCondLst>
                            <p:childTnLst>
                              <p:par>
                                <p:cTn id="25" presetID="14" presetClass="entr" presetSubtype="10" fill="hold" nodeType="after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randombar(horizontal)">
                                      <p:cBhvr>
                                        <p:cTn id="27" dur="400"/>
                                        <p:tgtEl>
                                          <p:spTgt spid="36"/>
                                        </p:tgtEl>
                                      </p:cBhvr>
                                    </p:animEffect>
                                  </p:childTnLst>
                                </p:cTn>
                              </p:par>
                            </p:childTnLst>
                          </p:cTn>
                        </p:par>
                        <p:par>
                          <p:cTn id="28" fill="hold">
                            <p:stCondLst>
                              <p:cond delay="5400"/>
                            </p:stCondLst>
                            <p:childTnLst>
                              <p:par>
                                <p:cTn id="29" presetID="4" presetClass="entr" presetSubtype="0" fill="hold" nodeType="after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box(in)">
                                      <p:cBhvr>
                                        <p:cTn id="31" dur="400"/>
                                        <p:tgtEl>
                                          <p:spTgt spid="43"/>
                                        </p:tgtEl>
                                      </p:cBhvr>
                                    </p:animEffect>
                                  </p:childTnLst>
                                </p:cTn>
                              </p:par>
                            </p:childTnLst>
                          </p:cTn>
                        </p:par>
                        <p:par>
                          <p:cTn id="32" fill="hold">
                            <p:stCondLst>
                              <p:cond delay="6300"/>
                            </p:stCondLst>
                            <p:childTnLst>
                              <p:par>
                                <p:cTn id="33" presetID="16" presetClass="entr" presetSubtype="21" fill="hold" nodeType="afterEffect">
                                  <p:stCondLst>
                                    <p:cond delay="0"/>
                                  </p:stCondLst>
                                  <p:childTnLst>
                                    <p:set>
                                      <p:cBhvr>
                                        <p:cTn id="34" dur="1" fill="hold">
                                          <p:stCondLst>
                                            <p:cond delay="0"/>
                                          </p:stCondLst>
                                        </p:cTn>
                                        <p:tgtEl>
                                          <p:spTgt spid="48"/>
                                        </p:tgtEl>
                                        <p:attrNameLst>
                                          <p:attrName>style.visibility</p:attrName>
                                        </p:attrNameLst>
                                      </p:cBhvr>
                                      <p:to>
                                        <p:strVal val="visible"/>
                                      </p:to>
                                    </p:set>
                                    <p:animEffect transition="in" filter="barn(inVertical)">
                                      <p:cBhvr>
                                        <p:cTn id="35"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5" grpId="0"/>
      <p:bldP spid="22" grpId="0"/>
      <p:bldP spid="29" grpId="0"/>
      <p:bldP spid="36" grpId="0"/>
      <p:bldP spid="43"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grpSp>
      <p:grpSp>
        <p:nvGrpSpPr>
          <p:cNvPr id="8" name="Group 8"/>
          <p:cNvGrpSpPr/>
          <p:nvPr/>
        </p:nvGrpSpPr>
        <p:grpSpPr>
          <a:xfrm>
            <a:off x="0" y="38100"/>
            <a:ext cx="12192000" cy="609600"/>
            <a:chOff x="0" y="38100"/>
            <a:chExt cx="12192000" cy="609600"/>
          </a:xfrm>
        </p:grpSpPr>
        <p:sp>
          <p:nvSpPr>
            <p:cNvPr id="5" name="Rectangle 5"/>
            <p:cNvSpPr/>
            <p:nvPr/>
          </p:nvSpPr>
          <p:spPr>
            <a:xfrm>
              <a:off x="0" y="38100"/>
              <a:ext cx="12192000" cy="609600"/>
            </a:xfrm>
            <a:prstGeom prst="rect">
              <a:avLst/>
            </a:prstGeom>
            <a:solidFill>
              <a:srgbClr val="131B30"/>
            </a:solidFill>
            <a:ln>
              <a:noFill/>
            </a:ln>
          </p:spPr>
        </p:sp>
        <p:sp>
          <p:nvSpPr>
            <p:cNvPr id="6" name="Rectangle 6"/>
            <p:cNvSpPr/>
            <p:nvPr/>
          </p:nvSpPr>
          <p:spPr>
            <a:xfrm>
              <a:off x="571500" y="152400"/>
              <a:ext cx="38100" cy="381000"/>
            </a:xfrm>
            <a:prstGeom prst="rect">
              <a:avLst/>
            </a:prstGeom>
            <a:solidFill>
              <a:srgbClr val="F5C842"/>
            </a:solidFill>
            <a:ln>
              <a:noFill/>
            </a:ln>
          </p:spPr>
        </p:sp>
        <p:sp>
          <p:nvSpPr>
            <p:cNvPr id="7" name="TextBox 7"/>
            <p:cNvSpPr txBox="1"/>
            <p:nvPr/>
          </p:nvSpPr>
          <p:spPr>
            <a:xfrm>
              <a:off x="737235" y="227648"/>
              <a:ext cx="2292310" cy="396240"/>
            </a:xfrm>
            <a:prstGeom prst="rect">
              <a:avLst/>
            </a:prstGeom>
            <a:noFill/>
            <a:ln>
              <a:noFill/>
            </a:ln>
          </p:spPr>
          <p:txBody>
            <a:bodyPr wrap="none" lIns="0" tIns="0" rIns="0" bIns="0" anchor="t" anchorCtr="0">
              <a:spAutoFit/>
            </a:bodyPr>
            <a:lstStyle/>
            <a:p>
              <a:pPr algn="l"/>
              <a:r>
                <a:rPr lang="zh-CN" sz="1950" b="1" dirty="0">
                  <a:solidFill>
                    <a:srgbClr val="E8EAF0"/>
                  </a:solidFill>
                  <a:latin typeface="Arial"/>
                  <a:ea typeface="Microsoft YaHei"/>
                  <a:cs typeface="Arial"/>
                </a:rPr>
                <a:t>Verdict &amp; Entry</a:t>
              </a:r>
            </a:p>
          </p:txBody>
        </p:sp>
      </p:grpSp>
      <p:grpSp>
        <p:nvGrpSpPr>
          <p:cNvPr id="11" name="Group 11"/>
          <p:cNvGrpSpPr/>
          <p:nvPr/>
        </p:nvGrpSpPr>
        <p:grpSpPr>
          <a:xfrm>
            <a:off x="4191000" y="952500"/>
            <a:ext cx="3810000" cy="971550"/>
            <a:chOff x="4191000" y="952500"/>
            <a:chExt cx="3810000" cy="971550"/>
          </a:xfrm>
        </p:grpSpPr>
        <p:sp>
          <p:nvSpPr>
            <p:cNvPr id="9" name="Rectangle 9"/>
            <p:cNvSpPr/>
            <p:nvPr/>
          </p:nvSpPr>
          <p:spPr>
            <a:xfrm>
              <a:off x="4191000" y="952500"/>
              <a:ext cx="3810000" cy="952500"/>
            </a:xfrm>
            <a:prstGeom prst="roundRect">
              <a:avLst>
                <a:gd name="adj" fmla="val 50000"/>
              </a:avLst>
            </a:prstGeom>
            <a:solidFill>
              <a:srgbClr val="F0A030"/>
            </a:solidFill>
            <a:ln>
              <a:noFill/>
            </a:ln>
          </p:spPr>
        </p:sp>
        <p:sp>
          <p:nvSpPr>
            <p:cNvPr id="10" name="TextBox 10"/>
            <p:cNvSpPr txBox="1"/>
            <p:nvPr/>
          </p:nvSpPr>
          <p:spPr>
            <a:xfrm>
              <a:off x="5164310" y="1131570"/>
              <a:ext cx="1863381" cy="792480"/>
            </a:xfrm>
            <a:prstGeom prst="rect">
              <a:avLst/>
            </a:prstGeom>
            <a:noFill/>
            <a:ln>
              <a:noFill/>
            </a:ln>
          </p:spPr>
          <p:txBody>
            <a:bodyPr wrap="none" lIns="0" tIns="0" rIns="0" bIns="0" anchor="t" anchorCtr="0">
              <a:spAutoFit/>
            </a:bodyPr>
            <a:lstStyle/>
            <a:p>
              <a:pPr algn="ctr"/>
              <a:r>
                <a:rPr lang="zh-CN" sz="3900" b="1" dirty="0">
                  <a:solidFill>
                    <a:srgbClr val="0A0E1A"/>
                  </a:solidFill>
                  <a:latin typeface="Arial"/>
                  <a:ea typeface="Microsoft YaHei"/>
                  <a:cs typeface="Arial"/>
                </a:rPr>
                <a:t>WATCH</a:t>
              </a:r>
            </a:p>
          </p:txBody>
        </p:sp>
      </p:grpSp>
      <p:sp>
        <p:nvSpPr>
          <p:cNvPr id="12" name="Rectangle 12"/>
          <p:cNvSpPr/>
          <p:nvPr/>
        </p:nvSpPr>
        <p:spPr>
          <a:xfrm>
            <a:off x="571500" y="2190750"/>
            <a:ext cx="11049000" cy="19050"/>
          </a:xfrm>
          <a:prstGeom prst="rect">
            <a:avLst/>
          </a:prstGeom>
          <a:solidFill>
            <a:srgbClr val="2A3A5C"/>
          </a:solidFill>
          <a:ln>
            <a:noFill/>
          </a:ln>
        </p:spPr>
      </p:sp>
      <p:grpSp>
        <p:nvGrpSpPr>
          <p:cNvPr id="17" name="Group 17"/>
          <p:cNvGrpSpPr/>
          <p:nvPr/>
        </p:nvGrpSpPr>
        <p:grpSpPr>
          <a:xfrm>
            <a:off x="747712" y="2485549"/>
            <a:ext cx="5853232" cy="993457"/>
            <a:chOff x="747712" y="2485549"/>
            <a:chExt cx="5853232" cy="993457"/>
          </a:xfrm>
        </p:grpSpPr>
        <p:sp>
          <p:nvSpPr>
            <p:cNvPr id="13" name="TextBox 13"/>
            <p:cNvSpPr txBox="1"/>
            <p:nvPr/>
          </p:nvSpPr>
          <p:spPr>
            <a:xfrm>
              <a:off x="749618" y="2485549"/>
              <a:ext cx="1191011"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1-YEAR OUTLOOK</a:t>
              </a:r>
            </a:p>
          </p:txBody>
        </p:sp>
        <p:sp>
          <p:nvSpPr>
            <p:cNvPr id="14" name="TextBox 14"/>
            <p:cNvSpPr txBox="1"/>
            <p:nvPr/>
          </p:nvSpPr>
          <p:spPr>
            <a:xfrm>
              <a:off x="747712" y="2755106"/>
              <a:ext cx="5302806" cy="228600"/>
            </a:xfrm>
            <a:prstGeom prst="rect">
              <a:avLst/>
            </a:prstGeom>
            <a:noFill/>
            <a:ln>
              <a:noFill/>
            </a:ln>
          </p:spPr>
          <p:txBody>
            <a:bodyPr wrap="none" lIns="0" tIns="0" rIns="0" bIns="0" anchor="t" anchorCtr="0">
              <a:spAutoFit/>
            </a:bodyPr>
            <a:lstStyle/>
            <a:p>
              <a:pPr algn="l"/>
              <a:r>
                <a:rPr lang="zh-CN" sz="1125" dirty="0">
                  <a:solidFill>
                    <a:srgbClr val="E8EAF0"/>
                  </a:solidFill>
                  <a:latin typeface="Arial"/>
                  <a:ea typeface="Microsoft YaHei"/>
                  <a:cs typeface="Arial"/>
                </a:rPr>
                <a:t>Base target: $450–500 (+18–32%). Probability-weighted EV: $408.</a:t>
              </a:r>
            </a:p>
          </p:txBody>
        </p:sp>
        <p:sp>
          <p:nvSpPr>
            <p:cNvPr id="15" name="TextBox 15"/>
            <p:cNvSpPr txBox="1"/>
            <p:nvPr/>
          </p:nvSpPr>
          <p:spPr>
            <a:xfrm>
              <a:off x="747712" y="3002756"/>
              <a:ext cx="5853232" cy="228600"/>
            </a:xfrm>
            <a:prstGeom prst="rect">
              <a:avLst/>
            </a:prstGeom>
            <a:noFill/>
            <a:ln>
              <a:noFill/>
            </a:ln>
          </p:spPr>
          <p:txBody>
            <a:bodyPr wrap="none" lIns="0" tIns="0" rIns="0" bIns="0" anchor="t" anchorCtr="0">
              <a:spAutoFit/>
            </a:bodyPr>
            <a:lstStyle/>
            <a:p>
              <a:pPr algn="l"/>
              <a:r>
                <a:rPr lang="zh-CN" sz="1125" dirty="0">
                  <a:solidFill>
                    <a:srgbClr val="4CAF82"/>
                  </a:solidFill>
                  <a:latin typeface="Arial"/>
                  <a:ea typeface="Microsoft YaHei"/>
                  <a:cs typeface="Arial"/>
                </a:rPr>
                <a:t>Upside: $600+ if Austin Robotaxi commercial launch confirmed in 2H 2026.</a:t>
              </a:r>
            </a:p>
          </p:txBody>
        </p:sp>
        <p:sp>
          <p:nvSpPr>
            <p:cNvPr id="16" name="TextBox 16"/>
            <p:cNvSpPr txBox="1"/>
            <p:nvPr/>
          </p:nvSpPr>
          <p:spPr>
            <a:xfrm>
              <a:off x="747712" y="3250406"/>
              <a:ext cx="5771078" cy="228600"/>
            </a:xfrm>
            <a:prstGeom prst="rect">
              <a:avLst/>
            </a:prstGeom>
            <a:noFill/>
            <a:ln>
              <a:noFill/>
            </a:ln>
          </p:spPr>
          <p:txBody>
            <a:bodyPr wrap="none" lIns="0" tIns="0" rIns="0" bIns="0" anchor="t" anchorCtr="0">
              <a:spAutoFit/>
            </a:bodyPr>
            <a:lstStyle/>
            <a:p>
              <a:pPr algn="l"/>
              <a:r>
                <a:rPr lang="zh-CN" sz="1125" dirty="0">
                  <a:solidFill>
                    <a:srgbClr val="E05C5C"/>
                  </a:solidFill>
                  <a:latin typeface="Arial"/>
                  <a:ea typeface="Microsoft YaHei"/>
                  <a:cs typeface="Arial"/>
                </a:rPr>
                <a:t>Downside: $280–300 on re-delay to 2028+ + BYD share loss acceleration.</a:t>
              </a:r>
            </a:p>
          </p:txBody>
        </p:sp>
      </p:grpSp>
      <p:sp>
        <p:nvSpPr>
          <p:cNvPr id="18" name="Rectangle 18"/>
          <p:cNvSpPr/>
          <p:nvPr/>
        </p:nvSpPr>
        <p:spPr>
          <a:xfrm>
            <a:off x="6286500" y="2400300"/>
            <a:ext cx="9525" cy="1809750"/>
          </a:xfrm>
          <a:prstGeom prst="rect">
            <a:avLst/>
          </a:prstGeom>
          <a:solidFill>
            <a:srgbClr val="2A3A5C"/>
          </a:solidFill>
          <a:ln>
            <a:noFill/>
          </a:ln>
        </p:spPr>
      </p:sp>
      <p:grpSp>
        <p:nvGrpSpPr>
          <p:cNvPr id="23" name="Group 23"/>
          <p:cNvGrpSpPr/>
          <p:nvPr/>
        </p:nvGrpSpPr>
        <p:grpSpPr>
          <a:xfrm>
            <a:off x="6557962" y="2485549"/>
            <a:ext cx="4859179" cy="993457"/>
            <a:chOff x="6557962" y="2485549"/>
            <a:chExt cx="4859179" cy="993457"/>
          </a:xfrm>
        </p:grpSpPr>
        <p:sp>
          <p:nvSpPr>
            <p:cNvPr id="19" name="TextBox 19"/>
            <p:cNvSpPr txBox="1"/>
            <p:nvPr/>
          </p:nvSpPr>
          <p:spPr>
            <a:xfrm>
              <a:off x="6559868" y="2485549"/>
              <a:ext cx="1168583"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POSITION ADVICE</a:t>
              </a:r>
            </a:p>
          </p:txBody>
        </p:sp>
        <p:sp>
          <p:nvSpPr>
            <p:cNvPr id="20" name="TextBox 20"/>
            <p:cNvSpPr txBox="1"/>
            <p:nvPr/>
          </p:nvSpPr>
          <p:spPr>
            <a:xfrm>
              <a:off x="6557962" y="2755106"/>
              <a:ext cx="3865126" cy="228600"/>
            </a:xfrm>
            <a:prstGeom prst="rect">
              <a:avLst/>
            </a:prstGeom>
            <a:noFill/>
            <a:ln>
              <a:noFill/>
            </a:ln>
          </p:spPr>
          <p:txBody>
            <a:bodyPr wrap="none" lIns="0" tIns="0" rIns="0" bIns="0" anchor="t" anchorCtr="0">
              <a:spAutoFit/>
            </a:bodyPr>
            <a:lstStyle/>
            <a:p>
              <a:pPr algn="l"/>
              <a:r>
                <a:rPr lang="zh-CN" sz="1125" dirty="0">
                  <a:solidFill>
                    <a:srgbClr val="8899BB"/>
                  </a:solidFill>
                  <a:latin typeface="Arial"/>
                  <a:ea typeface="Microsoft YaHei"/>
                  <a:cs typeface="Arial"/>
                </a:rPr>
                <a:t>Current: 0% (Stage 3 technical — do not enter).</a:t>
              </a:r>
            </a:p>
          </p:txBody>
        </p:sp>
        <p:sp>
          <p:nvSpPr>
            <p:cNvPr id="21" name="TextBox 21"/>
            <p:cNvSpPr txBox="1"/>
            <p:nvPr/>
          </p:nvSpPr>
          <p:spPr>
            <a:xfrm>
              <a:off x="6557962" y="3002756"/>
              <a:ext cx="4374475" cy="228600"/>
            </a:xfrm>
            <a:prstGeom prst="rect">
              <a:avLst/>
            </a:prstGeom>
            <a:noFill/>
            <a:ln>
              <a:noFill/>
            </a:ln>
          </p:spPr>
          <p:txBody>
            <a:bodyPr wrap="none" lIns="0" tIns="0" rIns="0" bIns="0" anchor="t" anchorCtr="0">
              <a:spAutoFit/>
            </a:bodyPr>
            <a:lstStyle/>
            <a:p>
              <a:pPr algn="l"/>
              <a:r>
                <a:rPr lang="zh-CN" sz="1125" dirty="0">
                  <a:solidFill>
                    <a:srgbClr val="E8EAF0"/>
                  </a:solidFill>
                  <a:latin typeface="Arial"/>
                  <a:ea typeface="Microsoft YaHei"/>
                  <a:cs typeface="Arial"/>
                </a:rPr>
                <a:t>First entry: 50MA reclaim ($386) + above-avg volume.</a:t>
              </a:r>
            </a:p>
          </p:txBody>
        </p:sp>
        <p:sp>
          <p:nvSpPr>
            <p:cNvPr id="22" name="TextBox 22"/>
            <p:cNvSpPr txBox="1"/>
            <p:nvPr/>
          </p:nvSpPr>
          <p:spPr>
            <a:xfrm>
              <a:off x="6557962" y="3250406"/>
              <a:ext cx="4859179" cy="228600"/>
            </a:xfrm>
            <a:prstGeom prst="rect">
              <a:avLst/>
            </a:prstGeom>
            <a:noFill/>
            <a:ln>
              <a:noFill/>
            </a:ln>
          </p:spPr>
          <p:txBody>
            <a:bodyPr wrap="none" lIns="0" tIns="0" rIns="0" bIns="0" anchor="t" anchorCtr="0">
              <a:spAutoFit/>
            </a:bodyPr>
            <a:lstStyle/>
            <a:p>
              <a:pPr algn="l"/>
              <a:r>
                <a:rPr lang="zh-CN" sz="1125" dirty="0">
                  <a:solidFill>
                    <a:srgbClr val="E8EAF0"/>
                  </a:solidFill>
                  <a:latin typeface="Arial"/>
                  <a:ea typeface="Microsoft YaHei"/>
                  <a:cs typeface="Arial"/>
                </a:rPr>
                <a:t>Max position: 5–8%. LEAPS: 2028 $400 strike as alternative.</a:t>
              </a:r>
            </a:p>
          </p:txBody>
        </p:sp>
      </p:grpSp>
      <p:sp>
        <p:nvSpPr>
          <p:cNvPr id="24" name="Rectangle 24"/>
          <p:cNvSpPr/>
          <p:nvPr/>
        </p:nvSpPr>
        <p:spPr>
          <a:xfrm>
            <a:off x="571500" y="4419600"/>
            <a:ext cx="11049000" cy="19050"/>
          </a:xfrm>
          <a:prstGeom prst="rect">
            <a:avLst/>
          </a:prstGeom>
          <a:solidFill>
            <a:srgbClr val="2A3A5C"/>
          </a:solidFill>
          <a:ln>
            <a:noFill/>
          </a:ln>
        </p:spPr>
      </p:sp>
      <p:sp>
        <p:nvSpPr>
          <p:cNvPr id="25" name="TextBox 25"/>
          <p:cNvSpPr txBox="1"/>
          <p:nvPr/>
        </p:nvSpPr>
        <p:spPr>
          <a:xfrm>
            <a:off x="749618" y="4561999"/>
            <a:ext cx="1310626" cy="198120"/>
          </a:xfrm>
          <a:prstGeom prst="rect">
            <a:avLst/>
          </a:prstGeom>
          <a:noFill/>
          <a:ln>
            <a:noFill/>
          </a:ln>
        </p:spPr>
        <p:txBody>
          <a:bodyPr wrap="none" lIns="0" tIns="0" rIns="0" bIns="0" anchor="t" anchorCtr="0">
            <a:spAutoFit/>
          </a:bodyPr>
          <a:lstStyle/>
          <a:p>
            <a:pPr algn="l"/>
            <a:r>
              <a:rPr lang="zh-CN" sz="975" b="1" dirty="0">
                <a:solidFill>
                  <a:srgbClr val="4A90D9"/>
                </a:solidFill>
                <a:latin typeface="Arial"/>
                <a:ea typeface="Microsoft YaHei"/>
                <a:cs typeface="Arial"/>
              </a:rPr>
              <a:t>KEY ENTRY TRIGGER</a:t>
            </a:r>
          </a:p>
        </p:txBody>
      </p:sp>
      <p:sp>
        <p:nvSpPr>
          <p:cNvPr id="26" name="Rectangle 26"/>
          <p:cNvSpPr/>
          <p:nvPr/>
        </p:nvSpPr>
        <p:spPr>
          <a:xfrm>
            <a:off x="571500" y="4800600"/>
            <a:ext cx="11049000" cy="609600"/>
          </a:xfrm>
          <a:prstGeom prst="roundRect">
            <a:avLst>
              <a:gd name="adj" fmla="val 6250"/>
            </a:avLst>
          </a:prstGeom>
          <a:solidFill>
            <a:srgbClr val="131B30"/>
          </a:solidFill>
          <a:ln>
            <a:noFill/>
          </a:ln>
        </p:spPr>
      </p:sp>
      <p:sp>
        <p:nvSpPr>
          <p:cNvPr id="27" name="Rectangle 27"/>
          <p:cNvSpPr/>
          <p:nvPr/>
        </p:nvSpPr>
        <p:spPr>
          <a:xfrm>
            <a:off x="571500" y="4800600"/>
            <a:ext cx="47625" cy="609600"/>
          </a:xfrm>
          <a:prstGeom prst="rect">
            <a:avLst/>
          </a:prstGeom>
          <a:solidFill>
            <a:srgbClr val="F5C842"/>
          </a:solidFill>
          <a:ln>
            <a:noFill/>
          </a:ln>
        </p:spPr>
      </p:sp>
      <p:sp>
        <p:nvSpPr>
          <p:cNvPr id="28" name="TextBox 28"/>
          <p:cNvSpPr txBox="1"/>
          <p:nvPr/>
        </p:nvSpPr>
        <p:spPr>
          <a:xfrm>
            <a:off x="746760" y="4918710"/>
            <a:ext cx="5689187" cy="243840"/>
          </a:xfrm>
          <a:prstGeom prst="rect">
            <a:avLst/>
          </a:prstGeom>
          <a:noFill/>
          <a:ln>
            <a:noFill/>
          </a:ln>
        </p:spPr>
        <p:txBody>
          <a:bodyPr wrap="none" lIns="0" tIns="0" rIns="0" bIns="0" anchor="t" anchorCtr="0">
            <a:spAutoFit/>
          </a:bodyPr>
          <a:lstStyle/>
          <a:p>
            <a:pPr algn="l"/>
            <a:r>
              <a:rPr lang="zh-CN" sz="1200" b="1" dirty="0">
                <a:solidFill>
                  <a:srgbClr val="F5C842"/>
                </a:solidFill>
                <a:latin typeface="Arial"/>
                <a:ea typeface="Microsoft YaHei"/>
                <a:cs typeface="Arial"/>
              </a:rPr>
              <a:t>Reclaim 50MA at $386 with above-average volume confirmation,</a:t>
            </a:r>
          </a:p>
        </p:txBody>
      </p:sp>
      <p:sp>
        <p:nvSpPr>
          <p:cNvPr id="29" name="TextBox 29"/>
          <p:cNvSpPr txBox="1"/>
          <p:nvPr/>
        </p:nvSpPr>
        <p:spPr>
          <a:xfrm>
            <a:off x="746760" y="5147310"/>
            <a:ext cx="5348745" cy="243840"/>
          </a:xfrm>
          <a:prstGeom prst="rect">
            <a:avLst/>
          </a:prstGeom>
          <a:noFill/>
          <a:ln>
            <a:noFill/>
          </a:ln>
        </p:spPr>
        <p:txBody>
          <a:bodyPr wrap="none" lIns="0" tIns="0" rIns="0" bIns="0" anchor="t" anchorCtr="0">
            <a:spAutoFit/>
          </a:bodyPr>
          <a:lstStyle/>
          <a:p>
            <a:pPr algn="l"/>
            <a:r>
              <a:rPr lang="zh-CN" sz="1200" b="1" dirty="0">
                <a:solidFill>
                  <a:srgbClr val="F5C842"/>
                </a:solidFill>
                <a:latin typeface="Arial"/>
                <a:ea typeface="Microsoft YaHei"/>
                <a:cs typeface="Arial"/>
              </a:rPr>
              <a:t>OR Robotaxi Austin commercial launch public announcement.</a:t>
            </a:r>
          </a:p>
        </p:txBody>
      </p:sp>
      <p:sp>
        <p:nvSpPr>
          <p:cNvPr id="30" name="TextBox 30"/>
          <p:cNvSpPr txBox="1"/>
          <p:nvPr/>
        </p:nvSpPr>
        <p:spPr>
          <a:xfrm>
            <a:off x="749618" y="5590699"/>
            <a:ext cx="8874847"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Stop Loss: Close below $310 (8-week low / prior support). Position sizing: never exceed 8% of portfolio while Stage 3 persists.</a:t>
            </a:r>
          </a:p>
        </p:txBody>
      </p:sp>
      <p:grpSp>
        <p:nvGrpSpPr>
          <p:cNvPr id="35" name="Group 35"/>
          <p:cNvGrpSpPr/>
          <p:nvPr/>
        </p:nvGrpSpPr>
        <p:grpSpPr>
          <a:xfrm>
            <a:off x="0" y="6324600"/>
            <a:ext cx="12192000" cy="533400"/>
            <a:chOff x="0" y="6324600"/>
            <a:chExt cx="12192000" cy="533400"/>
          </a:xfrm>
        </p:grpSpPr>
        <p:sp>
          <p:nvSpPr>
            <p:cNvPr id="31" name="Rectangle 31"/>
            <p:cNvSpPr/>
            <p:nvPr/>
          </p:nvSpPr>
          <p:spPr>
            <a:xfrm>
              <a:off x="0" y="6324600"/>
              <a:ext cx="12192000" cy="533400"/>
            </a:xfrm>
            <a:prstGeom prst="rect">
              <a:avLst/>
            </a:prstGeom>
            <a:solidFill>
              <a:srgbClr val="131B30"/>
            </a:solidFill>
            <a:ln>
              <a:noFill/>
            </a:ln>
          </p:spPr>
        </p:sp>
        <p:sp>
          <p:nvSpPr>
            <p:cNvPr id="32" name="Rectangle 32"/>
            <p:cNvSpPr/>
            <p:nvPr/>
          </p:nvSpPr>
          <p:spPr>
            <a:xfrm>
              <a:off x="0" y="6324600"/>
              <a:ext cx="12192000" cy="9525"/>
            </a:xfrm>
            <a:prstGeom prst="rect">
              <a:avLst/>
            </a:prstGeom>
            <a:solidFill>
              <a:srgbClr val="F5C842">
                <a:alpha val="35000"/>
              </a:srgbClr>
            </a:solidFill>
            <a:ln>
              <a:noFill/>
            </a:ln>
          </p:spPr>
        </p:sp>
        <p:sp>
          <p:nvSpPr>
            <p:cNvPr id="33" name="TextBox 33"/>
            <p:cNvSpPr txBox="1"/>
            <p:nvPr/>
          </p:nvSpPr>
          <p:spPr>
            <a:xfrm>
              <a:off x="749618" y="6533674"/>
              <a:ext cx="1384673" cy="198120"/>
            </a:xfrm>
            <a:prstGeom prst="rect">
              <a:avLst/>
            </a:prstGeom>
            <a:noFill/>
            <a:ln>
              <a:noFill/>
            </a:ln>
          </p:spPr>
          <p:txBody>
            <a:bodyPr wrap="none" lIns="0" tIns="0" rIns="0" bIns="0" anchor="t" anchorCtr="0">
              <a:spAutoFit/>
            </a:bodyPr>
            <a:lstStyle/>
            <a:p>
              <a:pPr algn="l"/>
              <a:r>
                <a:rPr lang="zh-CN" sz="975" dirty="0">
                  <a:solidFill>
                    <a:srgbClr val="8899BB"/>
                  </a:solidFill>
                  <a:latin typeface="Arial"/>
                  <a:ea typeface="Microsoft YaHei"/>
                  <a:cs typeface="Arial"/>
                </a:rPr>
                <a:t>Decision Framework</a:t>
              </a:r>
            </a:p>
          </p:txBody>
        </p:sp>
        <p:sp>
          <p:nvSpPr>
            <p:cNvPr id="34" name="TextBox 34"/>
            <p:cNvSpPr txBox="1"/>
            <p:nvPr/>
          </p:nvSpPr>
          <p:spPr>
            <a:xfrm>
              <a:off x="11296579" y="6533674"/>
              <a:ext cx="145804" cy="198120"/>
            </a:xfrm>
            <a:prstGeom prst="rect">
              <a:avLst/>
            </a:prstGeom>
            <a:noFill/>
            <a:ln>
              <a:noFill/>
            </a:ln>
          </p:spPr>
          <p:txBody>
            <a:bodyPr wrap="none" lIns="0" tIns="0" rIns="0" bIns="0" anchor="t" anchorCtr="0">
              <a:spAutoFit/>
            </a:bodyPr>
            <a:lstStyle/>
            <a:p>
              <a:pPr algn="r"/>
              <a:r>
                <a:rPr lang="zh-CN" sz="975" dirty="0">
                  <a:solidFill>
                    <a:srgbClr val="8899BB"/>
                  </a:solidFill>
                  <a:latin typeface="Arial"/>
                  <a:ea typeface="Microsoft YaHei"/>
                  <a:cs typeface="Arial"/>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8" presetClass="entr" presetSubtype="12"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strips(downRight)">
                                      <p:cBhvr>
                                        <p:cTn id="11" dur="400"/>
                                        <p:tgtEl>
                                          <p:spTgt spid="11"/>
                                        </p:tgtEl>
                                      </p:cBhvr>
                                    </p:animEffect>
                                  </p:childTnLst>
                                </p:cTn>
                              </p:par>
                            </p:childTnLst>
                          </p:cTn>
                        </p:par>
                        <p:par>
                          <p:cTn id="12" fill="hold">
                            <p:stCondLst>
                              <p:cond delay="1800"/>
                            </p:stCondLst>
                            <p:childTnLst>
                              <p:par>
                                <p:cTn id="13" presetID="20" presetClass="entr" presetSubtype="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edge">
                                      <p:cBhvr>
                                        <p:cTn id="15" dur="400"/>
                                        <p:tgtEl>
                                          <p:spTgt spid="17"/>
                                        </p:tgtEl>
                                      </p:cBhvr>
                                    </p:animEffect>
                                  </p:childTnLst>
                                </p:cTn>
                              </p:par>
                            </p:childTnLst>
                          </p:cTn>
                        </p:par>
                        <p:par>
                          <p:cTn id="16" fill="hold">
                            <p:stCondLst>
                              <p:cond delay="2700"/>
                            </p:stCondLst>
                            <p:childTnLst>
                              <p:par>
                                <p:cTn id="17" presetID="21" presetClass="entr" presetSubtype="0" fill="hold"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heel(4)">
                                      <p:cBhvr>
                                        <p:cTn id="19" dur="400"/>
                                        <p:tgtEl>
                                          <p:spTgt spid="23"/>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left)">
                                      <p:cBhvr>
                                        <p:cTn id="23"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7" grpId="0"/>
      <p:bldP spid="23" grpId="0"/>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6"/>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0A0E1A"/>
            </a:solidFill>
            <a:ln>
              <a:noFill/>
            </a:ln>
          </p:spPr>
        </p:sp>
        <p:sp>
          <p:nvSpPr>
            <p:cNvPr id="3" name="Rectangle 3"/>
            <p:cNvSpPr/>
            <p:nvPr/>
          </p:nvSpPr>
          <p:spPr>
            <a:xfrm>
              <a:off x="0" y="0"/>
              <a:ext cx="12192000" cy="38100"/>
            </a:xfrm>
            <a:prstGeom prst="rect">
              <a:avLst/>
            </a:prstGeom>
            <a:solidFill>
              <a:srgbClr val="F5C842"/>
            </a:solidFill>
            <a:ln>
              <a:noFill/>
            </a:ln>
          </p:spPr>
        </p:sp>
        <p:sp>
          <p:nvSpPr>
            <p:cNvPr id="4" name="Rectangle 4"/>
            <p:cNvSpPr/>
            <p:nvPr/>
          </p:nvSpPr>
          <p:spPr>
            <a:xfrm>
              <a:off x="0" y="6819900"/>
              <a:ext cx="12192000" cy="38100"/>
            </a:xfrm>
            <a:prstGeom prst="rect">
              <a:avLst/>
            </a:prstGeom>
            <a:solidFill>
              <a:srgbClr val="F5C842"/>
            </a:solidFill>
            <a:ln>
              <a:noFill/>
            </a:ln>
          </p:spPr>
        </p:sp>
        <p:sp>
          <p:nvSpPr>
            <p:cNvPr id="5" name="Rectangle 5"/>
            <p:cNvSpPr/>
            <p:nvPr/>
          </p:nvSpPr>
          <p:spPr>
            <a:xfrm>
              <a:off x="0" y="38100"/>
              <a:ext cx="28575" cy="6781800"/>
            </a:xfrm>
            <a:prstGeom prst="rect">
              <a:avLst/>
            </a:prstGeom>
            <a:solidFill>
              <a:srgbClr val="F5C842"/>
            </a:solidFill>
            <a:ln>
              <a:noFill/>
            </a:ln>
          </p:spPr>
        </p:sp>
      </p:grpSp>
      <p:grpSp>
        <p:nvGrpSpPr>
          <p:cNvPr id="9" name="Group 9"/>
          <p:cNvGrpSpPr/>
          <p:nvPr/>
        </p:nvGrpSpPr>
        <p:grpSpPr>
          <a:xfrm>
            <a:off x="3238500" y="1699260"/>
            <a:ext cx="5715000" cy="291465"/>
            <a:chOff x="3238500" y="1699260"/>
            <a:chExt cx="5715000" cy="291465"/>
          </a:xfrm>
        </p:grpSpPr>
        <p:sp>
          <p:nvSpPr>
            <p:cNvPr id="7" name="TextBox 7"/>
            <p:cNvSpPr txBox="1"/>
            <p:nvPr/>
          </p:nvSpPr>
          <p:spPr>
            <a:xfrm>
              <a:off x="5123840" y="1699260"/>
              <a:ext cx="1944319" cy="243840"/>
            </a:xfrm>
            <a:prstGeom prst="rect">
              <a:avLst/>
            </a:prstGeom>
            <a:noFill/>
            <a:ln>
              <a:noFill/>
            </a:ln>
          </p:spPr>
          <p:txBody>
            <a:bodyPr wrap="none" lIns="0" tIns="0" rIns="0" bIns="0" anchor="t" anchorCtr="0">
              <a:spAutoFit/>
            </a:bodyPr>
            <a:lstStyle/>
            <a:p>
              <a:pPr algn="ctr"/>
              <a:r>
                <a:rPr lang="zh-CN" sz="1200" b="1" dirty="0">
                  <a:solidFill>
                    <a:srgbClr val="8899BB"/>
                  </a:solidFill>
                  <a:latin typeface="Arial"/>
                  <a:ea typeface="Microsoft YaHei"/>
                  <a:cs typeface="Arial"/>
                </a:rPr>
                <a:t>SOURCES &amp; DISCLAIMER</a:t>
              </a:r>
            </a:p>
          </p:txBody>
        </p:sp>
        <p:sp>
          <p:nvSpPr>
            <p:cNvPr id="8" name="Rectangle 8"/>
            <p:cNvSpPr/>
            <p:nvPr/>
          </p:nvSpPr>
          <p:spPr>
            <a:xfrm>
              <a:off x="3238500" y="1981200"/>
              <a:ext cx="5715000" cy="9525"/>
            </a:xfrm>
            <a:prstGeom prst="rect">
              <a:avLst/>
            </a:prstGeom>
            <a:solidFill>
              <a:srgbClr val="2A3A5C"/>
            </a:solidFill>
            <a:ln>
              <a:noFill/>
            </a:ln>
          </p:spPr>
        </p:sp>
      </p:grpSp>
      <p:grpSp>
        <p:nvGrpSpPr>
          <p:cNvPr id="12" name="Group 12"/>
          <p:cNvGrpSpPr/>
          <p:nvPr/>
        </p:nvGrpSpPr>
        <p:grpSpPr>
          <a:xfrm>
            <a:off x="2463129" y="2295049"/>
            <a:ext cx="7265741" cy="426720"/>
            <a:chOff x="2463129" y="2295049"/>
            <a:chExt cx="7265741" cy="426720"/>
          </a:xfrm>
        </p:grpSpPr>
        <p:sp>
          <p:nvSpPr>
            <p:cNvPr id="10" name="TextBox 10"/>
            <p:cNvSpPr txBox="1"/>
            <p:nvPr/>
          </p:nvSpPr>
          <p:spPr>
            <a:xfrm>
              <a:off x="2463129" y="2295049"/>
              <a:ext cx="7265741"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Research generated from structured wiki investment thesis — rwh-overlay investment research system</a:t>
              </a:r>
            </a:p>
          </p:txBody>
        </p:sp>
        <p:sp>
          <p:nvSpPr>
            <p:cNvPr id="11" name="TextBox 11"/>
            <p:cNvSpPr txBox="1"/>
            <p:nvPr/>
          </p:nvSpPr>
          <p:spPr>
            <a:xfrm>
              <a:off x="2886766" y="2523649"/>
              <a:ext cx="6418469"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This material is for informational purposes only and does not constitute investment advice.</a:t>
              </a:r>
            </a:p>
          </p:txBody>
        </p:sp>
      </p:grpSp>
      <p:grpSp>
        <p:nvGrpSpPr>
          <p:cNvPr id="15" name="Group 15"/>
          <p:cNvGrpSpPr/>
          <p:nvPr/>
        </p:nvGrpSpPr>
        <p:grpSpPr>
          <a:xfrm>
            <a:off x="2306491" y="3018949"/>
            <a:ext cx="7579019" cy="426720"/>
            <a:chOff x="2306491" y="3018949"/>
            <a:chExt cx="7579019" cy="426720"/>
          </a:xfrm>
        </p:grpSpPr>
        <p:sp>
          <p:nvSpPr>
            <p:cNvPr id="13" name="TextBox 13"/>
            <p:cNvSpPr txBox="1"/>
            <p:nvPr/>
          </p:nvSpPr>
          <p:spPr>
            <a:xfrm>
              <a:off x="3175123" y="3018949"/>
              <a:ext cx="5841754"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Sources: Tesla 10-K FY2025 · Tesla 10-Q Q1 2026 · Yahoo Finance · Adanos Finance API</a:t>
              </a:r>
            </a:p>
          </p:txBody>
        </p:sp>
        <p:sp>
          <p:nvSpPr>
            <p:cNvPr id="14" name="TextBox 14"/>
            <p:cNvSpPr txBox="1"/>
            <p:nvPr/>
          </p:nvSpPr>
          <p:spPr>
            <a:xfrm>
              <a:off x="2306491" y="3247549"/>
              <a:ext cx="7579019"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Analyst consensus: 47 analysts (Thomson Reuters) · Minervini SEPA framework · Mauboussin BAIT framework</a:t>
              </a:r>
            </a:p>
          </p:txBody>
        </p:sp>
      </p:grpSp>
      <p:sp>
        <p:nvSpPr>
          <p:cNvPr id="16" name="TextBox 16"/>
          <p:cNvSpPr txBox="1"/>
          <p:nvPr/>
        </p:nvSpPr>
        <p:spPr>
          <a:xfrm>
            <a:off x="5709821" y="3933349"/>
            <a:ext cx="772358" cy="198120"/>
          </a:xfrm>
          <a:prstGeom prst="rect">
            <a:avLst/>
          </a:prstGeom>
          <a:noFill/>
          <a:ln>
            <a:noFill/>
          </a:ln>
        </p:spPr>
        <p:txBody>
          <a:bodyPr wrap="none" lIns="0" tIns="0" rIns="0" bIns="0" anchor="t" anchorCtr="0">
            <a:spAutoFit/>
          </a:bodyPr>
          <a:lstStyle/>
          <a:p>
            <a:pPr algn="ctr"/>
            <a:r>
              <a:rPr lang="zh-CN" sz="975" dirty="0">
                <a:solidFill>
                  <a:srgbClr val="2A3A5C"/>
                </a:solidFill>
                <a:latin typeface="Arial"/>
                <a:ea typeface="Microsoft YaHei"/>
                <a:cs typeface="Arial"/>
              </a:rPr>
              <a:t>2026-05-16</a:t>
            </a:r>
          </a:p>
        </p:txBody>
      </p:sp>
      <p:grpSp>
        <p:nvGrpSpPr>
          <p:cNvPr id="20" name="Group 20"/>
          <p:cNvGrpSpPr/>
          <p:nvPr/>
        </p:nvGrpSpPr>
        <p:grpSpPr>
          <a:xfrm>
            <a:off x="4851868" y="4400550"/>
            <a:ext cx="2488263" cy="342900"/>
            <a:chOff x="4851868" y="4400550"/>
            <a:chExt cx="2488263" cy="342900"/>
          </a:xfrm>
        </p:grpSpPr>
        <p:sp>
          <p:nvSpPr>
            <p:cNvPr id="17" name="Rectangle 17"/>
            <p:cNvSpPr/>
            <p:nvPr/>
          </p:nvSpPr>
          <p:spPr>
            <a:xfrm>
              <a:off x="4857750" y="4400550"/>
              <a:ext cx="2476500" cy="342900"/>
            </a:xfrm>
            <a:prstGeom prst="roundRect">
              <a:avLst>
                <a:gd name="adj" fmla="val 50000"/>
              </a:avLst>
            </a:prstGeom>
            <a:solidFill>
              <a:srgbClr val="131B30"/>
            </a:solidFill>
            <a:ln>
              <a:noFill/>
            </a:ln>
          </p:spPr>
        </p:sp>
        <p:sp>
          <p:nvSpPr>
            <p:cNvPr id="18" name="Rectangle 18"/>
            <p:cNvSpPr/>
            <p:nvPr/>
          </p:nvSpPr>
          <p:spPr>
            <a:xfrm>
              <a:off x="4857750" y="4400550"/>
              <a:ext cx="2476500" cy="342900"/>
            </a:xfrm>
            <a:prstGeom prst="roundRect">
              <a:avLst>
                <a:gd name="adj" fmla="val 50000"/>
              </a:avLst>
            </a:prstGeom>
            <a:noFill/>
            <a:ln w="9525">
              <a:solidFill>
                <a:srgbClr val="2A3A5C"/>
              </a:solidFill>
            </a:ln>
          </p:spPr>
        </p:sp>
        <p:sp>
          <p:nvSpPr>
            <p:cNvPr id="19" name="TextBox 19"/>
            <p:cNvSpPr txBox="1"/>
            <p:nvPr/>
          </p:nvSpPr>
          <p:spPr>
            <a:xfrm>
              <a:off x="4851868" y="4514374"/>
              <a:ext cx="2488263" cy="198120"/>
            </a:xfrm>
            <a:prstGeom prst="rect">
              <a:avLst/>
            </a:prstGeom>
            <a:noFill/>
            <a:ln>
              <a:noFill/>
            </a:ln>
          </p:spPr>
          <p:txBody>
            <a:bodyPr wrap="none" lIns="0" tIns="0" rIns="0" bIns="0" anchor="t" anchorCtr="0">
              <a:spAutoFit/>
            </a:bodyPr>
            <a:lstStyle/>
            <a:p>
              <a:pPr algn="ctr"/>
              <a:r>
                <a:rPr lang="zh-CN" sz="975" dirty="0">
                  <a:solidFill>
                    <a:srgbClr val="8899BB"/>
                  </a:solidFill>
                  <a:latin typeface="Arial"/>
                  <a:ea typeface="Microsoft YaHei"/>
                  <a:cs typeface="Arial"/>
                </a:rPr>
                <a:t>Investment Research · rwh-overlay</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5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tretch(across)">
                                      <p:cBhvr>
                                        <p:cTn id="11" dur="400"/>
                                        <p:tgtEl>
                                          <p:spTgt spid="15"/>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