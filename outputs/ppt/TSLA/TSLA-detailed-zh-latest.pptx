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特斯拉（TSLA）是当代最具争议的股票之一：以 149 倍前瞻 P/E 交易，核心汽车业务却面临利润率压缩和 BYD 的激烈竞争。本报告回答一个核心问题：未来 12 个月是买入机会，还是市场已经为尚未验证的 Robotaxi 叙事定价过高？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第一章建立财务基础。我们将先审视核心投资问题，再从 FY2022-2025 的实际数据出发，以事实为基础展开分析。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整个特斯拉投资论点可以归结为一个问题：Robotaxi 奥斯汀能否在 2026 年底前实现商业可行性？答案肯定则 149x P/E 成立；答案否定则特斯拉回归汽车公司估值，公允价值跌至 $40-50/股。其他一切——能源、Optimus、FSD 授权——都是次要的。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Q1 2026 营收同比增长 15.8%——经历两年增速放缓后首次有意义的加速。但汽车毛利率 19.1% 仍远低于 2022 年 25.6% 的峰值。FCF 改善至 $2.2B，但在没有 AI/Robotaxi 期权价值的情况下不足以支撑 $1.42T 市值。能源（Megapack）是隐藏亮点——同比增长 67%，占营收 12%。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业务质量章节关注护城河耐久性和管理层执行力。特斯拉具有真实的技术优势，但随着 BYD、Waymo 和传统 OEM 追赶，护城河在收窄。关键问题是未来 5 年这些优势能否复利增长为宽护城河。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特斯拉正在从汽车制造商向 AI/能源平台转型。垂直整合制造提供成本优势，FSD 创造潜在的软件循环营收，Supercharger 网络锁定效应真实存在。然而，品牌护城河正在侵蚀——Musk 的政治形象在欧洲等关键市场正在压制销量。窄到宽护城河评级反映了 Robotaxi 成功还是 Waymo 抢先的真实不确定性。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2026 年五个关键催化剂：Robotaxi 奥斯汀启动（二元）、FSD v13 DOJO 训练进展、Megapack 积压执行、Optimus Phase 2 工业部署、Model Y Juniper 改款需求数据。任何一个都可以推动股价 15-20% 的双向波动——密切关注财报电话会议评论。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风险章节。特斯拉承载三种比典型成长股更严峻的结构性风险：全新产品品类的执行风险（Robotaxi）、来自资金充沛竞争对手的竞争风险（BYD）、CEO 品牌依赖的集中风险。宏观背景增加了利率敏感性和关税风险。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风险 1（Robotaxi 延迟）：每推迟 6 个月侵蚀溢价约 10-15%。风险 2（BYD）：以 30-40% 价格折扣全球扩张，特斯拉应对选项有限。风险 3（Musk 品牌）：政治关联造成的欧洲销量下滑是可量化的前瞻指标。宏观风险：利率超过 5% 将压缩整个成长股倍数。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估值是论点变得令人不安的地方。149x 前瞻 P/E 不是笔误——它反映了市场为价值 $50B+ 营业利润的成功 Robotaxi 业务定价。情景分析将显示，即使在有利假设下，概率加权 EV 也仅比当前价格高 7.6%。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149x 前瞻 P/E vs 行业中位 18x 是 8 倍溢价——只有在 Robotaxi 到 2028-2030 年产生 $50B+ 营业利润的情景下才成立，目前尚未验证。剔除 Robotaxi 期权价值，公允价值约 $40-50/股。EV/EBITDA 124x vs 行业 10x，P/S 14.6x vs 0.8x，讲述同样的故事：这是制造实体汽车的企业被给予了科技公司倍数。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乐观情景（概率 20%，$650）：需要奥斯汀 Robotaxi 成功 + Optimus Phase 2 商业订单 + 汽车毛利率 18%+。基准情景（概率 40%，$475）：汽车稳定，能源增长，Robotaxi 延迟至 2027，FY2027 EPS $2.50，190x 倍数。悲观情景（概率 40%，$220）：Robotaxi 再次延迟至 2028+，BYD 全球加剧，Musk 品牌恶化，按传统 OEM 重新定价。概率加权 EV $408 仅高于当前 $379 的 7.6%——对于二元风险来说补偿不足。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第五章将 BAIT 框架——行为面、分析面、信息面、技术面——综合为可操作的结论。Mauboussin 的 BAIT 方法迫使我们在做仓位决策前，将市场情绪与基本面分开，将基本面与技术形态分开。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B（行为面/中性）：情绪两极化——X.com 51% 看涨但 Reddit 仅 27%，股价受 Musk 推文而非基本面驱动。极端波动创造错价机会。A（分析面/偏空）：149x P/E 需要 $50B+ Robotaxi 营业利润尚未验证；FY2027 EPS 共识下调 15.7%。I（信息面/中性）：FSD 里程训练数据和 Megapack 积压是最佳信息优势；Robotaxi 监管时间线取决于非公开文件。T（技术面/偏空）：Stage 3——股价低于 50MA/150MA/200MA，趋势模板 3/8，RS vs SPY -15ppt（3月）。无有效形态。SEPA 不建议入场。综合：观察——存在非对称上行空间，但当前技术形态禁止入场。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观察结论意味着积极监控但在 Stage 3 期间不入场。具体入场触发器是二元的：50MA $386 被放量确认收复，或 Robotaxi 奥斯汀商业启动公开宣布。没有这两个催化剂之一，风险回报不足以支持建仓。止损 $310（前期支撑下方）。最大仓位 5-8%。LEAPS 2028 年 $400 看涨期权是 Robotaxi 期权价值敞口的替代方案。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本研究基于 rwh-overlay 系统中的结构化 wiki 投资论文自动生成。所有数据来源于公开文件和金融数据 API。仅供信息和研究用途——不构成投资建议。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6" name="Rectangle 6"/>
          <p:cNvSpPr/>
          <p:nvPr/>
        </p:nvSpPr>
        <p:spPr>
          <a:xfrm>
            <a:off x="0" y="38100"/>
            <a:ext cx="57150" cy="67818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10477500" y="0"/>
            <a:ext cx="1714500" cy="1905000"/>
          </a:xfrm>
          <a:custGeom>
            <a:avLst/>
            <a:gdLst/>
            <a:ahLst/>
            <a:cxnLst/>
            <a:rect l="l" t="t" r="r" b="b"/>
            <a:pathLst>
              <a:path w="1714500" h="1905000">
                <a:moveTo>
                  <a:pt x="1714500" y="0"/>
                </a:moveTo>
                <a:lnTo>
                  <a:pt x="1714500" y="1905000"/>
                </a:lnTo>
                <a:lnTo>
                  <a:pt x="0" y="0"/>
                </a:lnTo>
                <a:close/>
              </a:path>
            </a:pathLst>
          </a:custGeom>
          <a:solidFill>
            <a:srgbClr val="131B30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1430000" y="0"/>
            <a:ext cx="762000" cy="1143000"/>
          </a:xfrm>
          <a:custGeom>
            <a:avLst/>
            <a:gdLst/>
            <a:ahLst/>
            <a:cxnLst/>
            <a:rect l="l" t="t" r="r" b="b"/>
            <a:pathLst>
              <a:path w="762000" h="1143000">
                <a:moveTo>
                  <a:pt x="762000" y="0"/>
                </a:moveTo>
                <a:lnTo>
                  <a:pt x="762000" y="1143000"/>
                </a:lnTo>
                <a:lnTo>
                  <a:pt x="0" y="0"/>
                </a:lnTo>
                <a:close/>
              </a:path>
            </a:pathLst>
          </a:custGeom>
          <a:solidFill>
            <a:srgbClr val="F5C842">
              <a:alpha val="1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38150" y="1533525"/>
            <a:ext cx="9250775" cy="5181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TSLA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01040" y="1418749"/>
            <a:ext cx="5394960" cy="4998720"/>
            <a:chOff x="701040" y="1418749"/>
            <a:chExt cx="5394960" cy="4998720"/>
          </a:xfrm>
        </p:grpSpPr>
        <p:sp>
          <p:nvSpPr>
            <p:cNvPr id="10" name="TextBox 10"/>
            <p:cNvSpPr txBox="1"/>
            <p:nvPr/>
          </p:nvSpPr>
          <p:spPr>
            <a:xfrm>
              <a:off x="749618" y="1418749"/>
              <a:ext cx="13181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股票代码 · NASDAQ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1040" y="1767840"/>
              <a:ext cx="402320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Tesla, Inc.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1045" y="2584132"/>
              <a:ext cx="7648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特斯拉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990850"/>
              <a:ext cx="5334000" cy="28575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4855" y="3283268"/>
              <a:ext cx="46578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Robotaxi 二元投注：奥斯汀商业化验证是关键分水岭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599074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2026-05-16 · 投资研究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6219349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参考价格 $379.41 · 市値 $1.42T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5346240" y="3067050"/>
            <a:ext cx="1499521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38100"/>
            <a:ext cx="38100" cy="67818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2656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第一章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70" y="30079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投资论点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657600"/>
            <a:ext cx="4762500" cy="1905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2950" y="383857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核心问题与财务基础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84375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核心投资问题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42900" y="533400"/>
            <a:ext cx="1975390" cy="3657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0" b="1" dirty="0">
                <a:solidFill>
                  <a:srgbClr val="131B30"/>
                </a:solidFill>
                <a:latin typeface="Arial"/>
                <a:ea typeface="Microsoft YaHei"/>
                <a:cs typeface="Arial"/>
              </a:rPr>
              <a:t>“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41045" y="1822132"/>
            <a:ext cx="6468913" cy="1421130"/>
            <a:chOff x="741045" y="1822132"/>
            <a:chExt cx="6468913" cy="1421130"/>
          </a:xfrm>
        </p:grpSpPr>
        <p:sp>
          <p:nvSpPr>
            <p:cNvPr id="10" name="TextBox 10"/>
            <p:cNvSpPr txBox="1"/>
            <p:nvPr/>
          </p:nvSpPr>
          <p:spPr>
            <a:xfrm>
              <a:off x="741045" y="1822132"/>
              <a:ext cx="64689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特斯拉的 Robotaxi/Cybercab 服务能否在 2026 年 Q4 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1045" y="2184082"/>
              <a:ext cx="56086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在奥斯汀展示商业可行性，同时将汽车毛利率恢复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1045" y="2546032"/>
              <a:ext cx="4976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到 20% 以上，从而验证 149 倍前瞻 P/E 将其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1045" y="2907982"/>
              <a:ext cx="54694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定价为 AI 平台公司而非传统汽车制造商的逻辑？</a:t>
              </a:r>
            </a:p>
          </p:txBody>
        </p:sp>
      </p:grpSp>
      <p:sp>
        <p:nvSpPr>
          <p:cNvPr id="15" name="Rectangle 15"/>
          <p:cNvSpPr/>
          <p:nvPr/>
        </p:nvSpPr>
        <p:spPr>
          <a:xfrm>
            <a:off x="571500" y="371475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49618" y="3895249"/>
            <a:ext cx="10489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Q1 2026 里程碑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4114800"/>
            <a:ext cx="11049000" cy="457200"/>
          </a:xfrm>
          <a:prstGeom prst="roundRect">
            <a:avLst>
              <a:gd name="adj" fmla="val 8333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571500" y="4114800"/>
            <a:ext cx="38100" cy="457200"/>
          </a:xfrm>
          <a:prstGeom prst="rect">
            <a:avLst/>
          </a:prstGeom>
          <a:solidFill>
            <a:srgbClr val="4CAF8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30568" y="4200049"/>
            <a:ext cx="575880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Q1 2026: 非 GAAP EPS $0.41（超预期 +17.8%），汽车毛利率从 2025 低点回升至 21.1%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0568" y="4390549"/>
            <a:ext cx="42611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奥斯汀 Robotaxi 商业化时间线仍不确定。能源业务持续高速增长。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21" name="Rectangle 21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投资论点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财务快照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762000"/>
            <a:ext cx="11049000" cy="266700"/>
          </a:xfrm>
          <a:prstGeom prst="rect">
            <a:avLst/>
          </a:prstGeom>
          <a:solidFill>
            <a:srgbClr val="1A254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50570" y="8458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财年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93570" y="8458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营收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27070" y="845820"/>
            <a:ext cx="3264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YoY%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79570" y="84582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毛利率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17820" y="8458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营业利润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46570" y="8458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营业利润率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70570" y="845820"/>
            <a:ext cx="8026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EPS（摘稀）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94570" y="84582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FCF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1028700"/>
            <a:ext cx="11049000" cy="24765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49618" y="10948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FY2022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92618" y="109489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$81.5B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26118" y="109489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+51.4%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78618" y="10948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25.6%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416868" y="109489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$13.8B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45618" y="109489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17.0%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369618" y="10948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$3.62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93618" y="10948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$7.6B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276350"/>
            <a:ext cx="11049000" cy="24765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9618" y="13425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FY2023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92618" y="13425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$96.8B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226118" y="134254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+18.8%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78618" y="13425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18.3%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416868" y="13425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$8.9B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845618" y="13425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9.2%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618" y="13425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$4.31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93618" y="13425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$4.4B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1524000"/>
            <a:ext cx="11049000" cy="24765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49618" y="15901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FY2024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92618" y="159019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$97.7B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26118" y="15901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+0.9%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78618" y="159019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17.9%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416868" y="15901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$7.8B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45618" y="15901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7.9%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69618" y="15901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$2.04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893618" y="159019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$3.6B</a:t>
            </a:r>
          </a:p>
        </p:txBody>
      </p:sp>
      <p:sp>
        <p:nvSpPr>
          <p:cNvPr id="45" name="Rectangle 45"/>
          <p:cNvSpPr/>
          <p:nvPr/>
        </p:nvSpPr>
        <p:spPr>
          <a:xfrm>
            <a:off x="571500" y="1771650"/>
            <a:ext cx="11049000" cy="247650"/>
          </a:xfrm>
          <a:prstGeom prst="rect">
            <a:avLst/>
          </a:prstGeom>
          <a:solidFill>
            <a:srgbClr val="1A2A44"/>
          </a:solidFill>
          <a:ln>
            <a:noFill/>
          </a:ln>
        </p:spPr>
      </p:sp>
      <p:sp>
        <p:nvSpPr>
          <p:cNvPr id="46" name="Rectangle 46"/>
          <p:cNvSpPr/>
          <p:nvPr/>
        </p:nvSpPr>
        <p:spPr>
          <a:xfrm>
            <a:off x="571500" y="1771650"/>
            <a:ext cx="38100" cy="24765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49618" y="1837849"/>
            <a:ext cx="5181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FY2025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892618" y="18378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$94.8B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26118" y="1837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-2.9%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178618" y="18378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18.0%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416868" y="1837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$4.8B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845618" y="183784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5.1%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369618" y="18378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$1.08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893618" y="1837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$6.2B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21336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72" name="Group 72"/>
          <p:cNvGrpSpPr/>
          <p:nvPr/>
        </p:nvGrpSpPr>
        <p:grpSpPr>
          <a:xfrm>
            <a:off x="571500" y="2247900"/>
            <a:ext cx="11049000" cy="892969"/>
            <a:chOff x="571500" y="2247900"/>
            <a:chExt cx="11049000" cy="892969"/>
          </a:xfrm>
        </p:grpSpPr>
        <p:sp>
          <p:nvSpPr>
            <p:cNvPr id="56" name="Rectangle 56"/>
            <p:cNvSpPr/>
            <p:nvPr/>
          </p:nvSpPr>
          <p:spPr>
            <a:xfrm>
              <a:off x="571500" y="2247900"/>
              <a:ext cx="2514600" cy="838200"/>
            </a:xfrm>
            <a:prstGeom prst="roundRect">
              <a:avLst>
                <a:gd name="adj" fmla="val 4545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50570" y="2379345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营收（TTM）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5330" y="2630805"/>
              <a:ext cx="11160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$97.9B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9618" y="2942749"/>
              <a:ext cx="11283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Q1 2026 +15.8% ↑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238500" y="2247900"/>
              <a:ext cx="2514600" cy="838200"/>
            </a:xfrm>
            <a:prstGeom prst="roundRect">
              <a:avLst>
                <a:gd name="adj" fmla="val 4545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417570" y="2379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汽车毛利率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402330" y="2630805"/>
              <a:ext cx="77793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19.1%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416618" y="2942749"/>
              <a:ext cx="12565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从 2025 低点回升 ↑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905500" y="2247900"/>
              <a:ext cx="2514600" cy="838200"/>
            </a:xfrm>
            <a:prstGeom prst="roundRect">
              <a:avLst>
                <a:gd name="adj" fmla="val 4545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084570" y="2379345"/>
              <a:ext cx="680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自由现金流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069330" y="2630805"/>
              <a:ext cx="9389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$6.2B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83618" y="2942749"/>
              <a:ext cx="94323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FY2025 改善 ↑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572500" y="2247900"/>
              <a:ext cx="3048000" cy="838200"/>
            </a:xfrm>
            <a:prstGeom prst="roundRect">
              <a:avLst>
                <a:gd name="adj" fmla="val 4545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51570" y="237934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市値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736330" y="2630805"/>
              <a:ext cx="103556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$1.42T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750618" y="2942749"/>
              <a:ext cx="13277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全球第 6 大上市公司</a:t>
              </a:r>
            </a:p>
          </p:txBody>
        </p:sp>
      </p:grpSp>
      <p:sp>
        <p:nvSpPr>
          <p:cNvPr id="73" name="Rectangle 73"/>
          <p:cNvSpPr/>
          <p:nvPr/>
        </p:nvSpPr>
        <p:spPr>
          <a:xfrm>
            <a:off x="571500" y="32004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49618" y="3323749"/>
            <a:ext cx="137043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营收构成 — FY2025E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49618" y="3609499"/>
            <a:ext cx="8720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汽车销售 76%</a:t>
            </a:r>
          </a:p>
        </p:txBody>
      </p:sp>
      <p:sp>
        <p:nvSpPr>
          <p:cNvPr id="76" name="Rectangle 76"/>
          <p:cNvSpPr/>
          <p:nvPr/>
        </p:nvSpPr>
        <p:spPr>
          <a:xfrm>
            <a:off x="2095500" y="3600450"/>
            <a:ext cx="7239000" cy="15240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2095500" y="3600450"/>
            <a:ext cx="5505450" cy="152400"/>
          </a:xfrm>
          <a:prstGeom prst="roundRect">
            <a:avLst>
              <a:gd name="adj" fmla="val 25000"/>
            </a:avLst>
          </a:prstGeom>
          <a:solidFill>
            <a:srgbClr val="4A90D9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7703820" y="3617595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$72B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49618" y="3876199"/>
            <a:ext cx="8364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能源存储 12%</a:t>
            </a:r>
          </a:p>
        </p:txBody>
      </p:sp>
      <p:sp>
        <p:nvSpPr>
          <p:cNvPr id="80" name="Rectangle 80"/>
          <p:cNvSpPr/>
          <p:nvPr/>
        </p:nvSpPr>
        <p:spPr>
          <a:xfrm>
            <a:off x="2095500" y="3867150"/>
            <a:ext cx="7239000" cy="15240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>
            <a:noFill/>
          </a:ln>
        </p:spPr>
      </p:sp>
      <p:sp>
        <p:nvSpPr>
          <p:cNvPr id="81" name="Rectangle 81"/>
          <p:cNvSpPr/>
          <p:nvPr/>
        </p:nvSpPr>
        <p:spPr>
          <a:xfrm>
            <a:off x="2095500" y="3867150"/>
            <a:ext cx="866775" cy="152400"/>
          </a:xfrm>
          <a:prstGeom prst="roundRect">
            <a:avLst>
              <a:gd name="adj" fmla="val 25000"/>
            </a:avLst>
          </a:prstGeom>
          <a:solidFill>
            <a:srgbClr val="4CAF82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3055620" y="3884295"/>
            <a:ext cx="7195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$12B +67% ↑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49618" y="4142899"/>
            <a:ext cx="7937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监管积分 3%</a:t>
            </a:r>
          </a:p>
        </p:txBody>
      </p:sp>
      <p:sp>
        <p:nvSpPr>
          <p:cNvPr id="84" name="Rectangle 84"/>
          <p:cNvSpPr/>
          <p:nvPr/>
        </p:nvSpPr>
        <p:spPr>
          <a:xfrm>
            <a:off x="2095500" y="4133850"/>
            <a:ext cx="7239000" cy="15240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>
            <a:noFill/>
          </a:ln>
        </p:spPr>
      </p:sp>
      <p:sp>
        <p:nvSpPr>
          <p:cNvPr id="85" name="Rectangle 85"/>
          <p:cNvSpPr/>
          <p:nvPr/>
        </p:nvSpPr>
        <p:spPr>
          <a:xfrm>
            <a:off x="2095500" y="4133850"/>
            <a:ext cx="219075" cy="152400"/>
          </a:xfrm>
          <a:prstGeom prst="roundRect">
            <a:avLst>
              <a:gd name="adj" fmla="val 25000"/>
            </a:avLst>
          </a:prstGeom>
          <a:solidFill>
            <a:srgbClr val="F5C842"/>
          </a:solidFill>
          <a:ln>
            <a:noFill/>
          </a:ln>
        </p:spPr>
      </p:sp>
      <p:sp>
        <p:nvSpPr>
          <p:cNvPr id="86" name="TextBox 86"/>
          <p:cNvSpPr txBox="1"/>
          <p:nvPr/>
        </p:nvSpPr>
        <p:spPr>
          <a:xfrm>
            <a:off x="2407920" y="4150995"/>
            <a:ext cx="11861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$3B (~100% 毛利率)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49618" y="4409599"/>
            <a:ext cx="93611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服务及其他 8%</a:t>
            </a:r>
          </a:p>
        </p:txBody>
      </p:sp>
      <p:sp>
        <p:nvSpPr>
          <p:cNvPr id="88" name="Rectangle 88"/>
          <p:cNvSpPr/>
          <p:nvPr/>
        </p:nvSpPr>
        <p:spPr>
          <a:xfrm>
            <a:off x="2095500" y="4400550"/>
            <a:ext cx="7239000" cy="152400"/>
          </a:xfrm>
          <a:prstGeom prst="roundRect">
            <a:avLst>
              <a:gd name="adj" fmla="val 25000"/>
            </a:avLst>
          </a:prstGeom>
          <a:solidFill>
            <a:srgbClr val="2A3A5C"/>
          </a:solidFill>
          <a:ln>
            <a:noFill/>
          </a:ln>
        </p:spPr>
      </p:sp>
      <p:sp>
        <p:nvSpPr>
          <p:cNvPr id="89" name="Rectangle 89"/>
          <p:cNvSpPr/>
          <p:nvPr/>
        </p:nvSpPr>
        <p:spPr>
          <a:xfrm>
            <a:off x="2095500" y="4400550"/>
            <a:ext cx="581025" cy="152400"/>
          </a:xfrm>
          <a:prstGeom prst="roundRect">
            <a:avLst>
              <a:gd name="adj" fmla="val 25000"/>
            </a:avLst>
          </a:prstGeom>
          <a:solidFill>
            <a:srgbClr val="8899BB"/>
          </a:solidFill>
          <a:ln>
            <a:noFill/>
          </a:ln>
        </p:spPr>
      </p:sp>
      <p:sp>
        <p:nvSpPr>
          <p:cNvPr id="90" name="TextBox 90"/>
          <p:cNvSpPr txBox="1"/>
          <p:nvPr/>
        </p:nvSpPr>
        <p:spPr>
          <a:xfrm>
            <a:off x="2769870" y="4417695"/>
            <a:ext cx="2397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$8B</a:t>
            </a:r>
          </a:p>
        </p:txBody>
      </p:sp>
      <p:sp>
        <p:nvSpPr>
          <p:cNvPr id="91" name="Rectangle 91"/>
          <p:cNvSpPr/>
          <p:nvPr/>
        </p:nvSpPr>
        <p:spPr>
          <a:xfrm>
            <a:off x="571500" y="47244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92" name="Rectangle 92"/>
          <p:cNvSpPr/>
          <p:nvPr/>
        </p:nvSpPr>
        <p:spPr>
          <a:xfrm>
            <a:off x="571500" y="4819650"/>
            <a:ext cx="11049000" cy="381000"/>
          </a:xfrm>
          <a:prstGeom prst="roundRect">
            <a:avLst>
              <a:gd name="adj" fmla="val 10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93" name="Rectangle 93"/>
          <p:cNvSpPr/>
          <p:nvPr/>
        </p:nvSpPr>
        <p:spPr>
          <a:xfrm>
            <a:off x="571500" y="4819650"/>
            <a:ext cx="38100" cy="3810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30568" y="4866799"/>
            <a:ext cx="73298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资产负债表（FY2025）：现金 $16.5B · 总负债 $14.7B · 净现金 $1.8B · 流通股 3.75B（薪酬方案投放致大幅稍释）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730568" y="5038249"/>
            <a:ext cx="423976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分析师共识 47 人，目标价中位 $455（+20%），均値 $418（+10%）</a:t>
            </a:r>
          </a:p>
        </p:txBody>
      </p:sp>
      <p:grpSp>
        <p:nvGrpSpPr>
          <p:cNvPr id="100" name="Group 100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96" name="Rectangle 96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投资论点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2" grpId="0"/>
      <p:bldP spid="1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863179" y="3067050"/>
            <a:ext cx="24656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II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38100"/>
            <a:ext cx="38100" cy="67818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2656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第二章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70" y="30079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业务质量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657600"/>
            <a:ext cx="4762500" cy="1905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2950" y="3838575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护城河、管理层与增长驱动力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303990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商业模式与竞争护城河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6096000" y="838200"/>
            <a:ext cx="9525" cy="533400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28" name="Group 28"/>
          <p:cNvGrpSpPr/>
          <p:nvPr/>
        </p:nvGrpSpPr>
        <p:grpSpPr>
          <a:xfrm>
            <a:off x="571500" y="838200"/>
            <a:ext cx="5334000" cy="5334000"/>
            <a:chOff x="571500" y="838200"/>
            <a:chExt cx="5334000" cy="5334000"/>
          </a:xfrm>
        </p:grpSpPr>
        <p:sp>
          <p:nvSpPr>
            <p:cNvPr id="10" name="Rectangle 10"/>
            <p:cNvSpPr/>
            <p:nvPr/>
          </p:nvSpPr>
          <p:spPr>
            <a:xfrm>
              <a:off x="571500" y="838200"/>
              <a:ext cx="5334000" cy="5334000"/>
            </a:xfrm>
            <a:prstGeom prst="roundRect">
              <a:avLst>
                <a:gd name="adj" fmla="val 714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618" y="10377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商业模式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7712" y="132635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特斯拉以直销（无经销商）模式销售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7712" y="1574006"/>
              <a:ext cx="2657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电动汽车，运营全球最大超充电网络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712" y="1821656"/>
              <a:ext cx="28299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（7万+ 充电権）和软件订阅（FSD）。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712" y="2069306"/>
              <a:ext cx="24520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未来最大潜力来自 Robotaxi 平台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712" y="2316956"/>
              <a:ext cx="22549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分成模式，将汽车转变为“移动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7712" y="2564606"/>
              <a:ext cx="9404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收益资产”。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85750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9618" y="3037999"/>
              <a:ext cx="14078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业务分布 (FY2025E)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3323749"/>
              <a:ext cx="17762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汽车销售…………… 76% ($72B)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3571399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能源存储…………… 12% ($12B) 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9618" y="3819049"/>
              <a:ext cx="174067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监管积分 ……………… 3% ($3B)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406669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服务及其他…………… 8% ($8B)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434340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9618" y="4466749"/>
              <a:ext cx="2374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管理层：Elon Musk（CEO）愿景占越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9618" y="4657249"/>
              <a:ext cx="22105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但注意力分散（xAI/SpaceX/X）。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618" y="4847749"/>
              <a:ext cx="22604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行政品级：B — 能力强但执行不稳定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838200"/>
            <a:ext cx="5334000" cy="5334000"/>
            <a:chOff x="6286500" y="838200"/>
            <a:chExt cx="5334000" cy="5334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838200"/>
              <a:ext cx="5334000" cy="5334000"/>
            </a:xfrm>
            <a:prstGeom prst="roundRect">
              <a:avLst>
                <a:gd name="adj" fmla="val 714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64618" y="1037749"/>
              <a:ext cx="20955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竞争护城河（窄→宽 二元转折）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1295400"/>
              <a:ext cx="4953000" cy="533400"/>
            </a:xfrm>
            <a:prstGeom prst="roundRect">
              <a:avLst>
                <a:gd name="adj" fmla="val 7143"/>
              </a:avLst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7000" y="1295400"/>
              <a:ext cx="38100" cy="5334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16065" y="13916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全球最大超充电网络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7018" y="1609249"/>
              <a:ext cx="2217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7万+ 充电権，已成多品牌行业标准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0" y="1924050"/>
              <a:ext cx="4953000" cy="533400"/>
            </a:xfrm>
            <a:prstGeom prst="roundRect">
              <a:avLst>
                <a:gd name="adj" fmla="val 7143"/>
              </a:avLst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77000" y="1924050"/>
              <a:ext cx="38100" cy="5334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16065" y="2020252"/>
              <a:ext cx="1628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FSD 真实里程数据飞轮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17018" y="2237899"/>
              <a:ext cx="2018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数十亿英里训练数据，规模难追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2552700"/>
              <a:ext cx="4953000" cy="533400"/>
            </a:xfrm>
            <a:prstGeom prst="roundRect">
              <a:avLst>
                <a:gd name="adj" fmla="val 7143"/>
              </a:avLst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77000" y="2552700"/>
              <a:ext cx="38100" cy="533400"/>
            </a:xfrm>
            <a:prstGeom prst="rect">
              <a:avLst/>
            </a:prstGeom>
            <a:solidFill>
              <a:srgbClr val="4CAF8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16065" y="26489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垂直整合制造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17018" y="2866549"/>
              <a:ext cx="28656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4680 电芯 + 自研芯片 + OTA 软件，成本优势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7000" y="3181350"/>
              <a:ext cx="4953000" cy="533400"/>
            </a:xfrm>
            <a:prstGeom prst="roundRect">
              <a:avLst>
                <a:gd name="adj" fmla="val 7143"/>
              </a:avLst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7000" y="3181350"/>
              <a:ext cx="38100" cy="533400"/>
            </a:xfrm>
            <a:prstGeom prst="rect">
              <a:avLst/>
            </a:prstGeom>
            <a:solidFill>
              <a:srgbClr val="F0A03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16065" y="3277552"/>
              <a:ext cx="2103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Megapack 电网储能领先品牌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17018" y="3495199"/>
              <a:ext cx="260218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能源毛利率 25%+，高速增长（67% YoY）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77000" y="3829050"/>
              <a:ext cx="4953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64618" y="397144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主要竞争对手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64618" y="4219099"/>
              <a:ext cx="30293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丽沃BYD — 全球价格战 、新兴市场（关键风险）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464618" y="4447699"/>
              <a:ext cx="25523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Waymo — 已有商业 Robotaxi，先发优势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64618" y="4676299"/>
              <a:ext cx="23885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0A030"/>
                  </a:solidFill>
                  <a:latin typeface="Arial"/>
                  <a:ea typeface="Microsoft YaHei"/>
                  <a:cs typeface="Arial"/>
                </a:rPr>
                <a:t>小鹏 XPEV — FSD 等效，中国市场强势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4618" y="4904899"/>
              <a:ext cx="23529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Rivian — 北美皮卡 EV，影响相对有限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54" name="Rectangle 54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业务质量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53" grpId="0"/>
      <p:bldP spid="5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战略增长驱动力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914400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914400"/>
            <a:ext cx="57150" cy="8001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4860" y="1051560"/>
            <a:ext cx="2505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01 · Robotaxi 奥斯汀商业启动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6765" y="1315402"/>
            <a:ext cx="46732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2026 年 H2 二元技术点，若成功可致 P/E 重新定价 → 目标 $600-800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7718" y="1513999"/>
            <a:ext cx="4716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监测：商业化公告日期 / 日均运输量 / 运营定价 · 奖励正向：定位途 5-8%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828800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1828800"/>
            <a:ext cx="57150" cy="8001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84860" y="1965960"/>
            <a:ext cx="23767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02 · 汽车毛利率回升至 20%+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6765" y="2229802"/>
            <a:ext cx="51486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Q2 2026 财报（2026-07-22）是验证点，汽车毛利率 ≥20% 解锁批次二入场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7718" y="2428399"/>
            <a:ext cx="39264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Q1 2026 已达 21.1%，趋势危危向好，说明价格战影响正在消退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743200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743200"/>
            <a:ext cx="57150" cy="800100"/>
          </a:xfrm>
          <a:prstGeom prst="rect">
            <a:avLst/>
          </a:prstGeom>
          <a:solidFill>
            <a:srgbClr val="4CAF82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84860" y="2880360"/>
            <a:ext cx="39409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03 · Megapack 产能扩张—能源营收向 $15B 迈进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6765" y="3144202"/>
            <a:ext cx="39678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能源业务 67% YoY 增长，毛利率 25%+，订单积压高且可见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7718" y="3342799"/>
            <a:ext cx="3299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对标纯能源科技公司估值，能源业务被低估程度较大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657600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657600"/>
            <a:ext cx="57150" cy="800100"/>
          </a:xfrm>
          <a:prstGeom prst="rect">
            <a:avLst/>
          </a:prstGeom>
          <a:solidFill>
            <a:srgbClr val="F0A03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84860" y="3794760"/>
            <a:ext cx="34809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0A030"/>
                </a:solidFill>
                <a:latin typeface="Arial"/>
                <a:ea typeface="Microsoft YaHei"/>
                <a:cs typeface="Arial"/>
              </a:rPr>
              <a:t>04 · Optimus 机器人 Phase 2 工业商业化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86765" y="4058602"/>
            <a:ext cx="32854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外部商业订单是游标，1000 台以上即为重要信号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87718" y="4257199"/>
            <a:ext cx="38125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投资者对 Optimus 属于部分对傹，任何进展将强势提振情绪</a:t>
            </a:r>
          </a:p>
        </p:txBody>
      </p:sp>
      <p:sp>
        <p:nvSpPr>
          <p:cNvPr id="29" name="Rectangle 29"/>
          <p:cNvSpPr/>
          <p:nvPr/>
        </p:nvSpPr>
        <p:spPr>
          <a:xfrm>
            <a:off x="571500" y="4572000"/>
            <a:ext cx="11049000" cy="800100"/>
          </a:xfrm>
          <a:prstGeom prst="roundRect">
            <a:avLst>
              <a:gd name="adj" fmla="val 4762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571500" y="4572000"/>
            <a:ext cx="57150" cy="800100"/>
          </a:xfrm>
          <a:prstGeom prst="rect">
            <a:avLst/>
          </a:prstGeom>
          <a:solidFill>
            <a:srgbClr val="8899B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84860" y="4709160"/>
            <a:ext cx="31680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05 · 更低价格车型（目标 $25K 以下）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86765" y="4973002"/>
            <a:ext cx="38528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扩大全球 EV 市场可及范围，与 BYD 整个价格带直接竞争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87718" y="5171599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第三季度交付配合毛利率回升，可成为重要操作点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4" name="Rectangle 34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业务质量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3618119" y="3067050"/>
            <a:ext cx="343176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III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38100"/>
            <a:ext cx="38100" cy="6781800"/>
          </a:xfrm>
          <a:prstGeom prst="rect">
            <a:avLst/>
          </a:prstGeom>
          <a:solidFill>
            <a:srgbClr val="E05C5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2656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第三章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70" y="3007995"/>
            <a:ext cx="30894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风险与宏观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657600"/>
            <a:ext cx="4762500" cy="19050"/>
          </a:xfrm>
          <a:prstGeom prst="rect">
            <a:avLst/>
          </a:prstGeom>
          <a:solidFill>
            <a:srgbClr val="E05C5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2950" y="3838575"/>
            <a:ext cx="2009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关键风险与宏观背景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关键风险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571500" y="80010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71500" y="800100"/>
            <a:ext cx="57150" cy="762000"/>
          </a:xfrm>
          <a:prstGeom prst="rect">
            <a:avLst/>
          </a:prstGeom>
          <a:solidFill>
            <a:srgbClr val="E05C5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5812" y="926306"/>
            <a:ext cx="28320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风险 1 — Robotaxi 持续延迟至 2028+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7718" y="1190149"/>
            <a:ext cx="45530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每推迟 6 个月，估值滢价侵蚀 10-15%；2028+ 延迟将导致悲观情景 $220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7718" y="1371124"/>
            <a:ext cx="49232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概率 45%，是最大单一风险；Waymo 已在旧金山商业运营，先发优势正在建立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67640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1500" y="1676400"/>
            <a:ext cx="57150" cy="762000"/>
          </a:xfrm>
          <a:prstGeom prst="rect">
            <a:avLst/>
          </a:prstGeom>
          <a:solidFill>
            <a:srgbClr val="E05C5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85812" y="1802606"/>
            <a:ext cx="24352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风险 2 — BYD 全球侧蚀市场份额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87718" y="2066449"/>
            <a:ext cx="59841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BYD 以 30-40% 价格折扣向全球拓展，特斯拃应对选项有限：降价则伤毛利率，不降价则失市场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7718" y="2247424"/>
            <a:ext cx="47168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概率 40%；欧洲市场特斯拃份额已在下滑，部分消费者明确因品牌反感拒购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552700"/>
            <a:ext cx="11049000" cy="762000"/>
          </a:xfrm>
          <a:prstGeom prst="roundRect">
            <a:avLst>
              <a:gd name="adj" fmla="val 5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2552700"/>
            <a:ext cx="57150" cy="762000"/>
          </a:xfrm>
          <a:prstGeom prst="rect">
            <a:avLst/>
          </a:prstGeom>
          <a:solidFill>
            <a:srgbClr val="F0A030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85812" y="2678906"/>
            <a:ext cx="22195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0A030"/>
                </a:solidFill>
                <a:latin typeface="Arial"/>
                <a:ea typeface="Microsoft YaHei"/>
                <a:cs typeface="Arial"/>
              </a:rPr>
              <a:t>风险 3 — Musk 品牌持续负面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7718" y="2942749"/>
            <a:ext cx="428960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政治关联导致欧洲大市场销量实际下滑，可量化且难逆转；概率 35%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87718" y="3123724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最被低估的非技术风险，欢洲指标数据是领先指标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429000"/>
            <a:ext cx="5429250" cy="685800"/>
          </a:xfrm>
          <a:prstGeom prst="roundRect">
            <a:avLst>
              <a:gd name="adj" fmla="val 5556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429000"/>
            <a:ext cx="38100" cy="685800"/>
          </a:xfrm>
          <a:prstGeom prst="rect">
            <a:avLst/>
          </a:prstGeom>
          <a:solidFill>
            <a:srgbClr val="8899B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9618" y="3552349"/>
            <a:ext cx="16619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汽车毛利率无法回升 20%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9618" y="3761899"/>
            <a:ext cx="21749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价格战压力 + 进展缓慢，概率 35%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9618" y="3933349"/>
            <a:ext cx="24669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联续 2 季度低于 17% 触发费片退出条件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191250" y="3429000"/>
            <a:ext cx="5429250" cy="685800"/>
          </a:xfrm>
          <a:prstGeom prst="roundRect">
            <a:avLst>
              <a:gd name="adj" fmla="val 5556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6191250" y="3429000"/>
            <a:ext cx="38100" cy="685800"/>
          </a:xfrm>
          <a:prstGeom prst="rect">
            <a:avLst/>
          </a:prstGeom>
          <a:solidFill>
            <a:srgbClr val="8899B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369368" y="35523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大规模稍释继续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69368" y="3761899"/>
            <a:ext cx="24740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流通股 3.22B 暴增 → 3.75B，概率 25%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69368" y="3933349"/>
            <a:ext cx="28727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汇改增资和新一轮股权激励均为潜在稍释风险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229100"/>
            <a:ext cx="11049000" cy="495300"/>
          </a:xfrm>
          <a:prstGeom prst="roundRect">
            <a:avLst>
              <a:gd name="adj" fmla="val 7692"/>
            </a:avLst>
          </a:prstGeom>
          <a:solidFill>
            <a:srgbClr val="0A0E1A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4229100"/>
            <a:ext cx="38100" cy="49530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49618" y="43333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宏观背景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9618" y="4514374"/>
            <a:ext cx="90101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EV 市场 2030 年渗透率预计达 40%，但利率敏感性压缩成长股倍数。关税风险影响供应链成本，中国市场（22% 营收）面临本土品牌激烈竞争。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8" name="Rectangle 38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9618" y="65336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风险与宏观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339298" y="6533674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079629" y="3067050"/>
            <a:ext cx="3270742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IV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38100"/>
            <a:ext cx="38100" cy="67818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2656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第四章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70" y="3007995"/>
            <a:ext cx="3089434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估值与情景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657600"/>
            <a:ext cx="5334000" cy="1905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2950" y="3838575"/>
            <a:ext cx="2667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倍数、可比公司与路径分析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估值分析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906000" y="190500"/>
              <a:ext cx="1524000" cy="304800"/>
            </a:xfrm>
            <a:prstGeom prst="roundRect">
              <a:avLst>
                <a:gd name="adj" fmla="val 50000"/>
              </a:avLst>
            </a:prstGeom>
            <a:solidFill>
              <a:srgbClr val="E05C5C">
                <a:alpha val="20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906000" y="190500"/>
              <a:ext cx="1524000" cy="3048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E05C5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0536" y="293370"/>
              <a:ext cx="5749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极高溢价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49618" y="885349"/>
            <a:ext cx="14227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关键估值倍数 — TSLA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71500" y="10668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1104900"/>
            <a:ext cx="11049000" cy="266700"/>
          </a:xfrm>
          <a:prstGeom prst="rect">
            <a:avLst/>
          </a:prstGeom>
          <a:solidFill>
            <a:srgbClr val="1A254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0570" y="1188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指标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74570" y="1188720"/>
            <a:ext cx="4576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TTM 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3320" y="1188720"/>
            <a:ext cx="7957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前瞻 FY2026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27320" y="1188720"/>
            <a:ext cx="79575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前瞻 FY2027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51320" y="118872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行业中位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75320" y="1188720"/>
            <a:ext cx="492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VS 行业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94570" y="1188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解读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1371600"/>
            <a:ext cx="11049000" cy="24765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49618" y="143779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P/E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73618" y="143779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351x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702368" y="1437799"/>
            <a:ext cx="316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149x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26368" y="14377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~95x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750368" y="1437799"/>
            <a:ext cx="224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18x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74368" y="1437799"/>
            <a:ext cx="5730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溢价 8倍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894570" y="1445895"/>
            <a:ext cx="8706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Robotaxi 依赖</a:t>
            </a:r>
          </a:p>
        </p:txBody>
      </p:sp>
      <p:sp>
        <p:nvSpPr>
          <p:cNvPr id="30" name="Rectangle 30"/>
          <p:cNvSpPr/>
          <p:nvPr/>
        </p:nvSpPr>
        <p:spPr>
          <a:xfrm>
            <a:off x="571500" y="1619250"/>
            <a:ext cx="11049000" cy="24765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49618" y="1685449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EV/EBITDA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273618" y="168544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124x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02368" y="16854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226368" y="16854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0368" y="1685449"/>
            <a:ext cx="2241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10x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4368" y="16854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溢价 12倍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94570" y="1693545"/>
            <a:ext cx="9166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汽车行业 8-12x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1866900"/>
            <a:ext cx="11049000" cy="24765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49618" y="193309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P/S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73618" y="193309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14.6x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02368" y="19330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26368" y="193309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50368" y="19330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0.8x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274368" y="193309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溢价 18倍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894570" y="194119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科技层级溢价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71500" y="2114550"/>
            <a:ext cx="11049000" cy="24765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49618" y="21807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P/FCF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73618" y="21807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~225x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702368" y="21807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226368" y="21807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50368" y="21807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—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274368" y="2180749"/>
            <a:ext cx="3095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极高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94570" y="2188845"/>
            <a:ext cx="6735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FCF 改善中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9618" y="26188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可比公司</a:t>
            </a:r>
          </a:p>
        </p:txBody>
      </p:sp>
      <p:sp>
        <p:nvSpPr>
          <p:cNvPr id="55" name="Rectangle 55"/>
          <p:cNvSpPr/>
          <p:nvPr/>
        </p:nvSpPr>
        <p:spPr>
          <a:xfrm>
            <a:off x="571500" y="280035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571500" y="2838450"/>
            <a:ext cx="11049000" cy="266700"/>
          </a:xfrm>
          <a:prstGeom prst="rect">
            <a:avLst/>
          </a:prstGeom>
          <a:solidFill>
            <a:srgbClr val="1A2540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750570" y="29222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代码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893570" y="292227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市値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417570" y="2922270"/>
            <a:ext cx="8302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营收（TTM）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41570" y="29222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营收增长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465570" y="292227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毛利率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180070" y="2922270"/>
            <a:ext cx="56802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P/E 前瞻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513570" y="2922270"/>
            <a:ext cx="6715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EV/EBITDA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751820" y="292227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护城河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3105150"/>
            <a:ext cx="11049000" cy="266700"/>
          </a:xfrm>
          <a:prstGeom prst="rect">
            <a:avLst/>
          </a:prstGeom>
          <a:solidFill>
            <a:srgbClr val="1A2A44"/>
          </a:solidFill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571500" y="3105150"/>
            <a:ext cx="38100" cy="2667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749618" y="3180874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TSLA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892618" y="3180874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$1.42T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416618" y="3180874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$97.9B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940618" y="3180874"/>
            <a:ext cx="8079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+15.8% (Q1)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464618" y="3180874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19.1%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179118" y="3180874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149x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512618" y="3180874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05C5C"/>
                </a:solidFill>
                <a:latin typeface="Arial"/>
                <a:ea typeface="Microsoft YaHei"/>
                <a:cs typeface="Arial"/>
              </a:rPr>
              <a:t>124x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1820" y="3188970"/>
            <a:ext cx="3580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窄→宽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3371850"/>
            <a:ext cx="11049000" cy="247650"/>
          </a:xfrm>
          <a:prstGeom prst="rect">
            <a:avLst/>
          </a:prstGeom>
          <a:solidFill>
            <a:srgbClr val="131B30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749618" y="34380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BYD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892618" y="34380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$1.0T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416618" y="3438049"/>
            <a:ext cx="4946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~$800B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940618" y="3438049"/>
            <a:ext cx="1671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高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464618" y="343804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~18%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8179118" y="343804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~12x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9512618" y="3438049"/>
            <a:ext cx="25972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~8x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751820" y="34461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强（中国）</a:t>
            </a:r>
          </a:p>
        </p:txBody>
      </p:sp>
      <p:sp>
        <p:nvSpPr>
          <p:cNvPr id="84" name="Rectangle 84"/>
          <p:cNvSpPr/>
          <p:nvPr/>
        </p:nvSpPr>
        <p:spPr>
          <a:xfrm>
            <a:off x="571500" y="3619500"/>
            <a:ext cx="11049000" cy="247650"/>
          </a:xfrm>
          <a:prstGeom prst="rect">
            <a:avLst/>
          </a:prstGeom>
          <a:solidFill>
            <a:srgbClr val="0A0E1A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749618" y="3685699"/>
            <a:ext cx="2098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GM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892618" y="368569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$55B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3416618" y="3685699"/>
            <a:ext cx="4590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~$187B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4940618" y="3685699"/>
            <a:ext cx="16716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低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464618" y="368569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~14%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8179118" y="368569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6x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9512618" y="3685699"/>
            <a:ext cx="181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CAF82"/>
                </a:solidFill>
                <a:latin typeface="Arial"/>
                <a:ea typeface="Microsoft YaHei"/>
                <a:cs typeface="Arial"/>
              </a:rPr>
              <a:t>5x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0751820" y="3693795"/>
            <a:ext cx="2857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中等</a:t>
            </a:r>
          </a:p>
        </p:txBody>
      </p:sp>
      <p:sp>
        <p:nvSpPr>
          <p:cNvPr id="93" name="Rectangle 93"/>
          <p:cNvSpPr/>
          <p:nvPr/>
        </p:nvSpPr>
        <p:spPr>
          <a:xfrm>
            <a:off x="571500" y="4305300"/>
            <a:ext cx="11049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94" name="TextBox 94"/>
          <p:cNvSpPr txBox="1"/>
          <p:nvPr/>
        </p:nvSpPr>
        <p:spPr>
          <a:xfrm>
            <a:off x="749618" y="44667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估值结论</a:t>
            </a:r>
          </a:p>
        </p:txBody>
      </p:sp>
      <p:sp>
        <p:nvSpPr>
          <p:cNvPr id="95" name="Rectangle 95"/>
          <p:cNvSpPr/>
          <p:nvPr/>
        </p:nvSpPr>
        <p:spPr>
          <a:xfrm>
            <a:off x="571500" y="4686300"/>
            <a:ext cx="11049000" cy="609600"/>
          </a:xfrm>
          <a:prstGeom prst="roundRect">
            <a:avLst>
              <a:gd name="adj" fmla="val 625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96" name="Rectangle 96"/>
          <p:cNvSpPr/>
          <p:nvPr/>
        </p:nvSpPr>
        <p:spPr>
          <a:xfrm>
            <a:off x="571500" y="4686300"/>
            <a:ext cx="38100" cy="609600"/>
          </a:xfrm>
          <a:prstGeom prst="rect">
            <a:avLst/>
          </a:prstGeom>
          <a:solidFill>
            <a:srgbClr val="E05C5C"/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729615" y="4820602"/>
            <a:ext cx="77878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149x 前瞻 P/E 仅在 Robotaxi 产生 $50B+ 营业利润的情景下才成立。剔除 Robotaxi：公允价値约 $40-50/股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729615" y="5049202"/>
            <a:ext cx="57390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概率加权 EV $408 仅高于现价 $379 的 7.6%—在 Stage 3 技术形态下风险回报比差。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99" name="Rectangle 99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49618" y="65336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估值与情景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332178" y="6533674"/>
              <a:ext cx="1102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情景分析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1500" y="838200"/>
            <a:ext cx="3409950" cy="5334000"/>
            <a:chOff x="571500" y="838200"/>
            <a:chExt cx="3409950" cy="5334000"/>
          </a:xfrm>
        </p:grpSpPr>
        <p:sp>
          <p:nvSpPr>
            <p:cNvPr id="9" name="Rectangle 9"/>
            <p:cNvSpPr/>
            <p:nvPr/>
          </p:nvSpPr>
          <p:spPr>
            <a:xfrm>
              <a:off x="571500" y="838200"/>
              <a:ext cx="3409950" cy="53340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" y="838200"/>
              <a:ext cx="3409950" cy="38100"/>
            </a:xfrm>
            <a:prstGeom prst="rect">
              <a:avLst/>
            </a:prstGeom>
            <a:solidFill>
              <a:srgbClr val="4CAF8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54803" y="1111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乐观情景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24000" y="139065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1A3A2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54650" y="1458278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概率 20%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78588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$650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94006" y="2244090"/>
              <a:ext cx="5839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+71%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600783" y="284749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Robotaxi 奥斯汀成功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04985" y="3037999"/>
              <a:ext cx="1762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Optimus Phase 2 商业订单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15023" y="3247549"/>
              <a:ext cx="13419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汽车毛利率回升 18%+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33144" y="3457099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EPS $4+，市场给 150x+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379095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985794" y="4009549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FY2027E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82021" y="4219099"/>
              <a:ext cx="807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营收：$150B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76184" y="440959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EPS: $4.00 · 倍数: 162x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391025" y="838200"/>
            <a:ext cx="3409950" cy="5334000"/>
            <a:chOff x="4391025" y="838200"/>
            <a:chExt cx="3409950" cy="5334000"/>
          </a:xfrm>
        </p:grpSpPr>
        <p:sp>
          <p:nvSpPr>
            <p:cNvPr id="26" name="Rectangle 26"/>
            <p:cNvSpPr/>
            <p:nvPr/>
          </p:nvSpPr>
          <p:spPr>
            <a:xfrm>
              <a:off x="4391025" y="838200"/>
              <a:ext cx="3409950" cy="53340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391025" y="838200"/>
              <a:ext cx="3409950" cy="38100"/>
            </a:xfrm>
            <a:prstGeom prst="rect">
              <a:avLst/>
            </a:prstGeom>
            <a:solidFill>
              <a:srgbClr val="4A90D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4803" y="1111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基准情景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0" y="139065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1A254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64650" y="1458278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概率 40%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88588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$475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69502" y="22440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+25%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72025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42823" y="28474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汽车稳定，能源增长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75184" y="3037999"/>
              <a:ext cx="1441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Robotaxi 延迟至 2027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92663" y="3247549"/>
              <a:ext cx="12066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FY2027 EPS $2.50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46062" y="3457099"/>
              <a:ext cx="1099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市场给 190x 倍数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772025" y="379095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95794" y="4009549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FY2027E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692021" y="4219099"/>
              <a:ext cx="8079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营收：$120B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6184" y="4409599"/>
              <a:ext cx="16196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EPS: $2.50 · 倍数: 190x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210550" y="838200"/>
            <a:ext cx="3409950" cy="5334000"/>
            <a:chOff x="8210550" y="838200"/>
            <a:chExt cx="3409950" cy="5334000"/>
          </a:xfrm>
        </p:grpSpPr>
        <p:sp>
          <p:nvSpPr>
            <p:cNvPr id="43" name="Rectangle 43"/>
            <p:cNvSpPr/>
            <p:nvPr/>
          </p:nvSpPr>
          <p:spPr>
            <a:xfrm>
              <a:off x="8210550" y="838200"/>
              <a:ext cx="3409950" cy="5334000"/>
            </a:xfrm>
            <a:prstGeom prst="roundRect">
              <a:avLst>
                <a:gd name="adj" fmla="val 111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210550" y="838200"/>
              <a:ext cx="3409950" cy="38100"/>
            </a:xfrm>
            <a:prstGeom prst="rect">
              <a:avLst/>
            </a:prstGeom>
            <a:solidFill>
              <a:srgbClr val="E05C5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84328" y="11115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悲观情景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153525" y="1390650"/>
              <a:ext cx="1524000" cy="266700"/>
            </a:xfrm>
            <a:prstGeom prst="roundRect">
              <a:avLst>
                <a:gd name="adj" fmla="val 50000"/>
              </a:avLst>
            </a:prstGeom>
            <a:solidFill>
              <a:srgbClr val="3A1A1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584175" y="1458278"/>
              <a:ext cx="662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概率 40%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08113" y="1674495"/>
              <a:ext cx="1414824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90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$220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89027" y="2244090"/>
              <a:ext cx="6529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-42%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82025" y="259080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013150" y="2847499"/>
              <a:ext cx="1804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Robotaxi 再次延迟至 2028+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37107" y="3037999"/>
              <a:ext cx="115683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BYD 全球展拓加剧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83708" y="3247549"/>
              <a:ext cx="12636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Musk 品牌损害加重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19949" y="345709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按传统汽车企业重新定价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82025" y="3790950"/>
              <a:ext cx="2667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615319" y="4009549"/>
              <a:ext cx="6004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FY2027E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532906" y="4219099"/>
              <a:ext cx="7652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营收：$90B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23509" y="440959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EPS: $1.50 · 倍数: 147x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71500" y="6096952"/>
            <a:ext cx="11049000" cy="213360"/>
            <a:chOff x="571500" y="6096952"/>
            <a:chExt cx="11049000" cy="213360"/>
          </a:xfrm>
        </p:grpSpPr>
        <p:sp>
          <p:nvSpPr>
            <p:cNvPr id="60" name="Rectangle 60"/>
            <p:cNvSpPr/>
            <p:nvPr/>
          </p:nvSpPr>
          <p:spPr>
            <a:xfrm>
              <a:off x="571500" y="626745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954274" y="6096952"/>
              <a:ext cx="62834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 xml:space="preserve">概率加权预期价値：0.20×$650 + 0.40×$475 + 0.40×$220 = </a:t>
              </a:r>
              <a:r>
                <a:rPr lang="zh-CN" sz="1050" b="1" dirty="0">
                  <a:solidFill>
                    <a:srgbClr val="F5C842"/>
                  </a:solidFill>
                  <a:latin typeface="Arial"/>
                  <a:ea typeface="Microsoft YaHei"/>
                  <a:cs typeface="Arial"/>
                </a:rPr>
                <a:t>$408</a:t>
              </a:r>
              <a:r>
                <a:rPr lang="zh-CN" sz="1050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（比当前 $379 高 7.6%）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63" name="Rectangle 63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49618" y="653367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估值与情景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5" grpId="0"/>
      <p:bldP spid="42" grpId="0"/>
      <p:bldP spid="59" grpId="0"/>
      <p:bldP spid="62" grpId="0"/>
      <p:bldP spid="6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4943689" y="3067050"/>
            <a:ext cx="2304621" cy="426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0" b="1" dirty="0">
                <a:solidFill>
                  <a:srgbClr val="0F1628"/>
                </a:solidFill>
                <a:latin typeface="Arial"/>
                <a:ea typeface="Microsoft YaHei"/>
                <a:cs typeface="Arial"/>
              </a:rPr>
              <a:t>V</a:t>
            </a:r>
          </a:p>
        </p:txBody>
      </p:sp>
      <p:sp>
        <p:nvSpPr>
          <p:cNvPr id="6" name="Rectangle 6"/>
          <p:cNvSpPr/>
          <p:nvPr/>
        </p:nvSpPr>
        <p:spPr>
          <a:xfrm>
            <a:off x="0" y="38100"/>
            <a:ext cx="38100" cy="67818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9618" y="2656999"/>
            <a:ext cx="4733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第五章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2470" y="30079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E8EAF0"/>
                </a:solidFill>
                <a:latin typeface="Arial"/>
                <a:ea typeface="Microsoft YaHei"/>
                <a:cs typeface="Arial"/>
              </a:rPr>
              <a:t>决策框架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657600"/>
            <a:ext cx="4762500" cy="1905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42950" y="3838575"/>
            <a:ext cx="20645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BAIT 分析与最终结论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35482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BAIT 框架（Mauboussin）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43500" y="2552700"/>
            <a:ext cx="1905000" cy="457200"/>
            <a:chOff x="5143500" y="2552700"/>
            <a:chExt cx="1905000" cy="457200"/>
          </a:xfrm>
        </p:grpSpPr>
        <p:sp>
          <p:nvSpPr>
            <p:cNvPr id="9" name="Rectangle 9"/>
            <p:cNvSpPr/>
            <p:nvPr/>
          </p:nvSpPr>
          <p:spPr>
            <a:xfrm>
              <a:off x="5143500" y="25527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8899BB">
                <a:alpha val="30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43500" y="2552700"/>
              <a:ext cx="1905000" cy="457200"/>
            </a:xfrm>
            <a:prstGeom prst="roundRect">
              <a:avLst>
                <a:gd name="adj" fmla="val 50000"/>
              </a:avLst>
            </a:prstGeom>
            <a:noFill/>
            <a:ln w="9525">
              <a:solidFill>
                <a:srgbClr val="8899B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71829" y="270224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观察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838200"/>
            <a:ext cx="11049000" cy="5334000"/>
            <a:chOff x="571500" y="838200"/>
            <a:chExt cx="11049000" cy="5334000"/>
          </a:xfrm>
        </p:grpSpPr>
        <p:sp>
          <p:nvSpPr>
            <p:cNvPr id="13" name="Rectangle 13"/>
            <p:cNvSpPr/>
            <p:nvPr/>
          </p:nvSpPr>
          <p:spPr>
            <a:xfrm>
              <a:off x="571500" y="3352800"/>
              <a:ext cx="11049000" cy="9525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0" y="838200"/>
              <a:ext cx="9525" cy="5334000"/>
            </a:xfrm>
            <a:prstGeom prst="rect">
              <a:avLst/>
            </a:prstGeom>
            <a:solidFill>
              <a:srgbClr val="2A3A5C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571500" y="838200"/>
            <a:ext cx="5334000" cy="2438400"/>
            <a:chOff x="571500" y="838200"/>
            <a:chExt cx="5334000" cy="2438400"/>
          </a:xfrm>
        </p:grpSpPr>
        <p:sp>
          <p:nvSpPr>
            <p:cNvPr id="16" name="Rectangle 16"/>
            <p:cNvSpPr/>
            <p:nvPr/>
          </p:nvSpPr>
          <p:spPr>
            <a:xfrm>
              <a:off x="571500" y="838200"/>
              <a:ext cx="5334000" cy="2438400"/>
            </a:xfrm>
            <a:prstGeom prst="roundRect">
              <a:avLst>
                <a:gd name="adj" fmla="val 156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9618" y="103774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B — 行为面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855" y="1283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中性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9618" y="1590199"/>
              <a:ext cx="23743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Reddit: 27% 看涂 · X.com: 51% 看涂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9618" y="1780699"/>
              <a:ext cx="28086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极度两极化—情绪而非基本面驱动短期波动。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1971199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极度波动创造错价机会，双向均有可能。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838200"/>
            <a:ext cx="5334000" cy="2438400"/>
            <a:chOff x="6286500" y="838200"/>
            <a:chExt cx="53340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6286500" y="838200"/>
              <a:ext cx="5334000" cy="2438400"/>
            </a:xfrm>
            <a:prstGeom prst="roundRect">
              <a:avLst>
                <a:gd name="adj" fmla="val 1562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464618" y="103774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A — 分析面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9855" y="1283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偏空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1590199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149x P/E 需要 Robotaxi 产生 $50B+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1780699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营业利润，尚未验证。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4618" y="1971199"/>
              <a:ext cx="30008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FY2027 EPS 共识下调 -15.7%。基本面风险高。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3448050"/>
            <a:ext cx="5334000" cy="2495550"/>
            <a:chOff x="571500" y="3448050"/>
            <a:chExt cx="5334000" cy="2495550"/>
          </a:xfrm>
        </p:grpSpPr>
        <p:sp>
          <p:nvSpPr>
            <p:cNvPr id="30" name="Rectangle 30"/>
            <p:cNvSpPr/>
            <p:nvPr/>
          </p:nvSpPr>
          <p:spPr>
            <a:xfrm>
              <a:off x="571500" y="3448050"/>
              <a:ext cx="5334000" cy="2495550"/>
            </a:xfrm>
            <a:prstGeom prst="roundRect">
              <a:avLst>
                <a:gd name="adj" fmla="val 152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618" y="3647599"/>
              <a:ext cx="690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I — 信息面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4855" y="38928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中性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9618" y="4200049"/>
              <a:ext cx="20397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FSD 里程数据和 Megapack 订单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4390549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可见度是最佳信息优势。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9618" y="4581049"/>
              <a:ext cx="19400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Robotaxi 监管时间线不透明。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3448050"/>
            <a:ext cx="5334000" cy="2495550"/>
            <a:chOff x="6286500" y="3448050"/>
            <a:chExt cx="5334000" cy="2495550"/>
          </a:xfrm>
        </p:grpSpPr>
        <p:sp>
          <p:nvSpPr>
            <p:cNvPr id="37" name="Rectangle 37"/>
            <p:cNvSpPr/>
            <p:nvPr/>
          </p:nvSpPr>
          <p:spPr>
            <a:xfrm>
              <a:off x="6286500" y="3448050"/>
              <a:ext cx="5334000" cy="2495550"/>
            </a:xfrm>
            <a:prstGeom prst="roundRect">
              <a:avLst>
                <a:gd name="adj" fmla="val 1527"/>
              </a:avLst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4618" y="364759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T — 技术面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59855" y="38928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偏空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4618" y="4200049"/>
              <a:ext cx="27588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Stage 3 — 股价低于 50MA/150MA/200MA。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4390549"/>
              <a:ext cx="28513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趋势模板 3/8。RS vs SPY: -15ppt（3月）。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4618" y="4581049"/>
              <a:ext cx="24526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无有效整理形态。SEPA: 不建议入场。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44" name="Rectangle 44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决策框架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5" grpId="0"/>
      <p:bldP spid="22" grpId="0"/>
      <p:bldP spid="29" grpId="0"/>
      <p:bldP spid="36" grpId="0"/>
      <p:bldP spid="43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0" y="38100"/>
            <a:ext cx="12192000" cy="609600"/>
            <a:chOff x="0" y="38100"/>
            <a:chExt cx="12192000" cy="609600"/>
          </a:xfrm>
        </p:grpSpPr>
        <p:sp>
          <p:nvSpPr>
            <p:cNvPr id="5" name="Rectangle 5"/>
            <p:cNvSpPr/>
            <p:nvPr/>
          </p:nvSpPr>
          <p:spPr>
            <a:xfrm>
              <a:off x="0" y="38100"/>
              <a:ext cx="12192000" cy="6096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152400"/>
              <a:ext cx="38100" cy="3810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7235" y="2276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结论与入场策略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29000" y="952500"/>
            <a:ext cx="5334000" cy="952500"/>
            <a:chOff x="3429000" y="952500"/>
            <a:chExt cx="5334000" cy="952500"/>
          </a:xfrm>
        </p:grpSpPr>
        <p:sp>
          <p:nvSpPr>
            <p:cNvPr id="9" name="Rectangle 9"/>
            <p:cNvSpPr/>
            <p:nvPr/>
          </p:nvSpPr>
          <p:spPr>
            <a:xfrm>
              <a:off x="3429000" y="952500"/>
              <a:ext cx="5334000" cy="952500"/>
            </a:xfrm>
            <a:prstGeom prst="roundRect">
              <a:avLst>
                <a:gd name="adj" fmla="val 50000"/>
              </a:avLst>
            </a:prstGeom>
            <a:solidFill>
              <a:srgbClr val="F0A03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66470" y="1163955"/>
              <a:ext cx="3459061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0A0E1A"/>
                  </a:solidFill>
                  <a:latin typeface="Arial"/>
                  <a:ea typeface="Microsoft YaHei"/>
                  <a:cs typeface="Arial"/>
                </a:rPr>
                <a:t>观察 / WATCH</a:t>
              </a:r>
            </a:p>
          </p:txBody>
        </p:sp>
      </p:grpSp>
      <p:sp>
        <p:nvSpPr>
          <p:cNvPr id="12" name="Rectangle 12"/>
          <p:cNvSpPr/>
          <p:nvPr/>
        </p:nvSpPr>
        <p:spPr>
          <a:xfrm>
            <a:off x="571500" y="219075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747712" y="2485549"/>
            <a:ext cx="4251246" cy="993457"/>
            <a:chOff x="747712" y="2485549"/>
            <a:chExt cx="4251246" cy="993457"/>
          </a:xfrm>
        </p:grpSpPr>
        <p:sp>
          <p:nvSpPr>
            <p:cNvPr id="13" name="TextBox 13"/>
            <p:cNvSpPr txBox="1"/>
            <p:nvPr/>
          </p:nvSpPr>
          <p:spPr>
            <a:xfrm>
              <a:off x="749618" y="2485549"/>
              <a:ext cx="5630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1 年展望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7712" y="2755106"/>
              <a:ext cx="42101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基准目标：$450–500（+18–32%）。概率加权 EV: $408。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7712" y="3002756"/>
              <a:ext cx="42512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CAF82"/>
                  </a:solidFill>
                  <a:latin typeface="Arial"/>
                  <a:ea typeface="Microsoft YaHei"/>
                  <a:cs typeface="Arial"/>
                </a:rPr>
                <a:t>上行：$600+ 当奥斯汀 Robotaxi 2H 2026 商业启动确认。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7712" y="3250406"/>
              <a:ext cx="3610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05C5C"/>
                  </a:solidFill>
                  <a:latin typeface="Arial"/>
                  <a:ea typeface="Microsoft YaHei"/>
                  <a:cs typeface="Arial"/>
                </a:rPr>
                <a:t>下行：$280–300 当 Robotaxi 再延迟至 2028+ 。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6286500" y="2400300"/>
            <a:ext cx="9525" cy="18097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6557962" y="2485549"/>
            <a:ext cx="4226600" cy="993457"/>
            <a:chOff x="6557962" y="2485549"/>
            <a:chExt cx="4226600" cy="993457"/>
          </a:xfrm>
        </p:grpSpPr>
        <p:sp>
          <p:nvSpPr>
            <p:cNvPr id="19" name="TextBox 19"/>
            <p:cNvSpPr txBox="1"/>
            <p:nvPr/>
          </p:nvSpPr>
          <p:spPr>
            <a:xfrm>
              <a:off x="6559868" y="24855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A90D9"/>
                  </a:solidFill>
                  <a:latin typeface="Arial"/>
                  <a:ea typeface="Microsoft YaHei"/>
                  <a:cs typeface="Arial"/>
                </a:rPr>
                <a:t>仓位建议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57962" y="2755106"/>
              <a:ext cx="3643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当前：0%（Stage 3 技术面，不符合入场条件）。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57962" y="3002756"/>
              <a:ext cx="30435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首次入场：50MA 重回 $386 + 放量确认。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7962" y="3250406"/>
              <a:ext cx="4226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AF0"/>
                  </a:solidFill>
                  <a:latin typeface="Arial"/>
                  <a:ea typeface="Microsoft YaHei"/>
                  <a:cs typeface="Arial"/>
                </a:rPr>
                <a:t>最大仓位 5–8%。LEAPS 2028 $400 看涂期权为替代方案。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571500" y="4419600"/>
            <a:ext cx="11049000" cy="19050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49618" y="45619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4A90D9"/>
                </a:solidFill>
                <a:latin typeface="Arial"/>
                <a:ea typeface="Microsoft YaHei"/>
                <a:cs typeface="Arial"/>
              </a:rPr>
              <a:t>关键入场触发器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4800600"/>
            <a:ext cx="11049000" cy="609600"/>
          </a:xfrm>
          <a:prstGeom prst="roundRect">
            <a:avLst>
              <a:gd name="adj" fmla="val 625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4800600"/>
            <a:ext cx="47625" cy="609600"/>
          </a:xfrm>
          <a:prstGeom prst="rect">
            <a:avLst/>
          </a:prstGeom>
          <a:solidFill>
            <a:srgbClr val="F5C84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46760" y="4918710"/>
            <a:ext cx="3618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重新站上 50 日均线 $386 并伴随放量确认，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6760" y="5147310"/>
            <a:ext cx="3296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F5C842"/>
                </a:solidFill>
                <a:latin typeface="Arial"/>
                <a:ea typeface="Microsoft YaHei"/>
                <a:cs typeface="Arial"/>
              </a:rPr>
              <a:t>或 Robotaxi 奥斯汀商业启动官方公告。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9618" y="5590699"/>
            <a:ext cx="5229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止损：收盘跌破 $310（前期支撑下方）。仓位规模：Stage 3 期间不超过资组 8%。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0" y="6324600"/>
            <a:ext cx="12192000" cy="533400"/>
            <a:chOff x="0" y="6324600"/>
            <a:chExt cx="12192000" cy="533400"/>
          </a:xfrm>
        </p:grpSpPr>
        <p:sp>
          <p:nvSpPr>
            <p:cNvPr id="31" name="Rectangle 31"/>
            <p:cNvSpPr/>
            <p:nvPr/>
          </p:nvSpPr>
          <p:spPr>
            <a:xfrm>
              <a:off x="0" y="6324600"/>
              <a:ext cx="12192000" cy="533400"/>
            </a:xfrm>
            <a:prstGeom prst="rect">
              <a:avLst/>
            </a:prstGeom>
            <a:solidFill>
              <a:srgbClr val="131B3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0" y="6324600"/>
              <a:ext cx="12192000" cy="9525"/>
            </a:xfrm>
            <a:prstGeom prst="rect">
              <a:avLst/>
            </a:prstGeom>
            <a:solidFill>
              <a:srgbClr val="F5C842">
                <a:alpha val="35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618" y="6533674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决策框架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96579" y="6533674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8899BB"/>
                  </a:solidFill>
                  <a:latin typeface="Arial"/>
                  <a:ea typeface="Microsoft YaHei"/>
                  <a:cs typeface="Arial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7" grpId="0"/>
      <p:bldP spid="23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A0E1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6819900"/>
              <a:ext cx="12192000" cy="381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38100"/>
              <a:ext cx="28575" cy="6781800"/>
            </a:xfrm>
            <a:prstGeom prst="rect">
              <a:avLst/>
            </a:prstGeom>
            <a:solidFill>
              <a:srgbClr val="F5C842"/>
            </a:solidFill>
            <a:ln>
              <a:noFill/>
            </a:ln>
          </p:spPr>
        </p:sp>
      </p:grpSp>
      <p:sp>
        <p:nvSpPr>
          <p:cNvPr id="7" name="TextBox 7"/>
          <p:cNvSpPr txBox="1"/>
          <p:nvPr/>
        </p:nvSpPr>
        <p:spPr>
          <a:xfrm>
            <a:off x="5238855" y="1699260"/>
            <a:ext cx="17142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数据来源 &amp; 免责声明</a:t>
            </a:r>
          </a:p>
        </p:txBody>
      </p:sp>
      <p:sp>
        <p:nvSpPr>
          <p:cNvPr id="8" name="Rectangle 8"/>
          <p:cNvSpPr/>
          <p:nvPr/>
        </p:nvSpPr>
        <p:spPr>
          <a:xfrm>
            <a:off x="3238500" y="1981200"/>
            <a:ext cx="5715000" cy="9525"/>
          </a:xfrm>
          <a:prstGeom prst="rect">
            <a:avLst/>
          </a:prstGeom>
          <a:solidFill>
            <a:srgbClr val="2A3A5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296513" y="2295049"/>
            <a:ext cx="35989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本研究基于 rwh-overlay 结构化投资论文 wiki 自动生成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32434" y="2523649"/>
            <a:ext cx="3727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仅供信息参考，不构成投资建议，投资有风险请谨慎决策。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96162" y="3037999"/>
            <a:ext cx="55996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来源：Tesla 10-K FY2025 · Tesla 10-Q Q1 2026 · Yahoo Finance · Adanos Finance API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78362" y="3266599"/>
            <a:ext cx="563527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分析师共识 47 人（Thomson Reuters） · Minervini SEPA 框架 · Mauboussin BAIT 框架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09821" y="3933349"/>
            <a:ext cx="7723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2A3A5C"/>
                </a:solidFill>
                <a:latin typeface="Arial"/>
                <a:ea typeface="Microsoft YaHei"/>
                <a:cs typeface="Arial"/>
              </a:rPr>
              <a:t>2026-05-16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667250" y="4400550"/>
            <a:ext cx="2857500" cy="342900"/>
          </a:xfrm>
          <a:prstGeom prst="roundRect">
            <a:avLst>
              <a:gd name="adj" fmla="val 50000"/>
            </a:avLst>
          </a:prstGeom>
          <a:solidFill>
            <a:srgbClr val="131B30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4667250" y="4400550"/>
            <a:ext cx="2857500" cy="3429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A3A5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289744" y="4514374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8899BB"/>
                </a:solidFill>
                <a:latin typeface="Arial"/>
                <a:ea typeface="Microsoft YaHei"/>
                <a:cs typeface="Arial"/>
              </a:rPr>
              <a:t>投资研究 · rwh-overlay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