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10001250" y="38100"/>
            <a:ext cx="2190750" cy="2057400"/>
          </a:xfrm>
          <a:custGeom>
            <a:avLst/>
            <a:gdLst/>
            <a:ahLst/>
            <a:cxnLst/>
            <a:rect l="l" t="t" r="r" b="b"/>
            <a:pathLst>
              <a:path w="2190750" h="2057400">
                <a:moveTo>
                  <a:pt x="2190750" y="0"/>
                </a:moveTo>
                <a:lnTo>
                  <a:pt x="0" y="0"/>
                </a:lnTo>
                <a:lnTo>
                  <a:pt x="2190750" y="2057400"/>
                </a:lnTo>
                <a:close/>
              </a:path>
            </a:pathLst>
          </a:custGeom>
          <a:solidFill>
            <a:srgbClr val="131B30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10953750" y="38100"/>
            <a:ext cx="1238250" cy="1200150"/>
          </a:xfrm>
          <a:custGeom>
            <a:avLst/>
            <a:gdLst/>
            <a:ahLst/>
            <a:cxnLst/>
            <a:rect l="l" t="t" r="r" b="b"/>
            <a:pathLst>
              <a:path w="1238250" h="1200150">
                <a:moveTo>
                  <a:pt x="1238250" y="0"/>
                </a:moveTo>
                <a:lnTo>
                  <a:pt x="0" y="0"/>
                </a:lnTo>
                <a:lnTo>
                  <a:pt x="1238250" y="1200150"/>
                </a:lnTo>
                <a:close/>
              </a:path>
            </a:pathLst>
          </a:custGeom>
          <a:solidFill>
            <a:srgbClr val="1A2540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6096000" y="571500"/>
            <a:ext cx="9525" cy="5524500"/>
          </a:xfrm>
          <a:custGeom>
            <a:avLst/>
            <a:gdLst/>
            <a:ahLst/>
            <a:cxnLst/>
            <a:rect l="l" t="t" r="r" b="b"/>
            <a:pathLst>
              <a:path w="9525" h="5524500">
                <a:moveTo>
                  <a:pt x="0" y="0"/>
                </a:moveTo>
                <a:lnTo>
                  <a:pt x="0" y="5524500"/>
                </a:lnTo>
              </a:path>
            </a:pathLst>
          </a:custGeom>
          <a:noFill/>
          <a:ln w="9525">
            <a:solidFill>
              <a:srgbClr val="1A2540"/>
            </a:solidFill>
          </a:ln>
        </p:spPr>
      </p:sp>
      <p:sp>
        <p:nvSpPr>
          <p:cNvPr id="7" name="Line 7"/>
          <p:cNvSpPr/>
          <p:nvPr/>
        </p:nvSpPr>
        <p:spPr>
          <a:xfrm>
            <a:off x="9144000" y="571500"/>
            <a:ext cx="9525" cy="5524500"/>
          </a:xfrm>
          <a:custGeom>
            <a:avLst/>
            <a:gdLst/>
            <a:ahLst/>
            <a:cxnLst/>
            <a:rect l="l" t="t" r="r" b="b"/>
            <a:pathLst>
              <a:path w="9525" h="5524500">
                <a:moveTo>
                  <a:pt x="0" y="0"/>
                </a:moveTo>
                <a:lnTo>
                  <a:pt x="0" y="5524500"/>
                </a:lnTo>
              </a:path>
            </a:pathLst>
          </a:custGeom>
          <a:noFill/>
          <a:ln w="9525">
            <a:solidFill>
              <a:srgbClr val="1A254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47625" cy="9525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93420" y="1274445"/>
            <a:ext cx="4401893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AI 企业软件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235" y="2075498"/>
            <a:ext cx="341014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赛道论文 · Sector Thesis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476500"/>
            <a:ext cx="5334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6760" y="2680335"/>
            <a:ext cx="61295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生命周期：成熟 · 信念：Med-High · 6 个价值链层 · 载体 IGV 打底 + 个股卫星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30480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0A03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8071" y="312658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0E1A"/>
                </a:solidFill>
                <a:latin typeface="Arial"/>
                <a:ea typeface="Microsoft YaHei"/>
                <a:cs typeface="Arial"/>
              </a:rPr>
              <a:t>WATCH（近 Go）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8665" y="652557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2026-06-01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60137" y="652557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Investment Research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91500" y="1524000"/>
            <a:ext cx="24765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191500" y="2095500"/>
            <a:ext cx="20955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91500" y="2667000"/>
            <a:ext cx="2286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191500" y="3238500"/>
            <a:ext cx="1905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191500" y="3810000"/>
            <a:ext cx="238125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191500" y="4381500"/>
            <a:ext cx="17145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81022" y="1292066"/>
            <a:ext cx="16340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SECTOR RESEARCH SUMMARY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7712" y="3688556"/>
            <a:ext cx="4292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AI 代理时代企业 SaaS 被重新定价：颠覆还是增强护城河，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7712" y="3917156"/>
            <a:ext cx="18195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2026 H2 财报季见分晓。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57150" cy="6819900"/>
          </a:xfrm>
          <a:prstGeom prst="rect">
            <a:avLst/>
          </a:prstGeom>
          <a:solidFill>
            <a:srgbClr val="F5C842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28575" cy="68199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06903" y="1076325"/>
            <a:ext cx="1178195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0" b="1" dirty="0">
                <a:solidFill>
                  <a:srgbClr val="F5C842">
                    <a:alphaMod val="12000"/>
                  </a:srgbClr>
                </a:solidFill>
                <a:latin typeface="Arial"/>
                <a:ea typeface="Microsoft YaHei"/>
                <a:cs typeface="Arial"/>
              </a:rPr>
              <a:t>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9874" y="31842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赛道概览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3714750"/>
            <a:ext cx="3810000" cy="19050"/>
          </a:xfrm>
          <a:prstGeom prst="rect">
            <a:avLst/>
          </a:prstGeom>
          <a:solidFill>
            <a:srgbClr val="F5C842">
              <a:alpha val="5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979646" y="3950018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核心问题 · 价值链 · TAM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332321" y="652557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核心赛道问题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300" y="638175"/>
            <a:ext cx="1481542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5C842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68127" y="2472690"/>
            <a:ext cx="5055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AI 代理是增量货币化层，还是替代威胁？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10804" y="3188018"/>
            <a:ext cx="6570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增强论：Agentforce / Firefly / Now Assist 提升 ARPU，业绩驱动反颠覆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00890" y="3511868"/>
            <a:ext cx="51902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颠覆论：LLM 直接复制软件功能，估值永久压缩至历史低位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4095750"/>
            <a:ext cx="7239000" cy="19050"/>
          </a:xfrm>
          <a:prstGeom prst="rect">
            <a:avLst/>
          </a:prstGeom>
          <a:solidFill>
            <a:srgbClr val="F5C842">
              <a:alpha val="4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782395" y="4434364"/>
            <a:ext cx="46272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0A030"/>
                </a:solidFill>
                <a:latin typeface="Arial"/>
                <a:ea typeface="Microsoft YaHei"/>
                <a:cs typeface="Arial"/>
              </a:rPr>
              <a:t>验证窗口：2026 H2 财报季 — 各家 AI 产品净订阅数据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9618" y="65336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赛道概览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9298" y="6533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价值链分层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952500"/>
            <a:ext cx="11049000" cy="419100"/>
          </a:xfrm>
          <a:prstGeom prst="rect">
            <a:avLst/>
          </a:prstGeom>
          <a:solidFill>
            <a:srgbClr val="1A254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8665" y="1096328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15665" y="10963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做什么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35165" y="10963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关键玩家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371600"/>
            <a:ext cx="11049000" cy="4572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6760" y="1527810"/>
            <a:ext cx="1042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应用层 SaaS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14712" y="1535906"/>
            <a:ext cx="2049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CRM / 工作流 / 创意 / 财税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34212" y="1535906"/>
            <a:ext cx="2501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CRM · NOW · ADBE · INTU · WDAY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1828800"/>
            <a:ext cx="11049000" cy="4572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6760" y="19850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设计协作层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4712" y="1993106"/>
            <a:ext cx="16634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UI/UX 设计 + 协作平台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4212" y="199310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FIG (Figma) · ADBE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286000"/>
            <a:ext cx="11049000" cy="4572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6760" y="24422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数据/分析层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14712" y="2450306"/>
            <a:ext cx="1696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数据云 / 可观测性 / BI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34212" y="2450306"/>
            <a:ext cx="2189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SNOW · DDOG（高增长溢价）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743200"/>
            <a:ext cx="11049000" cy="4572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6760" y="28994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安全软件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14712" y="29075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网络安全平台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4212" y="2907506"/>
            <a:ext cx="10061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PANW · CRWD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200400"/>
            <a:ext cx="11049000" cy="4572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3356610"/>
            <a:ext cx="10794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AI 平台/编排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14712" y="3364706"/>
            <a:ext cx="12526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政企 AI 数据平台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34212" y="3364706"/>
            <a:ext cx="1704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PLTR（最高增长卡位）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085749"/>
            <a:ext cx="83337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利润集中在有数据护城河 + 工作流锁定的层；最脆弱卡位 = 无专有数据的薄应用层。云基础设施（MSFT/AMZN/GOOGL）为相邻层。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9618" y="65336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赛道概览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39298" y="6533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28305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市场规模 TAM &amp; 增长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38250"/>
            <a:ext cx="3429000" cy="1905000"/>
          </a:xfrm>
          <a:prstGeom prst="roundRect">
            <a:avLst>
              <a:gd name="adj" fmla="val 2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3429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02165" y="159305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企业应用软件 TAM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1050" y="1977390"/>
            <a:ext cx="392990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$3,000–3,500亿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599" y="2601278"/>
            <a:ext cx="1084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2025 年 [估算]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1238250"/>
            <a:ext cx="3429000" cy="1905000"/>
          </a:xfrm>
          <a:prstGeom prst="roundRect">
            <a:avLst>
              <a:gd name="adj" fmla="val 2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81500" y="1238250"/>
            <a:ext cx="3429000" cy="38100"/>
          </a:xfrm>
          <a:prstGeom prst="rect">
            <a:avLst/>
          </a:prstGeom>
          <a:solidFill>
            <a:srgbClr val="4CAF8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900976" y="1593056"/>
            <a:ext cx="390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CAGR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25564" y="1945005"/>
            <a:ext cx="194087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~12–14%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2608" y="2601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行业共识区间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191500" y="1238250"/>
            <a:ext cx="3429000" cy="1905000"/>
          </a:xfrm>
          <a:prstGeom prst="roundRect">
            <a:avLst>
              <a:gd name="adj" fmla="val 2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191500" y="1238250"/>
            <a:ext cx="3429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04318" y="1593056"/>
            <a:ext cx="12033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AI 增量货币化层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53176" y="1977390"/>
            <a:ext cx="190564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+10–30%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33570" y="2601278"/>
            <a:ext cx="1544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ARPU 叠加空间 [估算]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71475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9618" y="399049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结构性需求放大器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6760" y="4271010"/>
            <a:ext cx="6164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企业 AI 采用 + 每家龙头推 AI 代理产品 → 在现有 SaaS 订阅上叠加新货币化层。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8665" y="4572952"/>
            <a:ext cx="47345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来源：Gartner / IDC 企业软件支出趋势（区间估算，非精确引用）。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9618" y="65336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赛道概览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39298" y="6533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57150" cy="6819900"/>
          </a:xfrm>
          <a:prstGeom prst="rect">
            <a:avLst/>
          </a:prstGeom>
          <a:solidFill>
            <a:srgbClr val="F5C842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28575" cy="68199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127355" y="1076325"/>
            <a:ext cx="1937290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0" b="1" dirty="0">
                <a:solidFill>
                  <a:srgbClr val="F5C842">
                    <a:alphaMod val="12000"/>
                  </a:srgbClr>
                </a:solidFill>
                <a:latin typeface="Arial"/>
                <a:ea typeface="Microsoft YaHei"/>
                <a:cs typeface="Arial"/>
              </a:rPr>
              <a:t>II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48344" y="3184208"/>
            <a:ext cx="249531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结构与卡位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3714750"/>
            <a:ext cx="3810000" cy="19050"/>
          </a:xfrm>
          <a:prstGeom prst="rect">
            <a:avLst/>
          </a:prstGeom>
          <a:solidFill>
            <a:srgbClr val="F5C842">
              <a:alpha val="5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669107" y="3950018"/>
            <a:ext cx="2853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驱动力 · 子主题分化 · 利润卡位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332321" y="652557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结构性驱动力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21055" y="1168718"/>
            <a:ext cx="13074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AI 货币化新层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3912" y="1459706"/>
            <a:ext cx="7192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每家龙头推 AI 代理产品（Agentforce / Now Assist / Firefly / Intuit Assist），ARPU 提升路径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0002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21055" y="21212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切换成本护城河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3912" y="2412206"/>
            <a:ext cx="3758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多年数据/工作流锁定，AI 短期难迁移企业核心系统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9527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1055" y="30737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估值修复周期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3912" y="3364706"/>
            <a:ext cx="5163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2024–25 AI 颠覆恐慌将龙头压至历史低位 P/E，业绩兑现驱动均值回归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9052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1055" y="4026218"/>
            <a:ext cx="15766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企业 IT 支出韧性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3912" y="4317206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软件为数字化刚需，经济周期中相对抗跌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9618" y="653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结构与卡位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39298" y="6533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子主题分化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38200"/>
            <a:ext cx="3409950" cy="5143500"/>
          </a:xfrm>
          <a:prstGeom prst="roundRect">
            <a:avLst>
              <a:gd name="adj" fmla="val 1117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38200"/>
            <a:ext cx="3409950" cy="38100"/>
          </a:xfrm>
          <a:prstGeom prst="rect">
            <a:avLst/>
          </a:prstGeom>
          <a:solidFill>
            <a:srgbClr val="4CAF8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29634" y="10953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赢家 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905" y="14106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估值修复 / 反转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1714500"/>
            <a:ext cx="264795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629267" y="2012632"/>
            <a:ext cx="12944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INTU · CRM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8054" y="2317432"/>
            <a:ext cx="14968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ADBE · WDAY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1902" y="3029902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被 AI 恐慌错杀，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0211" y="3258502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业绩兑现回归历史 P/E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91025" y="838200"/>
            <a:ext cx="3409950" cy="5143500"/>
          </a:xfrm>
          <a:prstGeom prst="roundRect">
            <a:avLst>
              <a:gd name="adj" fmla="val 1117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91025" y="838200"/>
            <a:ext cx="3409950" cy="38100"/>
          </a:xfrm>
          <a:prstGeom prst="rect">
            <a:avLst/>
          </a:prstGeom>
          <a:solidFill>
            <a:srgbClr val="F0A03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634145" y="1095375"/>
            <a:ext cx="923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A030"/>
                </a:solidFill>
                <a:latin typeface="Arial"/>
                <a:ea typeface="Microsoft YaHei"/>
                <a:cs typeface="Arial"/>
              </a:rPr>
              <a:t>试金石 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64779" y="1410652"/>
            <a:ext cx="8624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直面 AI 威胁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772025" y="1714500"/>
            <a:ext cx="264795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248882" y="2075498"/>
            <a:ext cx="16942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FIG (Figma)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08556" y="2934652"/>
            <a:ext cx="1774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Anthropic Claude Design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85232" y="316325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点名威胁；逆境反弹 vs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69255" y="33918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颠覆的二元试金石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210550" y="838200"/>
            <a:ext cx="3409950" cy="5143500"/>
          </a:xfrm>
          <a:prstGeom prst="roundRect">
            <a:avLst>
              <a:gd name="adj" fmla="val 1117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210550" y="838200"/>
            <a:ext cx="3409950" cy="38100"/>
          </a:xfrm>
          <a:prstGeom prst="rect">
            <a:avLst/>
          </a:prstGeom>
          <a:solidFill>
            <a:srgbClr val="E05C5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568684" y="10953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输家 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00602" y="14106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薄应用 / 点解决方案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91550" y="1714500"/>
            <a:ext cx="264795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173789" y="21402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无数据护城河的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32572" y="2406968"/>
            <a:ext cx="9659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单点 SaaS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7628" y="3029902"/>
            <a:ext cx="1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最易被 AI 代理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95485" y="32585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直接替代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83908" y="6181249"/>
            <a:ext cx="24241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AI 代理颠覆 vs 增强，决定子主题方向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9618" y="653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结构与卡位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39298" y="6533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利润卡位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300" y="447675"/>
            <a:ext cx="1481542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5C842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69769" y="2219325"/>
            <a:ext cx="44524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利润集中在有数据护城河 + 工作流锁定的层。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04458" y="2807018"/>
            <a:ext cx="63830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数据云（SNOW）· 政企 AI 平台（PLTR）· 安全（PANW）→ 最高增长溢价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84006" y="3188018"/>
            <a:ext cx="56239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成熟应用龙头（CRM/NOW/ADBE）→ 稳定现金流 + AI 货币化期权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86727" y="3569018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最脆弱卡位 = 无专有数据的薄应用层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476500" y="4191000"/>
            <a:ext cx="7239000" cy="19050"/>
          </a:xfrm>
          <a:prstGeom prst="rect">
            <a:avLst/>
          </a:prstGeom>
          <a:solidFill>
            <a:srgbClr val="F5C842">
              <a:alpha val="4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101340" y="4537710"/>
            <a:ext cx="5989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中美格局：美国龙头主导全球企业软件，无显著中国竞争（与硬件赛道不同）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9618" y="653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结构与卡位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39298" y="6533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57150" cy="6819900"/>
          </a:xfrm>
          <a:prstGeom prst="rect">
            <a:avLst/>
          </a:prstGeom>
          <a:solidFill>
            <a:srgbClr val="F5C842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28575" cy="68199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47808" y="1076325"/>
            <a:ext cx="2696385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0" b="1" dirty="0">
                <a:solidFill>
                  <a:srgbClr val="F5C842">
                    <a:alphaMod val="12000"/>
                  </a:srgbClr>
                </a:solidFill>
                <a:latin typeface="Arial"/>
                <a:ea typeface="Microsoft YaHei"/>
                <a:cs typeface="Arial"/>
              </a:rPr>
              <a:t>III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9874" y="31842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关键风险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3714750"/>
            <a:ext cx="3810000" cy="19050"/>
          </a:xfrm>
          <a:prstGeom prst="rect">
            <a:avLst/>
          </a:prstGeom>
          <a:solidFill>
            <a:srgbClr val="F5C842">
              <a:alpha val="5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275397" y="3950018"/>
            <a:ext cx="16412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风险 × 可观测征兆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286315" y="652557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218764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关键风险 + 征兆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9525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E05C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21055" y="1073468"/>
            <a:ext cx="19285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AI 代理真颠覆（高）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3912" y="1364456"/>
            <a:ext cx="40705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征兆：龙头 AI 产品净订阅数 QoQ 下滑；ARPU 不升反降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9050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E05C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21055" y="2025968"/>
            <a:ext cx="3170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估值修复证伪 / 价值陷阱（中高）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3912" y="2316956"/>
            <a:ext cx="3421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征兆：INTU/CRM 财报营收指引持续低于双位数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8575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F0A03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1055" y="2978468"/>
            <a:ext cx="2197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企业 IT 支出收缩（中）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3912" y="326945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征兆：大客户续约率下降；新签单放缓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9618" y="41809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次要风险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44196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F0A03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22960" y="4537710"/>
            <a:ext cx="51217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高估值名抛物线回调 — SNOW/DDOG MA50 扩张 &gt;+75% 后均值回归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8958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F0A03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2960" y="5013960"/>
            <a:ext cx="55424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AI 资本开支挤压软件预算 — CIO 调查显示预算从 SaaS 转向 AI 基础设施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9618" y="65336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关键风险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32178" y="6533674"/>
            <a:ext cx="110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57150" cy="6819900"/>
          </a:xfrm>
          <a:prstGeom prst="rect">
            <a:avLst/>
          </a:prstGeom>
          <a:solidFill>
            <a:srgbClr val="F5C842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28575" cy="68199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811066" y="1076325"/>
            <a:ext cx="2569869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0" b="1" dirty="0">
                <a:solidFill>
                  <a:srgbClr val="F5C842">
                    <a:alphaMod val="12000"/>
                  </a:srgbClr>
                </a:solidFill>
                <a:latin typeface="Arial"/>
                <a:ea typeface="Microsoft YaHei"/>
                <a:cs typeface="Arial"/>
              </a:rPr>
              <a:t>IV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48344" y="3184208"/>
            <a:ext cx="249531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判定与载体</a:t>
            </a:r>
          </a:p>
        </p:txBody>
      </p:sp>
      <p:sp>
        <p:nvSpPr>
          <p:cNvPr id="8" name="Rectangle 8"/>
          <p:cNvSpPr/>
          <p:nvPr/>
        </p:nvSpPr>
        <p:spPr>
          <a:xfrm>
            <a:off x="4000500" y="3714750"/>
            <a:ext cx="4191000" cy="19050"/>
          </a:xfrm>
          <a:prstGeom prst="rect">
            <a:avLst/>
          </a:prstGeom>
          <a:solidFill>
            <a:srgbClr val="F5C842">
              <a:alpha val="5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462082" y="3950018"/>
            <a:ext cx="32678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可投性 · ETF 打底 · 卫星个股 · 监控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286315" y="652557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可投性判定</a:t>
            </a:r>
          </a:p>
        </p:txBody>
      </p:sp>
      <p:sp>
        <p:nvSpPr>
          <p:cNvPr id="7" name="Rectangle 7"/>
          <p:cNvSpPr/>
          <p:nvPr/>
        </p:nvSpPr>
        <p:spPr>
          <a:xfrm>
            <a:off x="4000500" y="952500"/>
            <a:ext cx="4191000" cy="952500"/>
          </a:xfrm>
          <a:prstGeom prst="roundRect">
            <a:avLst>
              <a:gd name="adj" fmla="val 50000"/>
            </a:avLst>
          </a:prstGeom>
          <a:solidFill>
            <a:srgbClr val="F0A03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280748" y="1212532"/>
            <a:ext cx="363050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0A0E1A"/>
                </a:solidFill>
                <a:latin typeface="Arial"/>
                <a:ea typeface="Microsoft YaHei"/>
                <a:cs typeface="Arial"/>
              </a:rPr>
              <a:t>WATCH（近 Go）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19075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9618" y="2561749"/>
            <a:ext cx="13928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生命周期 → 持有纪律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842260"/>
            <a:ext cx="46661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成熟赛道 → 个股走蓝筹规则（论文止损 / 估值锚 / 可长持）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3117056"/>
            <a:ext cx="36515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不适用 hot-sector-playbook（免费股/抛物线）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5118" y="25617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闸门理由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2260" y="2842260"/>
            <a:ext cx="25629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IGV Stage 2 + 板块同动确认轮动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3212" y="31170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但普涨后扩展，非理想入场日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477000" y="2457450"/>
            <a:ext cx="9525" cy="10477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71475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9618" y="3990499"/>
            <a:ext cx="757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升 GO 条件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424815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4248150"/>
            <a:ext cx="47625" cy="762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64858" y="4453414"/>
            <a:ext cx="51355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IGV 回踩 MA50 ~$95–98 入打底；INTU 为最佳深度价值卫星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6762" y="4736306"/>
            <a:ext cx="2304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或 INTU/CRM Stage 2 技术确认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9618" y="653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判定与载体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6579" y="653367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431081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载体选择 — ETF 打底 + 个股卫星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38200"/>
            <a:ext cx="5314950" cy="5143500"/>
          </a:xfrm>
          <a:prstGeom prst="roundRect">
            <a:avLst>
              <a:gd name="adj" fmla="val 741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38200"/>
            <a:ext cx="5314950" cy="28575"/>
          </a:xfrm>
          <a:prstGeom prst="rect">
            <a:avLst/>
          </a:prstGeom>
          <a:solidFill>
            <a:srgbClr val="4CAF8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10215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ETF 打底候选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219200"/>
            <a:ext cx="1905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38200" y="1476375"/>
            <a:ext cx="10847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IGV ✅ 推荐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3915" y="1772602"/>
            <a:ext cx="28023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~0.41% · 高流动性 · 最纯软件 · Stage 2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57400"/>
            <a:ext cx="493395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0105" y="225456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WCLD（备选）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915" y="2515552"/>
            <a:ext cx="28866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~0.45% · 纯云计算 · 更偏云原生/高 beta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0105" y="2902268"/>
            <a:ext cx="13178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SKYY（备选）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15" y="31632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~0.60% · 含基础设施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305550" y="838200"/>
            <a:ext cx="5314950" cy="5143500"/>
          </a:xfrm>
          <a:prstGeom prst="roundRect">
            <a:avLst>
              <a:gd name="adj" fmla="val 741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305550" y="838200"/>
            <a:ext cx="5314950" cy="28575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81762" y="1021556"/>
            <a:ext cx="2392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卫星个股候选（1–2 只高信念）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96050" y="1219200"/>
            <a:ext cx="2667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72250" y="1476375"/>
            <a:ext cx="1199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INTU · High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77965" y="1772602"/>
            <a:ext cx="3484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应用层(财税) · 深度价值修复 · 已有论文 · 等催化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96050" y="2057400"/>
            <a:ext cx="493395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74155" y="2254568"/>
            <a:ext cx="15559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CRM · Med-High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77965" y="2515552"/>
            <a:ext cx="29633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应用层(CRM+Agentforce) · 建议新建论文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74155" y="2902268"/>
            <a:ext cx="9452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FIG · Med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77965" y="316325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设计协作层 · 已 Watch · 高波动逆境股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54756" y="6181249"/>
            <a:ext cx="428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载体策略：ETF（IGV）作核心打底仓 + 1–2 只高信念个股作卫星小仓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9618" y="653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判定与载体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96579" y="653367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6096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5240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2276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监控触发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915352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强化信号 ↑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049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2382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22960" y="1356360"/>
            <a:ext cx="47800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龙头 AI 产品净订阅 / ARPU 财报数据超预期（反颠覆论证实）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7145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22960" y="1832610"/>
            <a:ext cx="32640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IGV 站稳 MA50 + 高量突破，Stage 2 持续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1907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2960" y="2308860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INTU/CRM FY27 营收指引回升至双位数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125152"/>
            <a:ext cx="22809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破坏信号 ↓（任一 → 降级复审）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3147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448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E05C5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2960" y="3566160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龙头 AI 产品净订阅 QoQ 转负（颠覆论证实）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243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E05C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2960" y="4042410"/>
            <a:ext cx="25629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IGV 跌破 MA200 且 Stage 4 确认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4005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E05C5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2960" y="4518660"/>
            <a:ext cx="43594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企业 IT 支出调查显示 SaaS 预算被 AI 基础设施持续挤压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324600"/>
            <a:ext cx="12192000" cy="9525"/>
          </a:xfrm>
          <a:prstGeom prst="rect">
            <a:avLst/>
          </a:prstGeom>
          <a:solidFill>
            <a:srgbClr val="F5C842">
              <a:alpha val="3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9618" y="653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判定与载体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6579" y="653367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28575" cy="67818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422878" y="1584960"/>
            <a:ext cx="13462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来源 &amp; 免责声明</a:t>
            </a:r>
          </a:p>
        </p:txBody>
      </p:sp>
      <p:sp>
        <p:nvSpPr>
          <p:cNvPr id="7" name="Rectangle 7"/>
          <p:cNvSpPr/>
          <p:nvPr/>
        </p:nvSpPr>
        <p:spPr>
          <a:xfrm>
            <a:off x="3238500" y="1866900"/>
            <a:ext cx="5715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218545" y="218074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赛道研究 · 由赛道论文生成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7865" y="2466499"/>
            <a:ext cx="17762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rwh-overlay 投资研究系统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4642" y="3133249"/>
            <a:ext cx="55427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来源：wiki/sectors/ai-enterprise-software.md + 公开数据（Gartner/IDC 估算）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09821" y="38952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2026-06-01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048250" y="438150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048250" y="4381500"/>
            <a:ext cx="2095500" cy="3429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3A5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514023" y="44953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Sector Research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