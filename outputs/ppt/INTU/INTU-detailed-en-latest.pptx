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Intuit at $307 -- a 52-week low post Q3 FY26 earnings. The 20% single-day drop on May 21, 2026 created the most interesting valuation entry point in INTU history as a large-cap.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We begin with the core binary: is Intuit using AI to enhance its products, or are customers beginning to bypass Intuit entirely?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workforce cut is the first concrete AI disruption signal. August 20, 2026 earnings is the resolution date.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Despite the narrative attack, the fundamentals are exceptional: $18.83B revenue, 79.5% gross margin, $6.08B FCF.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moat debate is the heart of the thesis. Today the switching costs are real. The 3-year window is whether Intuit deepens them before competitors eliminate them.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QuickBooks owns SMB accounting not because it is the best software, but because the entire accountant ecosystem is built around it. Genuine network moat -- but narrower than 5 years ago.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restructuring gives Intuit a chance to fund AI R&amp;D from cost savings. 5% Intuit Assist paid attach rate reopens the bull case significantly.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Risks here are narrative-driven as much as fundamental. The workforce cut created a permission structure for customers to ask: do I still need this?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Most underappreciated risk: when Intuit says AI can replace 17% of its workers, customers ask whether AI can replace Intuit itself. A self-inflicted narrative wound.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At 13.2x non-GAAP FWD PE, INTU is at the cheapest multiple of its large-cap life. Value or value trap -- the scenarios are wide.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INTU trades at the same EV/Revenue as ADBE and CRM despite higher revenue growth. The AI disruption discount is fully priced at $307.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PW EV of $340.50 represents only +10.9% vs current price -- below a reasonable hurdle rate. This is why we wait rather than buy.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BAIT analysis separates what we know from what we do not. Two bearish signals (T and I) outweigh the bullish analytical edge right now.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Stage 4 technical setup is the most actionable signal. No SEPA practitioner enters Stage 4. The analytical edge cannot overcome a 91-day informational gap.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Watch, not buy. Verification catalyst is August 20, 2026. Entry only after MA50 reclaim AND fundamental confirmation from Q4 FY26 earnings.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All financial data from Yahoo Finance, Intuit Q3 FY26 earnings, and public filings. Not investment advice.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38100"/>
              <a:ext cx="28575" cy="68199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96500" y="4953000"/>
            <a:ext cx="2095500" cy="1905000"/>
            <a:chOff x="10096500" y="4953000"/>
            <a:chExt cx="2095500" cy="1905000"/>
          </a:xfrm>
        </p:grpSpPr>
        <p:sp>
          <p:nvSpPr>
            <p:cNvPr id="6" name="Polygon 6"/>
            <p:cNvSpPr/>
            <p:nvPr/>
          </p:nvSpPr>
          <p:spPr>
            <a:xfrm>
              <a:off x="10096500" y="4953000"/>
              <a:ext cx="2095500" cy="1905000"/>
            </a:xfrm>
            <a:custGeom>
              <a:avLst/>
              <a:gdLst/>
              <a:ahLst/>
              <a:cxnLst/>
              <a:rect l="l" t="t" r="r" b="b"/>
              <a:pathLst>
                <a:path w="2095500" h="1905000">
                  <a:moveTo>
                    <a:pt x="2095500" y="1905000"/>
                  </a:moveTo>
                  <a:lnTo>
                    <a:pt x="2095500" y="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31B30"/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10763250" y="5524500"/>
              <a:ext cx="1428750" cy="1333500"/>
            </a:xfrm>
            <a:custGeom>
              <a:avLst/>
              <a:gdLst/>
              <a:ahLst/>
              <a:cxnLst/>
              <a:rect l="l" t="t" r="r" b="b"/>
              <a:pathLst>
                <a:path w="1428750" h="1333500">
                  <a:moveTo>
                    <a:pt x="1428750" y="1333500"/>
                  </a:moveTo>
                  <a:lnTo>
                    <a:pt x="1428750" y="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A2540"/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11430000" y="6096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lnTo>
                    <a:pt x="76200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5C842">
                <a:alpha val="15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191500" y="762000"/>
            <a:ext cx="1057275" cy="4572000"/>
            <a:chOff x="8191500" y="762000"/>
            <a:chExt cx="1057275" cy="4572000"/>
          </a:xfrm>
        </p:grpSpPr>
        <p:sp>
          <p:nvSpPr>
            <p:cNvPr id="10" name="Rectangle 10"/>
            <p:cNvSpPr/>
            <p:nvPr/>
          </p:nvSpPr>
          <p:spPr>
            <a:xfrm>
              <a:off x="8763000" y="762000"/>
              <a:ext cx="9525" cy="4572000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239250" y="1143000"/>
              <a:ext cx="9525" cy="381000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91500" y="1524000"/>
              <a:ext cx="9525" cy="2857500"/>
            </a:xfrm>
            <a:prstGeom prst="rect">
              <a:avLst/>
            </a:prstGeom>
            <a:solidFill>
              <a:srgbClr val="1A2540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600200" y="1981200"/>
            <a:ext cx="2919936" cy="1828800"/>
            <a:chOff x="1600200" y="1981200"/>
            <a:chExt cx="2919936" cy="1828800"/>
          </a:xfrm>
        </p:grpSpPr>
        <p:sp>
          <p:nvSpPr>
            <p:cNvPr id="14" name="TextBox 14"/>
            <p:cNvSpPr txBox="1"/>
            <p:nvPr/>
          </p:nvSpPr>
          <p:spPr>
            <a:xfrm>
              <a:off x="1600200" y="1981200"/>
              <a:ext cx="2919936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INTU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89735" y="3294698"/>
            <a:ext cx="1487757" cy="396240"/>
            <a:chOff x="1689735" y="3294698"/>
            <a:chExt cx="1487757" cy="396240"/>
          </a:xfrm>
        </p:grpSpPr>
        <p:sp>
          <p:nvSpPr>
            <p:cNvPr id="16" name="TextBox 16"/>
            <p:cNvSpPr txBox="1"/>
            <p:nvPr/>
          </p:nvSpPr>
          <p:spPr>
            <a:xfrm>
              <a:off x="1689735" y="3294698"/>
              <a:ext cx="1487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Inc.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4500" y="3733800"/>
            <a:ext cx="6096000" cy="28575"/>
            <a:chOff x="1714500" y="3733800"/>
            <a:chExt cx="6096000" cy="28575"/>
          </a:xfrm>
        </p:grpSpPr>
        <p:sp>
          <p:nvSpPr>
            <p:cNvPr id="18" name="Rectangle 18"/>
            <p:cNvSpPr/>
            <p:nvPr/>
          </p:nvSpPr>
          <p:spPr>
            <a:xfrm>
              <a:off x="1714500" y="3733800"/>
              <a:ext cx="6096000" cy="28575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697355" y="4007168"/>
            <a:ext cx="6580251" cy="521970"/>
            <a:chOff x="1697355" y="4007168"/>
            <a:chExt cx="6580251" cy="521970"/>
          </a:xfrm>
        </p:grpSpPr>
        <p:sp>
          <p:nvSpPr>
            <p:cNvPr id="20" name="TextBox 20"/>
            <p:cNvSpPr txBox="1"/>
            <p:nvPr/>
          </p:nvSpPr>
          <p:spPr>
            <a:xfrm>
              <a:off x="1697355" y="4007168"/>
              <a:ext cx="65802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Quality compounder at 52-week low — 7.1% FCF yield vs. AI disruption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7355" y="4254818"/>
              <a:ext cx="56042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overhang. Verdict awaits Aug 20, 2026 earnings catalyst.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01165" y="4934902"/>
            <a:ext cx="2357628" cy="213360"/>
            <a:chOff x="1701165" y="4934902"/>
            <a:chExt cx="2357628" cy="213360"/>
          </a:xfrm>
        </p:grpSpPr>
        <p:sp>
          <p:nvSpPr>
            <p:cNvPr id="23" name="TextBox 23"/>
            <p:cNvSpPr txBox="1"/>
            <p:nvPr/>
          </p:nvSpPr>
          <p:spPr>
            <a:xfrm>
              <a:off x="1701165" y="4934902"/>
              <a:ext cx="2357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3A5C"/>
                  </a:solidFill>
                  <a:latin typeface="Arial"/>
                  <a:ea typeface="Microsoft YaHei"/>
                  <a:cs typeface="Arial"/>
                </a:rPr>
                <a:t>INVESTMENT THESIS · 2026-05-21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14500" y="5429250"/>
            <a:ext cx="1524000" cy="285750"/>
            <a:chOff x="1714500" y="5429250"/>
            <a:chExt cx="1524000" cy="285750"/>
          </a:xfrm>
        </p:grpSpPr>
        <p:sp>
          <p:nvSpPr>
            <p:cNvPr id="25" name="Rectangle 25"/>
            <p:cNvSpPr/>
            <p:nvPr/>
          </p:nvSpPr>
          <p:spPr>
            <a:xfrm>
              <a:off x="1714500" y="5429250"/>
              <a:ext cx="1524000" cy="285750"/>
            </a:xfrm>
            <a:prstGeom prst="roundRect">
              <a:avLst>
                <a:gd name="adj" fmla="val 50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14500" y="5429250"/>
              <a:ext cx="1524000" cy="28575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F5C84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71596" y="5522595"/>
              <a:ext cx="1209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DETAILED ANALYSIS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19" grpId="0"/>
      <p:bldP spid="22" grpId="0"/>
      <p:bldP spid="24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649968" y="2257425"/>
            <a:ext cx="2035064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690123" cy="198120"/>
            <a:chOff x="749618" y="2656999"/>
            <a:chExt cx="690123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690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CHAPTER 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6020000" cy="792480"/>
            <a:chOff x="712470" y="3007995"/>
            <a:chExt cx="6020000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602000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The Investment Case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4178618" cy="304800"/>
            <a:chOff x="742950" y="3838575"/>
            <a:chExt cx="4178618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41786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Pivotal Question &amp; Financial Foundation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Pivotal Question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85547" y="332899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Investment Case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533400"/>
            <a:ext cx="1975390" cy="3657600"/>
            <a:chOff x="723900" y="533400"/>
            <a:chExt cx="1975390" cy="3657600"/>
          </a:xfrm>
        </p:grpSpPr>
        <p:sp>
          <p:nvSpPr>
            <p:cNvPr id="10" name="TextBox 10"/>
            <p:cNvSpPr txBox="1"/>
            <p:nvPr/>
          </p:nvSpPr>
          <p:spPr>
            <a:xfrm>
              <a:off x="723900" y="533400"/>
              <a:ext cx="1975390" cy="3657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0" b="1" dirty="0">
                  <a:solidFill>
                    <a:srgbClr val="131B30"/>
                  </a:solidFill>
                  <a:latin typeface="Arial"/>
                  <a:ea typeface="Microsoft YaHei"/>
                  <a:cs typeface="Arial"/>
                </a:rPr>
                <a:t>"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4450" y="2600325"/>
            <a:ext cx="7399020" cy="1162050"/>
            <a:chOff x="1314450" y="2600325"/>
            <a:chExt cx="7399020" cy="1162050"/>
          </a:xfrm>
        </p:grpSpPr>
        <p:sp>
          <p:nvSpPr>
            <p:cNvPr id="12" name="TextBox 12"/>
            <p:cNvSpPr txBox="1"/>
            <p:nvPr/>
          </p:nvSpPr>
          <p:spPr>
            <a:xfrm>
              <a:off x="1314450" y="2600325"/>
              <a:ext cx="73990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Will Intuit’s AI integration (Intuit Assist) create more value than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4450" y="2886075"/>
              <a:ext cx="69044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competitors’ AI tools destroy within 24 months — or does the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14450" y="3171825"/>
              <a:ext cx="67549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17% workforce cut signal that AI has already begun replacing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4450" y="3457575"/>
              <a:ext cx="47076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core user value rather than enhancing it?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152900"/>
            <a:ext cx="11049000" cy="900112"/>
            <a:chOff x="571500" y="4152900"/>
            <a:chExt cx="11049000" cy="900112"/>
          </a:xfrm>
        </p:grpSpPr>
        <p:sp>
          <p:nvSpPr>
            <p:cNvPr id="17" name="Rectangle 17"/>
            <p:cNvSpPr/>
            <p:nvPr/>
          </p:nvSpPr>
          <p:spPr>
            <a:xfrm>
              <a:off x="571500" y="41529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618" y="4390549"/>
              <a:ext cx="35459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CURRENT MILESTONE STATUS (Q3 FY26 — May 2026)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4611052"/>
              <a:ext cx="8499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Intuit Assist launched 2024 · No paid-tier penetration data disclosed · 17% workforce cut announced May 20, 2026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4839652"/>
              <a:ext cx="79779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Stock dropped 20% to 52-wk low · Q4 FY26 earnings (Aug 20, 2026) = first data point to resolve the binary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22" name="Rectangle 22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6533674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Investment Case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21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71096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Financial Snapshot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847249"/>
            <a:ext cx="11049000" cy="198120"/>
            <a:chOff x="571500" y="847249"/>
            <a:chExt cx="11049000" cy="198120"/>
          </a:xfrm>
        </p:grpSpPr>
        <p:sp>
          <p:nvSpPr>
            <p:cNvPr id="9" name="TextBox 9"/>
            <p:cNvSpPr txBox="1"/>
            <p:nvPr/>
          </p:nvSpPr>
          <p:spPr>
            <a:xfrm>
              <a:off x="749618" y="847249"/>
              <a:ext cx="31945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INCOME STATEMENT (Fiscal Year ending July)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0287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066800"/>
            <a:ext cx="11049000" cy="257175"/>
            <a:chOff x="571500" y="1066800"/>
            <a:chExt cx="11049000" cy="257175"/>
          </a:xfrm>
        </p:grpSpPr>
        <p:sp>
          <p:nvSpPr>
            <p:cNvPr id="12" name="Rectangle 12"/>
            <p:cNvSpPr/>
            <p:nvPr/>
          </p:nvSpPr>
          <p:spPr>
            <a:xfrm>
              <a:off x="571500" y="1066800"/>
              <a:ext cx="11049000" cy="24765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0570" y="1141095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98320" y="11410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REVENUE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1820" y="1141095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YoY%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9070" y="1141095"/>
              <a:ext cx="919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GROSS MARGIN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13070" y="1141095"/>
              <a:ext cx="7198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OP INCOME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41820" y="1141095"/>
              <a:ext cx="7681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NET INCOME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0570" y="1141095"/>
              <a:ext cx="7474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EPS (GAAP)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04070" y="11410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FCF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51820" y="11410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SBC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1314450"/>
            <a:ext cx="11049000" cy="254794"/>
            <a:chOff x="571500" y="1314450"/>
            <a:chExt cx="11049000" cy="254794"/>
          </a:xfrm>
        </p:grpSpPr>
        <p:sp>
          <p:nvSpPr>
            <p:cNvPr id="23" name="Rectangle 23"/>
            <p:cNvSpPr/>
            <p:nvPr/>
          </p:nvSpPr>
          <p:spPr>
            <a:xfrm>
              <a:off x="571500" y="13144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13711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7368" y="13711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$12.73B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0868" y="13711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8118" y="1371124"/>
              <a:ext cx="345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81.1%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1211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$2.56B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4086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$2.07B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69618" y="13711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$7.28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0311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$3.66B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50868" y="1371124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$1.31B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543050"/>
            <a:ext cx="11049000" cy="254794"/>
            <a:chOff x="571500" y="1543050"/>
            <a:chExt cx="11049000" cy="254794"/>
          </a:xfrm>
        </p:grpSpPr>
        <p:sp>
          <p:nvSpPr>
            <p:cNvPr id="34" name="Rectangle 34"/>
            <p:cNvSpPr/>
            <p:nvPr/>
          </p:nvSpPr>
          <p:spPr>
            <a:xfrm>
              <a:off x="571500" y="15430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9618" y="15997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97368" y="15997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$14.37B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30868" y="15997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+12.9%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88118" y="15997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78.1%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12118" y="15997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$3.14B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40868" y="15997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$2.38B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69618" y="15997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$8.42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03118" y="15997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$4.79B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50868" y="1599724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$1.71B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1771650"/>
            <a:ext cx="11049000" cy="254794"/>
            <a:chOff x="571500" y="1771650"/>
            <a:chExt cx="11049000" cy="254794"/>
          </a:xfrm>
        </p:grpSpPr>
        <p:sp>
          <p:nvSpPr>
            <p:cNvPr id="45" name="Rectangle 45"/>
            <p:cNvSpPr/>
            <p:nvPr/>
          </p:nvSpPr>
          <p:spPr>
            <a:xfrm>
              <a:off x="571500" y="17716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9618" y="18283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97368" y="18283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$16.29B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30868" y="18283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+13.4%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88118" y="18283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78.7%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2118" y="18283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$3.85B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40868" y="18283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$2.96B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69618" y="18283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$10.43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03118" y="18283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$4.63B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50868" y="18283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$1.94B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2000250"/>
            <a:ext cx="11049000" cy="254794"/>
            <a:chOff x="571500" y="2000250"/>
            <a:chExt cx="11049000" cy="254794"/>
          </a:xfrm>
        </p:grpSpPr>
        <p:sp>
          <p:nvSpPr>
            <p:cNvPr id="56" name="Rectangle 56"/>
            <p:cNvSpPr/>
            <p:nvPr/>
          </p:nvSpPr>
          <p:spPr>
            <a:xfrm>
              <a:off x="571500" y="2000250"/>
              <a:ext cx="11049000" cy="228600"/>
            </a:xfrm>
            <a:prstGeom prst="rect">
              <a:avLst/>
            </a:prstGeom>
            <a:solidFill>
              <a:srgbClr val="1A2A44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1500" y="2000250"/>
              <a:ext cx="38100" cy="2286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9618" y="20569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FY25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797368" y="2056924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$18.83B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130868" y="205692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+15.6%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988118" y="20569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79.5%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12118" y="20569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$4.94B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40868" y="20569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$3.87B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69618" y="205692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$13.67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03118" y="20569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$6.08B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50868" y="205692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$1.97B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2228850"/>
            <a:ext cx="11049000" cy="254794"/>
            <a:chOff x="571500" y="2228850"/>
            <a:chExt cx="11049000" cy="254794"/>
          </a:xfrm>
        </p:grpSpPr>
        <p:sp>
          <p:nvSpPr>
            <p:cNvPr id="68" name="Rectangle 68"/>
            <p:cNvSpPr/>
            <p:nvPr/>
          </p:nvSpPr>
          <p:spPr>
            <a:xfrm>
              <a:off x="571500" y="22288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9618" y="22855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FY26E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797368" y="22855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$21.2B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130868" y="22855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+12.7%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988118" y="22855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~79%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51211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4086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69618" y="22855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$23.31*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0311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5086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71500" y="2656999"/>
            <a:ext cx="11049000" cy="198120"/>
            <a:chOff x="571500" y="2656999"/>
            <a:chExt cx="11049000" cy="198120"/>
          </a:xfrm>
        </p:grpSpPr>
        <p:sp>
          <p:nvSpPr>
            <p:cNvPr id="79" name="TextBox 79"/>
            <p:cNvSpPr txBox="1"/>
            <p:nvPr/>
          </p:nvSpPr>
          <p:spPr>
            <a:xfrm>
              <a:off x="749618" y="2656999"/>
              <a:ext cx="10863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KEY TAKEAWAYS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71500" y="28384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571500" y="2933700"/>
            <a:ext cx="2571750" cy="952500"/>
            <a:chOff x="571500" y="2933700"/>
            <a:chExt cx="2571750" cy="952500"/>
          </a:xfrm>
        </p:grpSpPr>
        <p:sp>
          <p:nvSpPr>
            <p:cNvPr id="82" name="Rectangle 82"/>
            <p:cNvSpPr/>
            <p:nvPr/>
          </p:nvSpPr>
          <p:spPr>
            <a:xfrm>
              <a:off x="571500" y="2933700"/>
              <a:ext cx="25717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50570" y="3084195"/>
              <a:ext cx="1051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REVENUE (FY25)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1520" y="3303270"/>
              <a:ext cx="138592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$18.83B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49618" y="3685699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↑ +15.6% YoY — 4-yr CAGR +13%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3333750" y="2933700"/>
            <a:ext cx="2571750" cy="952500"/>
            <a:chOff x="3333750" y="2933700"/>
            <a:chExt cx="2571750" cy="952500"/>
          </a:xfrm>
        </p:grpSpPr>
        <p:sp>
          <p:nvSpPr>
            <p:cNvPr id="87" name="Rectangle 87"/>
            <p:cNvSpPr/>
            <p:nvPr/>
          </p:nvSpPr>
          <p:spPr>
            <a:xfrm>
              <a:off x="3333750" y="2933700"/>
              <a:ext cx="25717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512820" y="3084195"/>
              <a:ext cx="919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GROSS MARGIN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493770" y="3303270"/>
              <a:ext cx="1073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79.5%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511868" y="3685699"/>
              <a:ext cx="20966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↑ Software-quality economics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096000" y="2933700"/>
            <a:ext cx="2571750" cy="952500"/>
            <a:chOff x="6096000" y="2933700"/>
            <a:chExt cx="2571750" cy="952500"/>
          </a:xfrm>
        </p:grpSpPr>
        <p:sp>
          <p:nvSpPr>
            <p:cNvPr id="92" name="Rectangle 92"/>
            <p:cNvSpPr/>
            <p:nvPr/>
          </p:nvSpPr>
          <p:spPr>
            <a:xfrm>
              <a:off x="6096000" y="2933700"/>
              <a:ext cx="25717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275070" y="3084195"/>
              <a:ext cx="15686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FREE CASH FLOW (FY25)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256020" y="3303270"/>
              <a:ext cx="12755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$6.08B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274118" y="3685699"/>
              <a:ext cx="1619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↑ FCF yield 7.1% at $307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858250" y="2933700"/>
            <a:ext cx="2762250" cy="952500"/>
            <a:chOff x="8858250" y="2933700"/>
            <a:chExt cx="2762250" cy="952500"/>
          </a:xfrm>
        </p:grpSpPr>
        <p:sp>
          <p:nvSpPr>
            <p:cNvPr id="97" name="Rectangle 97"/>
            <p:cNvSpPr/>
            <p:nvPr/>
          </p:nvSpPr>
          <p:spPr>
            <a:xfrm>
              <a:off x="8858250" y="2933700"/>
              <a:ext cx="27622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037320" y="3084195"/>
              <a:ext cx="9751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BALANCE SHEET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018270" y="3303270"/>
              <a:ext cx="1073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0.62x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036368" y="3685699"/>
              <a:ext cx="22248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Net Debt/FCF — very manageable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71500" y="4066699"/>
            <a:ext cx="11049000" cy="198120"/>
            <a:chOff x="571500" y="4066699"/>
            <a:chExt cx="11049000" cy="198120"/>
          </a:xfrm>
        </p:grpSpPr>
        <p:sp>
          <p:nvSpPr>
            <p:cNvPr id="102" name="TextBox 102"/>
            <p:cNvSpPr txBox="1"/>
            <p:nvPr/>
          </p:nvSpPr>
          <p:spPr>
            <a:xfrm>
              <a:off x="749618" y="4066699"/>
              <a:ext cx="12582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FY25 REVENUE MIX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571500" y="42481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571500" y="4343400"/>
            <a:ext cx="11229404" cy="254794"/>
            <a:chOff x="571500" y="4343400"/>
            <a:chExt cx="11229404" cy="254794"/>
          </a:xfrm>
        </p:grpSpPr>
        <p:sp>
          <p:nvSpPr>
            <p:cNvPr id="105" name="Rectangle 105"/>
            <p:cNvSpPr/>
            <p:nvPr/>
          </p:nvSpPr>
          <p:spPr>
            <a:xfrm>
              <a:off x="571500" y="434340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49618" y="4400074"/>
              <a:ext cx="45815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Small Business &amp; Self-Employed (QuickBooks + Payroll + Payments)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4572000" y="4400550"/>
              <a:ext cx="4000500" cy="114300"/>
            </a:xfrm>
            <a:prstGeom prst="roundRect">
              <a:avLst>
                <a:gd name="adj" fmla="val 16667"/>
              </a:avLst>
            </a:prstGeom>
            <a:solidFill>
              <a:srgbClr val="4A90D9">
                <a:alpha val="40000"/>
              </a:srgbClr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750618" y="44000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~$8.0B 42%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750868" y="4400074"/>
              <a:ext cx="1050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SaaS recurring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71500" y="4572000"/>
            <a:ext cx="11151085" cy="254794"/>
            <a:chOff x="571500" y="4572000"/>
            <a:chExt cx="11151085" cy="254794"/>
          </a:xfrm>
        </p:grpSpPr>
        <p:sp>
          <p:nvSpPr>
            <p:cNvPr id="111" name="Rectangle 111"/>
            <p:cNvSpPr/>
            <p:nvPr/>
          </p:nvSpPr>
          <p:spPr>
            <a:xfrm>
              <a:off x="571500" y="457200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49618" y="4628674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Consumer (TurboTax)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4572000" y="4629150"/>
              <a:ext cx="2733675" cy="114300"/>
            </a:xfrm>
            <a:prstGeom prst="roundRect">
              <a:avLst>
                <a:gd name="adj" fmla="val 16667"/>
              </a:avLst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750618" y="46286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~$5.5B 29%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750868" y="4628674"/>
              <a:ext cx="971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Transactional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71500" y="4800600"/>
            <a:ext cx="11049000" cy="254794"/>
            <a:chOff x="571500" y="4800600"/>
            <a:chExt cx="11049000" cy="254794"/>
          </a:xfrm>
        </p:grpSpPr>
        <p:sp>
          <p:nvSpPr>
            <p:cNvPr id="117" name="Rectangle 117"/>
            <p:cNvSpPr/>
            <p:nvPr/>
          </p:nvSpPr>
          <p:spPr>
            <a:xfrm>
              <a:off x="571500" y="480060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49618" y="4857274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Mailchimp / SMB Marketing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4572000" y="4857750"/>
              <a:ext cx="1247775" cy="114300"/>
            </a:xfrm>
            <a:prstGeom prst="roundRect">
              <a:avLst>
                <a:gd name="adj" fmla="val 16667"/>
              </a:avLst>
            </a:prstGeom>
            <a:solidFill>
              <a:srgbClr val="4CAF82">
                <a:alpha val="30000"/>
              </a:srgbClr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8750618" y="48572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~$2.5B 13%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750868" y="4857274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SaaS tiered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71500" y="5029200"/>
            <a:ext cx="11049000" cy="254794"/>
            <a:chOff x="571500" y="5029200"/>
            <a:chExt cx="11049000" cy="254794"/>
          </a:xfrm>
        </p:grpSpPr>
        <p:sp>
          <p:nvSpPr>
            <p:cNvPr id="123" name="Rectangle 123"/>
            <p:cNvSpPr/>
            <p:nvPr/>
          </p:nvSpPr>
          <p:spPr>
            <a:xfrm>
              <a:off x="571500" y="502920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49618" y="5085874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Credit Karma (ad CPC/CPA)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4572000" y="5086350"/>
              <a:ext cx="952500" cy="114300"/>
            </a:xfrm>
            <a:prstGeom prst="roundRect">
              <a:avLst>
                <a:gd name="adj" fmla="val 16667"/>
              </a:avLst>
            </a:prstGeom>
            <a:solidFill>
              <a:srgbClr val="8899BB">
                <a:alpha val="30000"/>
              </a:srgbClr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8750618" y="5085874"/>
              <a:ext cx="7011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~$1.9B 10%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750868" y="5085874"/>
              <a:ext cx="8221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Cyclical ads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750570" y="5503545"/>
            <a:ext cx="7120890" cy="354330"/>
            <a:chOff x="750570" y="5503545"/>
            <a:chExt cx="7120890" cy="354330"/>
          </a:xfrm>
        </p:grpSpPr>
        <p:sp>
          <p:nvSpPr>
            <p:cNvPr id="129" name="TextBox 129"/>
            <p:cNvSpPr txBox="1"/>
            <p:nvPr/>
          </p:nvSpPr>
          <p:spPr>
            <a:xfrm>
              <a:off x="750570" y="5503545"/>
              <a:ext cx="7120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3A5C"/>
                  </a:solidFill>
                  <a:latin typeface="Arial"/>
                  <a:ea typeface="Microsoft YaHei"/>
                  <a:cs typeface="Arial"/>
                </a:rPr>
                <a:t>* FY26E EPS $23.31 is non-GAAP consensus (add back ~$7/share SBC + amortization). GAAP EPS materially lower.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50570" y="5674995"/>
              <a:ext cx="69237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3A5C"/>
                  </a:solidFill>
                  <a:latin typeface="Arial"/>
                  <a:ea typeface="Microsoft YaHei"/>
                  <a:cs typeface="Arial"/>
                </a:rPr>
                <a:t>SBC at 10.4% of revenue (FY25) — elevated vs peer ~7% median; share count flat (buybacks absorb dilution).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132" name="Rectangle 132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49618" y="6533674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Investment Case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63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33" grpId="0"/>
      <p:bldP spid="44" grpId="0"/>
      <p:bldP spid="55" grpId="0"/>
      <p:bldP spid="67" grpId="0"/>
      <p:bldP spid="78" grpId="0"/>
      <p:bldP spid="81" grpId="0"/>
      <p:bldP spid="86" grpId="0"/>
      <p:bldP spid="91" grpId="0"/>
      <p:bldP spid="96" grpId="0"/>
      <p:bldP spid="101" grpId="0"/>
      <p:bldP spid="104" grpId="0"/>
      <p:bldP spid="110" grpId="0"/>
      <p:bldP spid="116" grpId="0"/>
      <p:bldP spid="122" grpId="0"/>
      <p:bldP spid="128" grpId="0"/>
      <p:bldP spid="131" grpId="0"/>
      <p:bldP spid="1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994386" y="2447925"/>
            <a:ext cx="3346228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734979" cy="198120"/>
            <a:chOff x="749618" y="2656999"/>
            <a:chExt cx="734979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7349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CHAPTER II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4883658" cy="792480"/>
            <a:chOff x="712470" y="3007995"/>
            <a:chExt cx="4883658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Business Quality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3061335" cy="304800"/>
            <a:chOff x="742950" y="3838575"/>
            <a:chExt cx="3061335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30613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Moat, Management &amp; Growth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324923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Business Model &amp; Moat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838200"/>
            <a:ext cx="5314950" cy="5334000"/>
            <a:chOff x="571500" y="838200"/>
            <a:chExt cx="5314950" cy="5334000"/>
          </a:xfrm>
        </p:grpSpPr>
        <p:sp>
          <p:nvSpPr>
            <p:cNvPr id="9" name="Rectangle 9"/>
            <p:cNvSpPr/>
            <p:nvPr/>
          </p:nvSpPr>
          <p:spPr>
            <a:xfrm>
              <a:off x="571500" y="838200"/>
              <a:ext cx="5314950" cy="5334000"/>
            </a:xfrm>
            <a:prstGeom prst="roundRect">
              <a:avLst>
                <a:gd name="adj" fmla="val 7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838200"/>
              <a:ext cx="5314950" cy="381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618" y="1075849"/>
              <a:ext cx="11611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BUSINESS MODEL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712" y="1364456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SaaS Platform (~55% of revenue)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1590199"/>
              <a:ext cx="34423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QuickBooks Online (7.5M subscribers) + Payroll 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1761649"/>
              <a:ext cx="37200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Payments. NRR &gt;100% — ARPU expansion drives growth.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01930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7712" y="2145506"/>
              <a:ext cx="2737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Consumer Tax (~29% of revenue)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2371249"/>
              <a:ext cx="32714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TurboTax: ~37% of US digital tax filing market.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2542699"/>
              <a:ext cx="37413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Per-return transaction + annual subscription hybrid.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80035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7712" y="2926556"/>
              <a:ext cx="32202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Ad Monetization — Credit Karma (~10%)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152299"/>
              <a:ext cx="32785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130M+ members. CPC/CPA referral for financial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323749"/>
              <a:ext cx="36060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products. Cyclical; weak in high-rate environment.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58140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3723799"/>
              <a:ext cx="16993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MANAGEMENT — GRADE: 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3952399"/>
              <a:ext cx="34921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Goodarzi: strong QuickBooks SaaS execution; $12B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4123849"/>
              <a:ext cx="383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Mailchimp acquisition has underperformed. AI strategy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4295299"/>
              <a:ext cx="40546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opacity — no Intuit Assist monetization metrics disclosed.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76950" y="838200"/>
            <a:ext cx="9525" cy="5334000"/>
            <a:chOff x="6076950" y="838200"/>
            <a:chExt cx="9525" cy="5334000"/>
          </a:xfrm>
        </p:grpSpPr>
        <p:sp>
          <p:nvSpPr>
            <p:cNvPr id="29" name="Rectangle 29"/>
            <p:cNvSpPr/>
            <p:nvPr/>
          </p:nvSpPr>
          <p:spPr>
            <a:xfrm>
              <a:off x="6076950" y="838200"/>
              <a:ext cx="9525" cy="5334000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305550" y="838200"/>
            <a:ext cx="5314950" cy="5334000"/>
            <a:chOff x="6305550" y="838200"/>
            <a:chExt cx="5314950" cy="5334000"/>
          </a:xfrm>
        </p:grpSpPr>
        <p:sp>
          <p:nvSpPr>
            <p:cNvPr id="31" name="Rectangle 31"/>
            <p:cNvSpPr/>
            <p:nvPr/>
          </p:nvSpPr>
          <p:spPr>
            <a:xfrm>
              <a:off x="6305550" y="838200"/>
              <a:ext cx="5314950" cy="5334000"/>
            </a:xfrm>
            <a:prstGeom prst="roundRect">
              <a:avLst>
                <a:gd name="adj" fmla="val 7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05550" y="838200"/>
              <a:ext cx="531495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83668" y="1075849"/>
              <a:ext cx="13480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COMPETITIVE MOAT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96050" y="133350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4165" y="1410652"/>
              <a:ext cx="1322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Tax Data Lock-In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5118" y="1609249"/>
              <a:ext cx="44320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Multi-year IRS history + state carryforwards = painful switch.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96050" y="200025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4165" y="2077402"/>
              <a:ext cx="27157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QuickBooks Accountant Ecosystem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5118" y="2275999"/>
              <a:ext cx="44177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US accounting profession runs on QB format — network effect.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96050" y="266700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4165" y="2744152"/>
              <a:ext cx="2884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100M+ Tax Dataset (AI Training Edge)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5118" y="2942749"/>
              <a:ext cx="44604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Largest private US tax dataset — genuine AI training advantage.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96050" y="333375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4165" y="3410902"/>
              <a:ext cx="2522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IRS Integration Regulatory Moat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3609499"/>
              <a:ext cx="4481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Data partnerships for certain form types — regulatory barrier.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96050" y="409575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83668" y="42762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MOAT VERDICT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96050" y="4514850"/>
              <a:ext cx="4953000" cy="571500"/>
            </a:xfrm>
            <a:prstGeom prst="roundRect">
              <a:avLst>
                <a:gd name="adj" fmla="val 6667"/>
              </a:avLst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6050" y="4514850"/>
              <a:ext cx="38100" cy="571500"/>
            </a:xfrm>
            <a:prstGeom prst="rect">
              <a:avLst/>
            </a:prstGeom>
            <a:solidFill>
              <a:srgbClr val="F0A03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35115" y="4630102"/>
              <a:ext cx="2731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Narrow — 3-Year Window is Critical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36068" y="4828699"/>
              <a:ext cx="48164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Switching costs real today; tech barrier to replication largely gone.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53" name="Rectangle 53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9618" y="65336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Business Quality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30" grpId="0"/>
      <p:bldP spid="52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59134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Growth Catalysts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0" y="1905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4CAF82">
                <a:alpha val="2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06000" y="190500"/>
              <a:ext cx="1714500" cy="3048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4CAF8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72085" y="293370"/>
              <a:ext cx="13823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FY26 – FY28 HORIZON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952500"/>
            <a:ext cx="12057507" cy="571500"/>
            <a:chOff x="571500" y="952500"/>
            <a:chExt cx="12057507" cy="571500"/>
          </a:xfrm>
        </p:grpSpPr>
        <p:sp>
          <p:nvSpPr>
            <p:cNvPr id="12" name="Rectangle 12"/>
            <p:cNvSpPr/>
            <p:nvPr/>
          </p:nvSpPr>
          <p:spPr>
            <a:xfrm>
              <a:off x="571500" y="9525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2008" y="1043464"/>
              <a:ext cx="46369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AI-Driven Cost Restructuring — Margin Expansion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4865" y="1296352"/>
              <a:ext cx="118041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17% workforce cut targets FY26 non-GAAP operating margin expansion. Efficiency narrative = upside if AI internal use proves value before customers defect.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95450"/>
            <a:ext cx="11030045" cy="571500"/>
            <a:chOff x="571500" y="1695450"/>
            <a:chExt cx="11030045" cy="571500"/>
          </a:xfrm>
        </p:grpSpPr>
        <p:sp>
          <p:nvSpPr>
            <p:cNvPr id="16" name="Rectangle 16"/>
            <p:cNvSpPr/>
            <p:nvPr/>
          </p:nvSpPr>
          <p:spPr>
            <a:xfrm>
              <a:off x="571500" y="16954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008" y="1786414"/>
              <a:ext cx="34540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Assist Paid-Tier Monetization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039302"/>
              <a:ext cx="10776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Premium AI tier launch across QuickBooks and TurboTax. Target: &gt;5% paid attach rate with disclosed unit economics. Key binary for bull thesis.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2438400"/>
            <a:ext cx="10516314" cy="571500"/>
            <a:chOff x="571500" y="2438400"/>
            <a:chExt cx="10516314" cy="571500"/>
          </a:xfrm>
        </p:grpSpPr>
        <p:sp>
          <p:nvSpPr>
            <p:cNvPr id="20" name="Rectangle 20"/>
            <p:cNvSpPr/>
            <p:nvPr/>
          </p:nvSpPr>
          <p:spPr>
            <a:xfrm>
              <a:off x="571500" y="24384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2008" y="2529364"/>
              <a:ext cx="46369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International QuickBooks Expansion (UK, AU, CA)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865" y="2782252"/>
              <a:ext cx="10262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Still underpenetrated vs US market. Global SMB accounting software TAM ~$50B growing 12% CAGR — large runaway for subscriber growth.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181350"/>
            <a:ext cx="10017919" cy="571500"/>
            <a:chOff x="571500" y="3181350"/>
            <a:chExt cx="10017919" cy="571500"/>
          </a:xfrm>
        </p:grpSpPr>
        <p:sp>
          <p:nvSpPr>
            <p:cNvPr id="24" name="Rectangle 24"/>
            <p:cNvSpPr/>
            <p:nvPr/>
          </p:nvSpPr>
          <p:spPr>
            <a:xfrm>
              <a:off x="571500" y="31813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2008" y="3272314"/>
              <a:ext cx="45196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Enterprise Suite — Mid-Market Expansion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525202"/>
              <a:ext cx="97645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Moving upmarket to 1,000+ employee companies escapes pure-SMB AI disruption risk. Higher ARPU, lower churn cohort if executed.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3924300"/>
            <a:ext cx="10761678" cy="571500"/>
            <a:chOff x="571500" y="3924300"/>
            <a:chExt cx="10761678" cy="571500"/>
          </a:xfrm>
        </p:grpSpPr>
        <p:sp>
          <p:nvSpPr>
            <p:cNvPr id="28" name="Rectangle 28"/>
            <p:cNvSpPr/>
            <p:nvPr/>
          </p:nvSpPr>
          <p:spPr>
            <a:xfrm>
              <a:off x="571500" y="39243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2008" y="4015264"/>
              <a:ext cx="39330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Credit Karma Financial Product Expansion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4865" y="4268152"/>
              <a:ext cx="10508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130M+ member base monetizable if consumer credit environment improves post-2026. Cyclical optionality — low incremental cost to capture.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762500"/>
            <a:ext cx="11049000" cy="835819"/>
            <a:chOff x="571500" y="4762500"/>
            <a:chExt cx="11049000" cy="835819"/>
          </a:xfrm>
        </p:grpSpPr>
        <p:sp>
          <p:nvSpPr>
            <p:cNvPr id="32" name="Rectangle 32"/>
            <p:cNvSpPr/>
            <p:nvPr/>
          </p:nvSpPr>
          <p:spPr>
            <a:xfrm>
              <a:off x="571500" y="47625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4942999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KEY MONITORING TRIGGERS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5171599"/>
              <a:ext cx="8383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Aug 20, 2026 Q4 FY26: QuickBooks net subs · TurboTax market share ≥35% · Intuit Assist paid metrics · FY27 guide ≥$23B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5400199"/>
              <a:ext cx="81557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Technical: MA50 recovery (est. $370–395) with vol ≥1.5x avg — Stage 1 basing confirmation required before any entry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7" name="Rectangle 37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9618" y="65336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Business Quality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  <p:bldP spid="27" grpId="0"/>
      <p:bldP spid="31" grpId="0"/>
      <p:bldP spid="36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06493" y="2933700"/>
            <a:ext cx="3922014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III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779834" cy="198120"/>
            <a:chOff x="749618" y="2656999"/>
            <a:chExt cx="779834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779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CHAPTER III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3717412" cy="792480"/>
            <a:chOff x="712470" y="3007995"/>
            <a:chExt cx="3717412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371741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Risk &amp; Macro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2940844" cy="304800"/>
            <a:chOff x="742950" y="3838575"/>
            <a:chExt cx="2940844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29408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Key Risks &amp; Macro Backdrop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38024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Key Risks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952500"/>
            <a:ext cx="11436429" cy="571500"/>
            <a:chOff x="571500" y="952500"/>
            <a:chExt cx="11436429" cy="571500"/>
          </a:xfrm>
        </p:grpSpPr>
        <p:sp>
          <p:nvSpPr>
            <p:cNvPr id="9" name="Rectangle 9"/>
            <p:cNvSpPr/>
            <p:nvPr/>
          </p:nvSpPr>
          <p:spPr>
            <a:xfrm>
              <a:off x="571500" y="9525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008" y="1043464"/>
              <a:ext cx="64944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TurboTax AI Substitution Accelerates [Impact: Critical · Prob: 35%]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4865" y="1296352"/>
              <a:ext cx="11183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Free LLMs now replicate TurboTax Basic value ($89/return). IRS Direct File in 25 states removes free-tier rationale. Single largest structural risk.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695450"/>
            <a:ext cx="11313747" cy="571500"/>
            <a:chOff x="571500" y="1695450"/>
            <a:chExt cx="11313747" cy="571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954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2008" y="1786414"/>
              <a:ext cx="42263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Assist Monetization Fails [High · 40%]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865" y="2039302"/>
              <a:ext cx="110603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No paid-tier data 24 months post-launch. If customers don’t pay for AI, the efficiency narrative collapses. Highest probability risk in the matrix.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438400"/>
            <a:ext cx="11996166" cy="571500"/>
            <a:chOff x="571500" y="2438400"/>
            <a:chExt cx="11996166" cy="571500"/>
          </a:xfrm>
        </p:grpSpPr>
        <p:sp>
          <p:nvSpPr>
            <p:cNvPr id="17" name="Rectangle 17"/>
            <p:cNvSpPr/>
            <p:nvPr/>
          </p:nvSpPr>
          <p:spPr>
            <a:xfrm>
              <a:off x="571500" y="24384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2008" y="2529364"/>
              <a:ext cx="38353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Post-Layoff Execution Risk [High · 30%]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865" y="2782252"/>
              <a:ext cx="117428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17% = 3,300 jobs — largest cut in INTU history. Institutional knowledge loss during the most critical AI transition window. Self-reinforcing narrative damage.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219450"/>
            <a:ext cx="11049000" cy="1143000"/>
            <a:chOff x="571500" y="3219450"/>
            <a:chExt cx="11049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571500" y="32194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618" y="3380899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ADDITIONAL RISKS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36004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8899B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865" y="3715702"/>
              <a:ext cx="10193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QuickBooks SMB net subscriber decline — 25% probability of negative net adds in FY27 from AI-native competitors (Bench, Pilot, Xero AI)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40195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8899B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4865" y="4134802"/>
              <a:ext cx="104546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Multiple compression continues — if AI disruption narrative persists, 8-9x FWD PE vs current 13.2x is plausible bear compression (40% prob)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629150"/>
            <a:ext cx="11049000" cy="933450"/>
            <a:chOff x="571500" y="4629150"/>
            <a:chExt cx="11049000" cy="933450"/>
          </a:xfrm>
        </p:grpSpPr>
        <p:sp>
          <p:nvSpPr>
            <p:cNvPr id="28" name="Rectangle 28"/>
            <p:cNvSpPr/>
            <p:nvPr/>
          </p:nvSpPr>
          <p:spPr>
            <a:xfrm>
              <a:off x="571500" y="46291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618" y="4790599"/>
              <a:ext cx="1146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MACRO CONTEXT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5029200"/>
              <a:ext cx="11049000" cy="533400"/>
            </a:xfrm>
            <a:prstGeom prst="roundRect">
              <a:avLst>
                <a:gd name="adj" fmla="val 7143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5029200"/>
              <a:ext cx="38100" cy="5334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9615" y="5144452"/>
              <a:ext cx="10738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AI disintermediation risk is policy-level for INTU — IRS Direct File mandate in all 50 states would remove TurboTax’s federal free-tier rationale.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9615" y="5334952"/>
              <a:ext cx="9473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AI inference costs at Intuit Assist scale = 100–200bp gross margin headwind (from current 79.5%) if not offset by ARPU gains.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5" name="Rectangle 35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618" y="653367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Risk &amp; Macro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7" grpId="0"/>
      <p:bldP spid="34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98504" y="2933700"/>
            <a:ext cx="3737991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IV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772358" cy="198120"/>
            <a:chOff x="749618" y="2656999"/>
            <a:chExt cx="772358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CHAPTER IV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6259230" cy="792480"/>
            <a:chOff x="712470" y="3007995"/>
            <a:chExt cx="6259230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625923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Valuation &amp; Scenarios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3488531" cy="304800"/>
            <a:chOff x="742950" y="3838575"/>
            <a:chExt cx="3488531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Multiples, Comps &amp; Path Analysis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38024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Valuation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715500" y="19050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4CAF82">
                <a:alpha val="2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715500" y="190500"/>
              <a:ext cx="1905000" cy="3048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4CAF8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56195" y="293370"/>
              <a:ext cx="12236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TROUGH VALUATION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847249"/>
            <a:ext cx="11049000" cy="198120"/>
            <a:chOff x="571500" y="847249"/>
            <a:chExt cx="11049000" cy="198120"/>
          </a:xfrm>
        </p:grpSpPr>
        <p:sp>
          <p:nvSpPr>
            <p:cNvPr id="12" name="TextBox 12"/>
            <p:cNvSpPr txBox="1"/>
            <p:nvPr/>
          </p:nvSpPr>
          <p:spPr>
            <a:xfrm>
              <a:off x="749618" y="847249"/>
              <a:ext cx="20133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KEY MULTIPLES — INTU @ $307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0287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066800"/>
            <a:ext cx="11049000" cy="257175"/>
            <a:chOff x="571500" y="1066800"/>
            <a:chExt cx="11049000" cy="257175"/>
          </a:xfrm>
        </p:grpSpPr>
        <p:sp>
          <p:nvSpPr>
            <p:cNvPr id="15" name="Rectangle 15"/>
            <p:cNvSpPr/>
            <p:nvPr/>
          </p:nvSpPr>
          <p:spPr>
            <a:xfrm>
              <a:off x="571500" y="1066800"/>
              <a:ext cx="11049000" cy="24765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0570" y="1141095"/>
              <a:ext cx="4714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METRIC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5070" y="1141095"/>
              <a:ext cx="9751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CURRENT VALUE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79570" y="1141095"/>
              <a:ext cx="947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INTU HIST. AVG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4070" y="1141095"/>
              <a:ext cx="995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SECTOR MEDIAN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8570" y="1141095"/>
              <a:ext cx="8302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VS HIST. AVG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23070" y="1141095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READ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314450"/>
            <a:ext cx="11049000" cy="254794"/>
            <a:chOff x="571500" y="1314450"/>
            <a:chExt cx="11049000" cy="254794"/>
          </a:xfrm>
        </p:grpSpPr>
        <p:sp>
          <p:nvSpPr>
            <p:cNvPr id="23" name="Rectangle 23"/>
            <p:cNvSpPr/>
            <p:nvPr/>
          </p:nvSpPr>
          <p:spPr>
            <a:xfrm>
              <a:off x="571500" y="13144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1371124"/>
              <a:ext cx="13917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P/E FWD (non-GAAP)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64118" y="13711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13.2x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7861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30–40x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93118" y="13711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18x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07618" y="1371124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-65% DISCOUNT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3070" y="1379220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Trough; narrative driven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543050"/>
            <a:ext cx="11049000" cy="254794"/>
            <a:chOff x="571500" y="1543050"/>
            <a:chExt cx="11049000" cy="254794"/>
          </a:xfrm>
        </p:grpSpPr>
        <p:sp>
          <p:nvSpPr>
            <p:cNvPr id="31" name="Rectangle 31"/>
            <p:cNvSpPr/>
            <p:nvPr/>
          </p:nvSpPr>
          <p:spPr>
            <a:xfrm>
              <a:off x="571500" y="15430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9618" y="1599724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P/FCF (FY25 $6.08B)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64118" y="15997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14.0x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78618" y="1599724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~35–50x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93118" y="15997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~25x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7618" y="1599724"/>
              <a:ext cx="9788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FCF YIELD 7.1%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3070" y="16078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Very attractive quality FCF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771650"/>
            <a:ext cx="11049000" cy="254794"/>
            <a:chOff x="571500" y="1771650"/>
            <a:chExt cx="11049000" cy="254794"/>
          </a:xfrm>
        </p:grpSpPr>
        <p:sp>
          <p:nvSpPr>
            <p:cNvPr id="39" name="Rectangle 39"/>
            <p:cNvSpPr/>
            <p:nvPr/>
          </p:nvSpPr>
          <p:spPr>
            <a:xfrm>
              <a:off x="571500" y="17716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9618" y="18283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EV/Revenue (FY26E $21.2B)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64118" y="18283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78618" y="18283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7–10x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93118" y="1828324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4.2x (ADBE, CRM)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07618" y="1828324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INLINE PEER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23070" y="1836420"/>
              <a:ext cx="1909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Disruption discount embedded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2000250"/>
            <a:ext cx="11049000" cy="254794"/>
            <a:chOff x="571500" y="2000250"/>
            <a:chExt cx="11049000" cy="254794"/>
          </a:xfrm>
        </p:grpSpPr>
        <p:sp>
          <p:nvSpPr>
            <p:cNvPr id="47" name="Rectangle 47"/>
            <p:cNvSpPr/>
            <p:nvPr/>
          </p:nvSpPr>
          <p:spPr>
            <a:xfrm>
              <a:off x="571500" y="20002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9618" y="2056924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EV/EBITDA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64118" y="20569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~15.7x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78618" y="2056924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~30–40x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93118" y="2056924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~20x SaaS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07618" y="2056924"/>
              <a:ext cx="829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BELOW PEER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23070" y="2065020"/>
              <a:ext cx="1738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Quality SaaS at value price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2390299"/>
            <a:ext cx="11049000" cy="198120"/>
            <a:chOff x="571500" y="2390299"/>
            <a:chExt cx="11049000" cy="198120"/>
          </a:xfrm>
        </p:grpSpPr>
        <p:sp>
          <p:nvSpPr>
            <p:cNvPr id="55" name="TextBox 55"/>
            <p:cNvSpPr txBox="1"/>
            <p:nvPr/>
          </p:nvSpPr>
          <p:spPr>
            <a:xfrm>
              <a:off x="749618" y="2390299"/>
              <a:ext cx="12732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PEER COMPARISON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25717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71500" y="2609850"/>
            <a:ext cx="11049000" cy="257175"/>
            <a:chOff x="571500" y="2609850"/>
            <a:chExt cx="11049000" cy="257175"/>
          </a:xfrm>
        </p:grpSpPr>
        <p:sp>
          <p:nvSpPr>
            <p:cNvPr id="58" name="Rectangle 58"/>
            <p:cNvSpPr/>
            <p:nvPr/>
          </p:nvSpPr>
          <p:spPr>
            <a:xfrm>
              <a:off x="571500" y="2609850"/>
              <a:ext cx="11049000" cy="24765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0570" y="26841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TICKER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03070" y="2684145"/>
              <a:ext cx="547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MKT CAP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036570" y="2684145"/>
              <a:ext cx="547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REV TTM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274820" y="2684145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EV/REV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17820" y="2684145"/>
              <a:ext cx="8026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REV GROWTH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41820" y="2684145"/>
              <a:ext cx="919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GROSS MARGIN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61070" y="2684145"/>
              <a:ext cx="547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P/E FWD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94570" y="2684145"/>
              <a:ext cx="7750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PROFITABLE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2857500"/>
            <a:ext cx="11049000" cy="264319"/>
            <a:chOff x="571500" y="2857500"/>
            <a:chExt cx="11049000" cy="264319"/>
          </a:xfrm>
        </p:grpSpPr>
        <p:sp>
          <p:nvSpPr>
            <p:cNvPr id="68" name="Rectangle 68"/>
            <p:cNvSpPr/>
            <p:nvPr/>
          </p:nvSpPr>
          <p:spPr>
            <a:xfrm>
              <a:off x="571500" y="2857500"/>
              <a:ext cx="11049000" cy="247650"/>
            </a:xfrm>
            <a:prstGeom prst="rect">
              <a:avLst/>
            </a:prstGeom>
            <a:solidFill>
              <a:srgbClr val="1A2A44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71500" y="2857500"/>
              <a:ext cx="38100" cy="2476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9618" y="29236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INTU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702118" y="292369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$85.4B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35618" y="2923699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$20.1B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273868" y="29236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416868" y="2923699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+17.4%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40868" y="292369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79.5%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60118" y="2923699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13.2x*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93618" y="2923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3105150"/>
            <a:ext cx="11049000" cy="254794"/>
            <a:chOff x="571500" y="3105150"/>
            <a:chExt cx="11049000" cy="254794"/>
          </a:xfrm>
        </p:grpSpPr>
        <p:sp>
          <p:nvSpPr>
            <p:cNvPr id="79" name="Rectangle 79"/>
            <p:cNvSpPr/>
            <p:nvPr/>
          </p:nvSpPr>
          <p:spPr>
            <a:xfrm>
              <a:off x="571500" y="31051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9618" y="31618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ADBE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702118" y="31618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$98.7B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035618" y="31618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$24.5B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273868" y="31618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416868" y="31618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+12.0%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40868" y="31618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89.4%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60118" y="31618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~20x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93618" y="31618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71500" y="3333750"/>
            <a:ext cx="11049000" cy="254794"/>
            <a:chOff x="571500" y="3333750"/>
            <a:chExt cx="11049000" cy="254794"/>
          </a:xfrm>
        </p:grpSpPr>
        <p:sp>
          <p:nvSpPr>
            <p:cNvPr id="89" name="Rectangle 89"/>
            <p:cNvSpPr/>
            <p:nvPr/>
          </p:nvSpPr>
          <p:spPr>
            <a:xfrm>
              <a:off x="571500" y="33337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49618" y="3390424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CRM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702118" y="33904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$144.2B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035618" y="33904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$41.5B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273868" y="33904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416868" y="3390424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+12.1%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940868" y="33904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77.7%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60118" y="33904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~22x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893618" y="33904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571500" y="3771900"/>
            <a:ext cx="11049000" cy="1028700"/>
            <a:chOff x="571500" y="3771900"/>
            <a:chExt cx="11049000" cy="1028700"/>
          </a:xfrm>
        </p:grpSpPr>
        <p:sp>
          <p:nvSpPr>
            <p:cNvPr id="99" name="Rectangle 99"/>
            <p:cNvSpPr/>
            <p:nvPr/>
          </p:nvSpPr>
          <p:spPr>
            <a:xfrm>
              <a:off x="571500" y="37719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49618" y="3933349"/>
              <a:ext cx="1131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VALUATION TAKE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71500" y="4152900"/>
              <a:ext cx="11049000" cy="647700"/>
            </a:xfrm>
            <a:prstGeom prst="roundRect">
              <a:avLst>
                <a:gd name="adj" fmla="val 588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71500" y="4152900"/>
              <a:ext cx="38100" cy="647700"/>
            </a:xfrm>
            <a:prstGeom prst="rect">
              <a:avLst/>
            </a:prstGeom>
            <a:solidFill>
              <a:srgbClr val="4CAF82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28662" y="4279106"/>
              <a:ext cx="10440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 trades at lowest EV/Rev in its history as a large-cap (3.9x FY26E) — same as ADBE/CRM despite higher revenue growth.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29615" y="4534852"/>
              <a:ext cx="10324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AI disruption discount fully embedded. At 13.2x non-GAAP FWD PE, the market prices in structural impairment not yet visible in financials.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571500" y="5010150"/>
            <a:ext cx="11049000" cy="816769"/>
            <a:chOff x="571500" y="5010150"/>
            <a:chExt cx="11049000" cy="816769"/>
          </a:xfrm>
        </p:grpSpPr>
        <p:sp>
          <p:nvSpPr>
            <p:cNvPr id="106" name="Rectangle 106"/>
            <p:cNvSpPr/>
            <p:nvPr/>
          </p:nvSpPr>
          <p:spPr>
            <a:xfrm>
              <a:off x="571500" y="50101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49618" y="517159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ANALYST CONSENSUS (post-earnings, 32 analysts)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9618" y="5400199"/>
              <a:ext cx="97790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Post-crash avg target: ~$437 · Pre-crash median: $578 · Range: $360 (UBS/Wells) – $591 (Citi) · 13 target cuts on 2026-05-21 · 1 downgrade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49618" y="5628799"/>
              <a:ext cx="873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Rating consensus: Strong Buy (1.47 score, 32 analysts) — market disagrees with consensus; follow price action, not targets</a:t>
              </a: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750570" y="5998845"/>
            <a:ext cx="9408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A3A5C"/>
                </a:solidFill>
                <a:latin typeface="Arial"/>
                <a:ea typeface="Microsoft YaHei"/>
                <a:cs typeface="Arial"/>
              </a:rPr>
              <a:t>* Non-GAAP consensus FY26 EPS $23.31. GAAP P/E significantly higher. INTU at $307 = 3.9x FY26E EV/Rev — cheapest in company’s large-cap history.</a:t>
            </a:r>
          </a:p>
        </p:txBody>
      </p:sp>
      <p:grpSp>
        <p:nvGrpSpPr>
          <p:cNvPr id="116" name="Group 116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112" name="Rectangle 112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49618" y="653367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Valuation &amp; Scenarios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332178" y="6533674"/>
              <a:ext cx="110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30" grpId="0"/>
      <p:bldP spid="38" grpId="0"/>
      <p:bldP spid="46" grpId="0"/>
      <p:bldP spid="54" grpId="0"/>
      <p:bldP spid="57" grpId="0"/>
      <p:bldP spid="78" grpId="0"/>
      <p:bldP spid="88" grpId="0"/>
      <p:bldP spid="98" grpId="0"/>
      <p:bldP spid="105" grpId="0"/>
      <p:bldP spid="110" grpId="0"/>
      <p:bldP spid="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5464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Scenario Analysis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838200"/>
            <a:ext cx="3409950" cy="5219700"/>
            <a:chOff x="571500" y="838200"/>
            <a:chExt cx="3409950" cy="5219700"/>
          </a:xfrm>
        </p:grpSpPr>
        <p:sp>
          <p:nvSpPr>
            <p:cNvPr id="9" name="Rectangle 9"/>
            <p:cNvSpPr/>
            <p:nvPr/>
          </p:nvSpPr>
          <p:spPr>
            <a:xfrm>
              <a:off x="571500" y="838200"/>
              <a:ext cx="3409950" cy="52197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838200"/>
              <a:ext cx="3409950" cy="38100"/>
            </a:xfrm>
            <a:prstGeom prst="rect">
              <a:avLst/>
            </a:prstGeom>
            <a:solidFill>
              <a:srgbClr val="4CAF8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82344" y="111156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BULL CASE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24000" y="139065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1A3A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88967" y="1458278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20% Probability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78588" y="1674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59502" y="224409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+63%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9026" y="2847499"/>
              <a:ext cx="2053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Intuit Assist paid attach &gt;10%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3587" y="3037999"/>
              <a:ext cx="22248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QuickBooks subs ≥95% retention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5184" y="32284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TurboTax share ≥35%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7185" y="341899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Re-rates to 18–19x FWD PE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957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68029" y="391429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FY27E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82342" y="41238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Revenue: $26B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9508" y="431434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Multiple: 18.9x FY27 non-GAAP EPS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91025" y="838200"/>
            <a:ext cx="3409950" cy="5219700"/>
            <a:chOff x="4391025" y="838200"/>
            <a:chExt cx="3409950" cy="5219700"/>
          </a:xfrm>
        </p:grpSpPr>
        <p:sp>
          <p:nvSpPr>
            <p:cNvPr id="26" name="Rectangle 26"/>
            <p:cNvSpPr/>
            <p:nvPr/>
          </p:nvSpPr>
          <p:spPr>
            <a:xfrm>
              <a:off x="4391025" y="838200"/>
              <a:ext cx="3409950" cy="52197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91025" y="838200"/>
              <a:ext cx="3409950" cy="381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92344" y="111156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BASE CASE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0" y="139065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98967" y="1458278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50% Probability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88588" y="1674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$355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04006" y="2244090"/>
              <a:ext cx="5839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+16%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72025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62227" y="28474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Revenue growth 10–12% continues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37308" y="30379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Multiple stays 13–14x for 12–18 mo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93625" y="3228499"/>
              <a:ext cx="1804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AI proof deferred to FY28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26949" y="3418999"/>
              <a:ext cx="2538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Switching costs hold vs competitors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72025" y="36957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78029" y="391429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FY27E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2342" y="41238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Revenue: $24B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19508" y="431434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Multiple: 13.4x FY27 non-GAAP EPS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10550" y="838200"/>
            <a:ext cx="3409950" cy="5219700"/>
            <a:chOff x="8210550" y="838200"/>
            <a:chExt cx="3409950" cy="5219700"/>
          </a:xfrm>
        </p:grpSpPr>
        <p:sp>
          <p:nvSpPr>
            <p:cNvPr id="43" name="Rectangle 43"/>
            <p:cNvSpPr/>
            <p:nvPr/>
          </p:nvSpPr>
          <p:spPr>
            <a:xfrm>
              <a:off x="8210550" y="838200"/>
              <a:ext cx="3409950" cy="52197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10550" y="838200"/>
              <a:ext cx="3409950" cy="38100"/>
            </a:xfrm>
            <a:prstGeom prst="rect">
              <a:avLst/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11869" y="111156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BEAR CASE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153525" y="139065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3A1A1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18492" y="1458278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30% Probability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2872" y="1674495"/>
              <a:ext cx="126530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$210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89027" y="224409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-32%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82025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94709" y="28474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TurboTax share &lt;30%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38391" y="3037999"/>
              <a:ext cx="1954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QuickBooks net subs decline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19628" y="3228499"/>
              <a:ext cx="13917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Revenue growth &lt;8%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24151" y="3418999"/>
              <a:ext cx="19827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Multiple compresses to 8–9x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82025" y="36957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97554" y="391429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FY27E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11867" y="41238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Revenue: $22B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21233" y="4314349"/>
              <a:ext cx="23885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Multiple: 8.75x FY27 non-GAAP EPS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6011228"/>
            <a:ext cx="11049000" cy="213360"/>
            <a:chOff x="571500" y="6011228"/>
            <a:chExt cx="11049000" cy="213360"/>
          </a:xfrm>
        </p:grpSpPr>
        <p:sp>
          <p:nvSpPr>
            <p:cNvPr id="60" name="Rectangle 60"/>
            <p:cNvSpPr/>
            <p:nvPr/>
          </p:nvSpPr>
          <p:spPr>
            <a:xfrm>
              <a:off x="571500" y="61722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746623" y="6011228"/>
              <a:ext cx="8698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 xml:space="preserve">Probability-Weighted EV: 0.20×$500 + 0.50×$355 + 0.30×$210 = </a:t>
              </a:r>
              <a:r>
                <a:rPr lang="zh-CN" sz="105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$340.50</a:t>
              </a:r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 xml:space="preserve"> (+10.9% vs current $307 — below hurdle rate)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63" name="Rectangle 63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9618" y="653367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Valuation &amp; Scenarios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42" grpId="0"/>
      <p:bldP spid="59" grpId="0"/>
      <p:bldP spid="62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103650" y="2257425"/>
            <a:ext cx="3127700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V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727503" cy="198120"/>
            <a:chOff x="749618" y="2656999"/>
            <a:chExt cx="727503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CHAPTER V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5810674" cy="792480"/>
            <a:chOff x="712470" y="3007995"/>
            <a:chExt cx="5810674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581067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Decision Framework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2426018" cy="304800"/>
            <a:chOff x="742950" y="3838575"/>
            <a:chExt cx="2426018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24260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BAIT Analysis &amp; Verdict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437062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BAIT Framework (Mauboussin)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43500" y="2552700"/>
            <a:ext cx="1905000" cy="457200"/>
            <a:chOff x="5143500" y="2552700"/>
            <a:chExt cx="1905000" cy="457200"/>
          </a:xfrm>
        </p:grpSpPr>
        <p:sp>
          <p:nvSpPr>
            <p:cNvPr id="9" name="Rectangle 9"/>
            <p:cNvSpPr/>
            <p:nvPr/>
          </p:nvSpPr>
          <p:spPr>
            <a:xfrm>
              <a:off x="5143500" y="25527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F0A030">
                <a:alpha val="30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143500" y="2552700"/>
              <a:ext cx="1905000" cy="4572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F0A03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73492" y="2702242"/>
              <a:ext cx="6450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WATCH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838200"/>
            <a:ext cx="11049000" cy="5334000"/>
            <a:chOff x="571500" y="838200"/>
            <a:chExt cx="11049000" cy="5334000"/>
          </a:xfrm>
        </p:grpSpPr>
        <p:sp>
          <p:nvSpPr>
            <p:cNvPr id="13" name="Rectangle 13"/>
            <p:cNvSpPr/>
            <p:nvPr/>
          </p:nvSpPr>
          <p:spPr>
            <a:xfrm>
              <a:off x="571500" y="33528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838200"/>
              <a:ext cx="9525" cy="5334000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838200"/>
            <a:ext cx="5334000" cy="2438400"/>
            <a:chOff x="571500" y="838200"/>
            <a:chExt cx="5334000" cy="2438400"/>
          </a:xfrm>
        </p:grpSpPr>
        <p:sp>
          <p:nvSpPr>
            <p:cNvPr id="16" name="Rectangle 16"/>
            <p:cNvSpPr/>
            <p:nvPr/>
          </p:nvSpPr>
          <p:spPr>
            <a:xfrm>
              <a:off x="571500" y="838200"/>
              <a:ext cx="5334000" cy="2438400"/>
            </a:xfrm>
            <a:prstGeom prst="roundRect">
              <a:avLst>
                <a:gd name="adj" fmla="val 156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1037749"/>
              <a:ext cx="1093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B — BEHAVIORAL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855" y="1283018"/>
              <a:ext cx="32431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Neutral — Possible Overreaction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1590199"/>
              <a:ext cx="39549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-20% single-day crash = institutional capitulation event.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1780699"/>
              <a:ext cx="43821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Market extrapolates worst-case AI disruption from one layoff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1971199"/>
              <a:ext cx="39407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announcement — behavioral bias vs. real underlying risk.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838200"/>
            <a:ext cx="5334000" cy="2438400"/>
            <a:chOff x="6286500" y="838200"/>
            <a:chExt cx="53340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6286500" y="838200"/>
              <a:ext cx="5334000" cy="2438400"/>
            </a:xfrm>
            <a:prstGeom prst="roundRect">
              <a:avLst>
                <a:gd name="adj" fmla="val 156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4618" y="1037749"/>
              <a:ext cx="10639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 — ANALYTICAL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9855" y="1283018"/>
              <a:ext cx="20631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Bullish — Edge Exists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1590199"/>
              <a:ext cx="40404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Market conflates "AI internal efficiency" (margin +) with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1780699"/>
              <a:ext cx="43892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"AI competing with product" (revenue -). These are separate.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1971199"/>
              <a:ext cx="3812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13.2x FWD PE prices deceleration not yet in estimates.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448050"/>
            <a:ext cx="5334000" cy="2495550"/>
            <a:chOff x="571500" y="3448050"/>
            <a:chExt cx="5334000" cy="2495550"/>
          </a:xfrm>
        </p:grpSpPr>
        <p:sp>
          <p:nvSpPr>
            <p:cNvPr id="30" name="Rectangle 30"/>
            <p:cNvSpPr/>
            <p:nvPr/>
          </p:nvSpPr>
          <p:spPr>
            <a:xfrm>
              <a:off x="571500" y="3448050"/>
              <a:ext cx="5334000" cy="2495550"/>
            </a:xfrm>
            <a:prstGeom prst="roundRect">
              <a:avLst>
                <a:gd name="adj" fmla="val 152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618" y="3647599"/>
              <a:ext cx="1325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I — INFORMATIONAL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4855" y="3892868"/>
              <a:ext cx="2052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Bearish — 91-Day Gap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618" y="4200049"/>
              <a:ext cx="35562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Key data not available until Aug 20, 2026: TurboTax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4390549"/>
              <a:ext cx="38410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market share, QuickBooks net sub count, Intuit Assist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4581049"/>
              <a:ext cx="3812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penetration. Informational disadvantage vs. insiders.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3448050"/>
            <a:ext cx="5334000" cy="2495550"/>
            <a:chOff x="6286500" y="3448050"/>
            <a:chExt cx="5334000" cy="2495550"/>
          </a:xfrm>
        </p:grpSpPr>
        <p:sp>
          <p:nvSpPr>
            <p:cNvPr id="37" name="Rectangle 37"/>
            <p:cNvSpPr/>
            <p:nvPr/>
          </p:nvSpPr>
          <p:spPr>
            <a:xfrm>
              <a:off x="6286500" y="3448050"/>
              <a:ext cx="5334000" cy="2495550"/>
            </a:xfrm>
            <a:prstGeom prst="roundRect">
              <a:avLst>
                <a:gd name="adj" fmla="val 152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4618" y="3647599"/>
              <a:ext cx="9816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T — TECHNICAL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9855" y="389286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Bearish — Stage 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4618" y="4200049"/>
              <a:ext cx="36345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New 52-week low. All MAs declining. Zero SEPA trend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4390549"/>
              <a:ext cx="40332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template conditions met. Worst possible technical setup.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4618" y="4581049"/>
              <a:ext cx="36488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SEPA: do not enter Stage 4 under any circumstance.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44" name="Rectangle 44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9618" y="6533674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Decision Framework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22" grpId="0"/>
      <p:bldP spid="29" grpId="0"/>
      <p:bldP spid="36" grpId="0"/>
      <p:bldP spid="43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Verdict &amp; Entry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91000" y="952500"/>
            <a:ext cx="3810000" cy="971550"/>
            <a:chOff x="4191000" y="952500"/>
            <a:chExt cx="3810000" cy="971550"/>
          </a:xfrm>
        </p:grpSpPr>
        <p:sp>
          <p:nvSpPr>
            <p:cNvPr id="9" name="Rectangle 9"/>
            <p:cNvSpPr/>
            <p:nvPr/>
          </p:nvSpPr>
          <p:spPr>
            <a:xfrm>
              <a:off x="4191000" y="952500"/>
              <a:ext cx="3810000" cy="952500"/>
            </a:xfrm>
            <a:prstGeom prst="roundRect">
              <a:avLst>
                <a:gd name="adj" fmla="val 50000"/>
              </a:avLst>
            </a:prstGeom>
            <a:solidFill>
              <a:srgbClr val="F0A03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64310" y="1131570"/>
              <a:ext cx="1863381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0A0E1A"/>
                  </a:solidFill>
                  <a:latin typeface="Arial"/>
                  <a:ea typeface="Microsoft YaHei"/>
                  <a:cs typeface="Arial"/>
                </a:rPr>
                <a:t>WATCH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571500" y="219075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747712" y="2485549"/>
            <a:ext cx="6945868" cy="993457"/>
            <a:chOff x="747712" y="2485549"/>
            <a:chExt cx="6945868" cy="993457"/>
          </a:xfrm>
        </p:grpSpPr>
        <p:sp>
          <p:nvSpPr>
            <p:cNvPr id="13" name="TextBox 13"/>
            <p:cNvSpPr txBox="1"/>
            <p:nvPr/>
          </p:nvSpPr>
          <p:spPr>
            <a:xfrm>
              <a:off x="749618" y="2485549"/>
              <a:ext cx="11910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1-YEAR OUTLOOK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712" y="2755106"/>
              <a:ext cx="46209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Base: $355 (+16%). PW Expected Value: $340.50 (+10.9%).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712" y="3002756"/>
              <a:ext cx="69458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Upside: $500+ if Aug 2026 confirms Intuit Assist traction + QuickBooks growth intact.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712" y="3250406"/>
              <a:ext cx="59353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Downside: $210 on AI disruption confirmed + multiple compression to 8–9x.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6286500" y="2400300"/>
            <a:ext cx="9525" cy="18097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6557962" y="2485549"/>
            <a:ext cx="4916686" cy="993457"/>
            <a:chOff x="6557962" y="2485549"/>
            <a:chExt cx="4916686" cy="993457"/>
          </a:xfrm>
        </p:grpSpPr>
        <p:sp>
          <p:nvSpPr>
            <p:cNvPr id="19" name="TextBox 19"/>
            <p:cNvSpPr txBox="1"/>
            <p:nvPr/>
          </p:nvSpPr>
          <p:spPr>
            <a:xfrm>
              <a:off x="6559868" y="2485549"/>
              <a:ext cx="1168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POSITION ADVICE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7962" y="2755106"/>
              <a:ext cx="4103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Current: 0% (Stage 4 — do not enter falling knife).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7962" y="3002756"/>
              <a:ext cx="49166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After Aug 2026 verification: 2–3% starter tranche maximum.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7962" y="3250406"/>
              <a:ext cx="40376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Stock preferred over LEAPS (high IV post-crash).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441960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9618" y="4561999"/>
            <a:ext cx="1310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KEY ENTRY TRIGGER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800600"/>
            <a:ext cx="11049000" cy="609600"/>
          </a:xfrm>
          <a:prstGeom prst="roundRect">
            <a:avLst>
              <a:gd name="adj" fmla="val 625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800600"/>
            <a:ext cx="47625" cy="6096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4918710"/>
            <a:ext cx="52475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Reclaim MA50 (est. $370–$395) with volume ≥1.5x avg, AND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760" y="5147310"/>
            <a:ext cx="6765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Q4 FY26 (Aug 20, 2026) confirms QuickBooks growth + TurboTax retention.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5590699"/>
            <a:ext cx="7507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Stop Loss: Entry minus 8% (non-negotiable SEPA rule). Never exceed 3% of portfolio in Stage 1 basing phase.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1" name="Rectangle 31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6533674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Decision Framework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23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38100"/>
              <a:ext cx="28575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238500" y="1699260"/>
            <a:ext cx="5715000" cy="291465"/>
            <a:chOff x="3238500" y="1699260"/>
            <a:chExt cx="5715000" cy="291465"/>
          </a:xfrm>
        </p:grpSpPr>
        <p:sp>
          <p:nvSpPr>
            <p:cNvPr id="7" name="TextBox 7"/>
            <p:cNvSpPr txBox="1"/>
            <p:nvPr/>
          </p:nvSpPr>
          <p:spPr>
            <a:xfrm>
              <a:off x="5123840" y="1699260"/>
              <a:ext cx="1944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SOURCES &amp; DISCLAIMER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238500" y="1981200"/>
              <a:ext cx="5715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463129" y="2295049"/>
            <a:ext cx="7265741" cy="426720"/>
            <a:chOff x="2463129" y="2295049"/>
            <a:chExt cx="7265741" cy="426720"/>
          </a:xfrm>
        </p:grpSpPr>
        <p:sp>
          <p:nvSpPr>
            <p:cNvPr id="10" name="TextBox 10"/>
            <p:cNvSpPr txBox="1"/>
            <p:nvPr/>
          </p:nvSpPr>
          <p:spPr>
            <a:xfrm>
              <a:off x="2463129" y="2295049"/>
              <a:ext cx="72657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Research generated from structured wiki investment thesis — rwh-overlay investment research system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86766" y="2523649"/>
              <a:ext cx="6418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This material is for informational purposes only and does not constitute investment advice.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79646" y="3018949"/>
            <a:ext cx="6432709" cy="655320"/>
            <a:chOff x="2879646" y="3018949"/>
            <a:chExt cx="6432709" cy="655320"/>
          </a:xfrm>
        </p:grpSpPr>
        <p:sp>
          <p:nvSpPr>
            <p:cNvPr id="13" name="TextBox 13"/>
            <p:cNvSpPr txBox="1"/>
            <p:nvPr/>
          </p:nvSpPr>
          <p:spPr>
            <a:xfrm>
              <a:off x="2879646" y="3018949"/>
              <a:ext cx="6432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Sources: Yahoo Finance (yfinance) · Intuit Q3 FY26 earnings (2026-05-20) · Intuit 10-K FY25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90005" y="3247549"/>
              <a:ext cx="6211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Analyst consensus: 32 analysts · Minervini SEPA framework · Mauboussin BAIT framework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02961" y="3476149"/>
              <a:ext cx="5386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Market daily 2026-05-21 (rwh-overlay outputs/market/daily/2026-05-21.md)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709821" y="39333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A3A5C"/>
                </a:solidFill>
                <a:latin typeface="Arial"/>
                <a:ea typeface="Microsoft YaHei"/>
                <a:cs typeface="Arial"/>
              </a:rPr>
              <a:t>2026-05-21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851868" y="4400550"/>
            <a:ext cx="2488263" cy="342900"/>
            <a:chOff x="4851868" y="4400550"/>
            <a:chExt cx="2488263" cy="342900"/>
          </a:xfrm>
        </p:grpSpPr>
        <p:sp>
          <p:nvSpPr>
            <p:cNvPr id="18" name="Rectangle 18"/>
            <p:cNvSpPr/>
            <p:nvPr/>
          </p:nvSpPr>
          <p:spPr>
            <a:xfrm>
              <a:off x="4857750" y="4400550"/>
              <a:ext cx="2476500" cy="342900"/>
            </a:xfrm>
            <a:prstGeom prst="roundRect">
              <a:avLst>
                <a:gd name="adj" fmla="val 50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57750" y="4400550"/>
              <a:ext cx="2476500" cy="3429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2A3A5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51868" y="4514374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Investment Research · rwh-overlay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