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Intuit 股票代码 INTU，当前股价 $307.07，处于 52 周低点。2026 年 5 月 21 日 Q3 FY26 财报后单日暴跌 20%，创下大市值阶段历史最低估值，是近年来最具分析价值的入场时机之一。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本章聚焦于 Intuit 的核心投资议题：一家拥有强大护城河的 SaaS 平台，正面临 AI 破坏性冲击，市场已将最坏情景充分定价，但基本面尚未真正受损。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核心问题：Intuit 的结构性护城河是否足以在 3 年内抵御 AI 去中间化？答案决定了当前 13.2 倍非GAAP 市盈率是深度价值陷阱还是罕见买入机会。这是整个分析框架的核心二元变量。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FY25 营收 188.3 亿美元，同比增长 15.6%，超预期。毛利率 79.5%，自由现金流 60.8 亿美元，FCF 利润率高达 32.3%。资产负债表净现金 28 亿美元。FY26 Q3 财报同时宣布裁员 3300 人，是 Intuit 历史最大规模裁员。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本章分析 Intuit 的三大业务板块、竞争护城河与管理层质量，评估其在 AI 冲击下的核心竞争力。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QuickBooks 750 万在线订阅用户，NRR 超过 100%，锁定效应极强。1 亿以上税务数据集是 AI 训练的真实优势。核心结论：护城河今天依然有效，但技术复制壁垒已基本消失，未来 3 年窗口期至关重要。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五大催化剂：AI 降本增效、Intuit Assist 付费层变现、国际 QuickBooks 扩张、企业级市场布局，以及 Credit Karma 的周期性复苏。其中 Intuit Assist 付费转化率是最关键的二元验证变量。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本章梳理三大核心风险及宏观政策背景，理解 AI 去中间化对 Intuit 商业模式的实质性威胁。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三大主要风险：TurboTax 被免费 LLM 替代（35% 概率）、Intuit Assist 变现失败（40% 概率）、大规模裁员导致的执行风险（30% 概率）。IRS Direct File 已扩至 25 州，政策层面威胁真实存在。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本章从估值倍数、同类对比和三情景模型全面量化 INTU 的安全边际与上下行空间。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 13.2x 非GAAP FWD PE 是 Intuit 大市值历史最低值，较历史均值 30-40 倍折价 65%。FCF 收益率 7.1%，EV 营收比与 ADBE 和 CRM 持平，但 Intuit 营收增速更高。市场已充分定价破坏风险。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概率加权预期价值 340.50 美元，仅高于当前价格 10.9%，低于最低期望收益率门槛。乐观情景（20%）需要 Intuit Assist 付费渗透率超过 10%。悲观情景（30%）对应 AI 破坏坐实后的 8-9 倍倍数压缩。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本章运用 Mauboussin 的 BAIT 框架和 Minervini 的 SEPA 技术分析，得出当前的最终投资结论。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行为面中性：可能存在过度反应，但真实风险不可低估。分析面看多：市场混淆了两个独立事件。信息面看空：91 天信息空窗期，关键数据不透明。技术面看空：52 周新低，第 4 阶段，SEPA 铁律不入场。综合结论：观察。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结论为观察（WATCH）。当前持仓 0%，不追跌刀。入场触发：收复 MA50（370-395 美元），成交量达均量 1.5 倍，且 2026 年 8 月 20 日财报确认 QuickBooks 增长与 TurboTax 留存。止损设置入场价 -8%，SEPA 铁律不可协商。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数据来源于 Yahoo Finance、Intuit 官方财报及 rwh-overlay 投研系统。本材料仅供参考，不构成投资建议。分析日期：2026-05-21。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38100"/>
              <a:ext cx="28575" cy="68199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96500" y="4953000"/>
            <a:ext cx="2095500" cy="1905000"/>
            <a:chOff x="10096500" y="4953000"/>
            <a:chExt cx="2095500" cy="1905000"/>
          </a:xfrm>
        </p:grpSpPr>
        <p:sp>
          <p:nvSpPr>
            <p:cNvPr id="6" name="Polygon 6"/>
            <p:cNvSpPr/>
            <p:nvPr/>
          </p:nvSpPr>
          <p:spPr>
            <a:xfrm>
              <a:off x="10096500" y="4953000"/>
              <a:ext cx="2095500" cy="1905000"/>
            </a:xfrm>
            <a:custGeom>
              <a:avLst/>
              <a:gdLst/>
              <a:ahLst/>
              <a:cxnLst/>
              <a:rect l="l" t="t" r="r" b="b"/>
              <a:pathLst>
                <a:path w="2095500" h="1905000">
                  <a:moveTo>
                    <a:pt x="2095500" y="1905000"/>
                  </a:moveTo>
                  <a:lnTo>
                    <a:pt x="2095500" y="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131B30"/>
            </a:solidFill>
            <a:ln>
              <a:noFill/>
            </a:ln>
          </p:spPr>
        </p:sp>
        <p:sp>
          <p:nvSpPr>
            <p:cNvPr id="7" name="Polygon 7"/>
            <p:cNvSpPr/>
            <p:nvPr/>
          </p:nvSpPr>
          <p:spPr>
            <a:xfrm>
              <a:off x="10763250" y="5524500"/>
              <a:ext cx="1428750" cy="1333500"/>
            </a:xfrm>
            <a:custGeom>
              <a:avLst/>
              <a:gdLst/>
              <a:ahLst/>
              <a:cxnLst/>
              <a:rect l="l" t="t" r="r" b="b"/>
              <a:pathLst>
                <a:path w="1428750" h="1333500">
                  <a:moveTo>
                    <a:pt x="1428750" y="1333500"/>
                  </a:moveTo>
                  <a:lnTo>
                    <a:pt x="1428750" y="0"/>
                  </a:lnTo>
                  <a:lnTo>
                    <a:pt x="0" y="1333500"/>
                  </a:lnTo>
                  <a:close/>
                </a:path>
              </a:pathLst>
            </a:custGeom>
            <a:solidFill>
              <a:srgbClr val="1A2540"/>
            </a:solidFill>
            <a:ln>
              <a:noFill/>
            </a:ln>
          </p:spPr>
        </p:sp>
        <p:sp>
          <p:nvSpPr>
            <p:cNvPr id="8" name="Polygon 8"/>
            <p:cNvSpPr/>
            <p:nvPr/>
          </p:nvSpPr>
          <p:spPr>
            <a:xfrm>
              <a:off x="11430000" y="6096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lnTo>
                    <a:pt x="762000" y="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F5C842">
                <a:alpha val="15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191500" y="762000"/>
            <a:ext cx="1057275" cy="4572000"/>
            <a:chOff x="8191500" y="762000"/>
            <a:chExt cx="1057275" cy="4572000"/>
          </a:xfrm>
        </p:grpSpPr>
        <p:sp>
          <p:nvSpPr>
            <p:cNvPr id="10" name="Rectangle 10"/>
            <p:cNvSpPr/>
            <p:nvPr/>
          </p:nvSpPr>
          <p:spPr>
            <a:xfrm>
              <a:off x="8763000" y="762000"/>
              <a:ext cx="9525" cy="4572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239250" y="1143000"/>
              <a:ext cx="9525" cy="381000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91500" y="1524000"/>
              <a:ext cx="9525" cy="2857500"/>
            </a:xfrm>
            <a:prstGeom prst="rect">
              <a:avLst/>
            </a:prstGeom>
            <a:solidFill>
              <a:srgbClr val="1A2540">
                <a:alpha val="60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600200" y="1981200"/>
            <a:ext cx="2919936" cy="1828800"/>
            <a:chOff x="1600200" y="1981200"/>
            <a:chExt cx="2919936" cy="1828800"/>
          </a:xfrm>
        </p:grpSpPr>
        <p:sp>
          <p:nvSpPr>
            <p:cNvPr id="14" name="TextBox 14"/>
            <p:cNvSpPr txBox="1"/>
            <p:nvPr/>
          </p:nvSpPr>
          <p:spPr>
            <a:xfrm>
              <a:off x="1600200" y="1981200"/>
              <a:ext cx="2919936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INTU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89735" y="3294698"/>
            <a:ext cx="1487757" cy="396240"/>
            <a:chOff x="1689735" y="3294698"/>
            <a:chExt cx="1487757" cy="396240"/>
          </a:xfrm>
        </p:grpSpPr>
        <p:sp>
          <p:nvSpPr>
            <p:cNvPr id="16" name="TextBox 16"/>
            <p:cNvSpPr txBox="1"/>
            <p:nvPr/>
          </p:nvSpPr>
          <p:spPr>
            <a:xfrm>
              <a:off x="1689735" y="3294698"/>
              <a:ext cx="1487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Inc.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3733800"/>
            <a:ext cx="6096000" cy="28575"/>
            <a:chOff x="1714500" y="3733800"/>
            <a:chExt cx="6096000" cy="28575"/>
          </a:xfrm>
        </p:grpSpPr>
        <p:sp>
          <p:nvSpPr>
            <p:cNvPr id="18" name="Rectangle 18"/>
            <p:cNvSpPr/>
            <p:nvPr/>
          </p:nvSpPr>
          <p:spPr>
            <a:xfrm>
              <a:off x="1714500" y="3733800"/>
              <a:ext cx="6096000" cy="28575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697355" y="4007168"/>
            <a:ext cx="5002911" cy="521970"/>
            <a:chOff x="1697355" y="4007168"/>
            <a:chExt cx="5002911" cy="521970"/>
          </a:xfrm>
        </p:grpSpPr>
        <p:sp>
          <p:nvSpPr>
            <p:cNvPr id="20" name="TextBox 20"/>
            <p:cNvSpPr txBox="1"/>
            <p:nvPr/>
          </p:nvSpPr>
          <p:spPr>
            <a:xfrm>
              <a:off x="1697355" y="4007168"/>
              <a:ext cx="40860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质量复合增长型公司遭受叙事冲击 — 52 周新低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7355" y="4254818"/>
              <a:ext cx="50029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7.1% FCF 收益率对决 AI 破坏压力，8 月 20 日财报定生死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01165" y="4934902"/>
            <a:ext cx="1621536" cy="213360"/>
            <a:chOff x="1701165" y="4934902"/>
            <a:chExt cx="1621536" cy="213360"/>
          </a:xfrm>
        </p:grpSpPr>
        <p:sp>
          <p:nvSpPr>
            <p:cNvPr id="23" name="TextBox 23"/>
            <p:cNvSpPr txBox="1"/>
            <p:nvPr/>
          </p:nvSpPr>
          <p:spPr>
            <a:xfrm>
              <a:off x="1701165" y="4934902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A3A5C"/>
                  </a:solidFill>
                  <a:latin typeface="Arial"/>
                  <a:ea typeface="Microsoft YaHei"/>
                  <a:cs typeface="Arial"/>
                </a:rPr>
                <a:t>投资论点 · 2026-05-21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14500" y="5429250"/>
            <a:ext cx="1524000" cy="285750"/>
            <a:chOff x="1714500" y="5429250"/>
            <a:chExt cx="1524000" cy="285750"/>
          </a:xfrm>
        </p:grpSpPr>
        <p:sp>
          <p:nvSpPr>
            <p:cNvPr id="25" name="Rectangle 25"/>
            <p:cNvSpPr/>
            <p:nvPr/>
          </p:nvSpPr>
          <p:spPr>
            <a:xfrm>
              <a:off x="1714500" y="5429250"/>
              <a:ext cx="1524000" cy="285750"/>
            </a:xfrm>
            <a:prstGeom prst="roundRect">
              <a:avLst>
                <a:gd name="adj" fmla="val 50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714500" y="5429250"/>
              <a:ext cx="1524000" cy="28575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F5C84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51018" y="55225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完整深度分析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19" grpId="0"/>
      <p:bldP spid="22" grpId="0"/>
      <p:bldP spid="24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649968" y="2257425"/>
            <a:ext cx="2035064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473321" cy="198120"/>
            <a:chOff x="749618" y="2656999"/>
            <a:chExt cx="473321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第一章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2491359" cy="792480"/>
            <a:chOff x="712470" y="3007995"/>
            <a:chExt cx="2491359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投资论点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2042636" cy="304800"/>
            <a:chOff x="742950" y="3838575"/>
            <a:chExt cx="2042636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20426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关键问题 &amp; 财务基础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关键投资问题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48022" y="332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投资论点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900" y="533400"/>
            <a:ext cx="1975390" cy="3657600"/>
            <a:chOff x="723900" y="533400"/>
            <a:chExt cx="1975390" cy="3657600"/>
          </a:xfrm>
        </p:grpSpPr>
        <p:sp>
          <p:nvSpPr>
            <p:cNvPr id="10" name="TextBox 10"/>
            <p:cNvSpPr txBox="1"/>
            <p:nvPr/>
          </p:nvSpPr>
          <p:spPr>
            <a:xfrm>
              <a:off x="723900" y="533400"/>
              <a:ext cx="1975390" cy="3657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0" b="1" dirty="0">
                  <a:solidFill>
                    <a:srgbClr val="131B30"/>
                  </a:solidFill>
                  <a:latin typeface="Arial"/>
                  <a:ea typeface="Microsoft YaHei"/>
                  <a:cs typeface="Arial"/>
                </a:rPr>
                <a:t>"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4450" y="2600325"/>
            <a:ext cx="5420773" cy="1162050"/>
            <a:chOff x="1314450" y="2600325"/>
            <a:chExt cx="5420773" cy="1162050"/>
          </a:xfrm>
        </p:grpSpPr>
        <p:sp>
          <p:nvSpPr>
            <p:cNvPr id="12" name="TextBox 12"/>
            <p:cNvSpPr txBox="1"/>
            <p:nvPr/>
          </p:nvSpPr>
          <p:spPr>
            <a:xfrm>
              <a:off x="1314450" y="2600325"/>
              <a:ext cx="54207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的 AI 整合（Intuit Assist）能否在 24 个月内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4450" y="2886075"/>
              <a:ext cx="47651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创造的价值超过竞争对手 AI 产品侵蚀的价值——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14450" y="3171825"/>
              <a:ext cx="38220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抑或裁员 17% 意味着 AI 已开始替代其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4450" y="3457575"/>
              <a:ext cx="27984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核心用户价值而非增强它？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4152900"/>
            <a:ext cx="11049000" cy="900112"/>
            <a:chOff x="571500" y="4152900"/>
            <a:chExt cx="11049000" cy="900112"/>
          </a:xfrm>
        </p:grpSpPr>
        <p:sp>
          <p:nvSpPr>
            <p:cNvPr id="17" name="Rectangle 17"/>
            <p:cNvSpPr/>
            <p:nvPr/>
          </p:nvSpPr>
          <p:spPr>
            <a:xfrm>
              <a:off x="571500" y="41529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618" y="4390549"/>
              <a:ext cx="2955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当前里程碑状态（Q3 FY26 — 2026 年 5 月）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4611052"/>
              <a:ext cx="7418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Intuit Assist 2024 年推出 · 截至 Q3 FY26 无付费渗透率数据 · 2026-05-20 盘后宣布裁员 17%（3,300 人）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4839652"/>
              <a:ext cx="63984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股价单日跌 20% 至 52 周新低 · Q4 FY26 财报（2026-08-20）= 解决二元判断的第一个数据点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22" name="Rectangle 22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投资论点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21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财务快照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847249"/>
            <a:ext cx="11049000" cy="198120"/>
            <a:chOff x="571500" y="847249"/>
            <a:chExt cx="11049000" cy="198120"/>
          </a:xfrm>
        </p:grpSpPr>
        <p:sp>
          <p:nvSpPr>
            <p:cNvPr id="9" name="TextBox 9"/>
            <p:cNvSpPr txBox="1"/>
            <p:nvPr/>
          </p:nvSpPr>
          <p:spPr>
            <a:xfrm>
              <a:off x="749618" y="847249"/>
              <a:ext cx="1691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损益表（财年截止 7 月）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0287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066800"/>
            <a:ext cx="11049000" cy="257175"/>
            <a:chOff x="571500" y="1066800"/>
            <a:chExt cx="11049000" cy="257175"/>
          </a:xfrm>
        </p:grpSpPr>
        <p:sp>
          <p:nvSpPr>
            <p:cNvPr id="12" name="Rectangle 12"/>
            <p:cNvSpPr/>
            <p:nvPr/>
          </p:nvSpPr>
          <p:spPr>
            <a:xfrm>
              <a:off x="571500" y="1066800"/>
              <a:ext cx="11049000" cy="24765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0570" y="114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财年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3070" y="114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6070" y="1141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同比增速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3820" y="11410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毛利率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41570" y="1141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运营利润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79820" y="11410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净利润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18070" y="1141095"/>
              <a:ext cx="8302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EPS（GAAP）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46820" y="1141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自由现金流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75570" y="114109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股票激励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314450"/>
            <a:ext cx="11049000" cy="254794"/>
            <a:chOff x="571500" y="1314450"/>
            <a:chExt cx="11049000" cy="254794"/>
          </a:xfrm>
        </p:grpSpPr>
        <p:sp>
          <p:nvSpPr>
            <p:cNvPr id="23" name="Rectangle 23"/>
            <p:cNvSpPr/>
            <p:nvPr/>
          </p:nvSpPr>
          <p:spPr>
            <a:xfrm>
              <a:off x="571500" y="13144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13711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2118" y="13711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$12.73B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45118" y="13711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2868" y="1371124"/>
              <a:ext cx="345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81.1%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061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$2.56B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86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$2.07B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17118" y="13711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$7.28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4586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$3.66B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74618" y="1371124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$1.31B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543050"/>
            <a:ext cx="11049000" cy="254794"/>
            <a:chOff x="571500" y="1543050"/>
            <a:chExt cx="11049000" cy="254794"/>
          </a:xfrm>
        </p:grpSpPr>
        <p:sp>
          <p:nvSpPr>
            <p:cNvPr id="34" name="Rectangle 34"/>
            <p:cNvSpPr/>
            <p:nvPr/>
          </p:nvSpPr>
          <p:spPr>
            <a:xfrm>
              <a:off x="571500" y="15430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618" y="15997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2118" y="15997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$14.37B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5118" y="15997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+12.9%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92868" y="15997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78.1%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0618" y="15997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$3.14B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78868" y="15997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$2.38B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17118" y="15997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$8.42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45868" y="15997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$4.79B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74618" y="1599724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$1.71B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1771650"/>
            <a:ext cx="11049000" cy="254794"/>
            <a:chOff x="571500" y="1771650"/>
            <a:chExt cx="11049000" cy="254794"/>
          </a:xfrm>
        </p:grpSpPr>
        <p:sp>
          <p:nvSpPr>
            <p:cNvPr id="45" name="Rectangle 45"/>
            <p:cNvSpPr/>
            <p:nvPr/>
          </p:nvSpPr>
          <p:spPr>
            <a:xfrm>
              <a:off x="571500" y="17716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618" y="18283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02118" y="18283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$16.29B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45118" y="18283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+13.4%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92868" y="18283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78.7%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40618" y="18283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$3.85B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78868" y="18283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$2.96B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17118" y="18283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$10.43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45868" y="18283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$4.63B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74618" y="18283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$1.94B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2000250"/>
            <a:ext cx="11049000" cy="254794"/>
            <a:chOff x="571500" y="2000250"/>
            <a:chExt cx="11049000" cy="254794"/>
          </a:xfrm>
        </p:grpSpPr>
        <p:sp>
          <p:nvSpPr>
            <p:cNvPr id="56" name="Rectangle 56"/>
            <p:cNvSpPr/>
            <p:nvPr/>
          </p:nvSpPr>
          <p:spPr>
            <a:xfrm>
              <a:off x="571500" y="2000250"/>
              <a:ext cx="11049000" cy="228600"/>
            </a:xfrm>
            <a:prstGeom prst="rect">
              <a:avLst/>
            </a:prstGeom>
            <a:solidFill>
              <a:srgbClr val="1A2A44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1500" y="2000250"/>
              <a:ext cx="38100" cy="2286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9618" y="20569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FY25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702118" y="205692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$18.83B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845118" y="205692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+15.6%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92868" y="205692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79.5%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40618" y="20569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$4.94B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78868" y="20569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$3.87B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17118" y="205692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$13.67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45868" y="205692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$6.08B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74618" y="205692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$1.97B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2228850"/>
            <a:ext cx="11049000" cy="254794"/>
            <a:chOff x="571500" y="2228850"/>
            <a:chExt cx="11049000" cy="254794"/>
          </a:xfrm>
        </p:grpSpPr>
        <p:sp>
          <p:nvSpPr>
            <p:cNvPr id="68" name="Rectangle 68"/>
            <p:cNvSpPr/>
            <p:nvPr/>
          </p:nvSpPr>
          <p:spPr>
            <a:xfrm>
              <a:off x="571500" y="22288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49618" y="22855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FY26E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702118" y="22855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$21.2B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845118" y="22855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+12.7%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892868" y="22855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~79%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94061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7886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417118" y="2285524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$23.31*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84586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7461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71500" y="2656999"/>
            <a:ext cx="11049000" cy="198120"/>
            <a:chOff x="571500" y="2656999"/>
            <a:chExt cx="11049000" cy="198120"/>
          </a:xfrm>
        </p:grpSpPr>
        <p:sp>
          <p:nvSpPr>
            <p:cNvPr id="79" name="TextBox 79"/>
            <p:cNvSpPr txBox="1"/>
            <p:nvPr/>
          </p:nvSpPr>
          <p:spPr>
            <a:xfrm>
              <a:off x="749618" y="2656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核心亮点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71500" y="28384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571500" y="2933700"/>
            <a:ext cx="2571750" cy="952500"/>
            <a:chOff x="571500" y="2933700"/>
            <a:chExt cx="2571750" cy="952500"/>
          </a:xfrm>
        </p:grpSpPr>
        <p:sp>
          <p:nvSpPr>
            <p:cNvPr id="82" name="Rectangle 82"/>
            <p:cNvSpPr/>
            <p:nvPr/>
          </p:nvSpPr>
          <p:spPr>
            <a:xfrm>
              <a:off x="571500" y="2933700"/>
              <a:ext cx="25717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0570" y="3084195"/>
              <a:ext cx="8785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营收（FY25）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31520" y="3303270"/>
              <a:ext cx="138592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$18.83B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49618" y="368569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↑ +15.6% 同比 4 年 CAGR +13%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3333750" y="2933700"/>
            <a:ext cx="2571750" cy="952500"/>
            <a:chOff x="3333750" y="2933700"/>
            <a:chExt cx="2571750" cy="952500"/>
          </a:xfrm>
        </p:grpSpPr>
        <p:sp>
          <p:nvSpPr>
            <p:cNvPr id="87" name="Rectangle 87"/>
            <p:cNvSpPr/>
            <p:nvPr/>
          </p:nvSpPr>
          <p:spPr>
            <a:xfrm>
              <a:off x="3333750" y="2933700"/>
              <a:ext cx="25717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512820" y="30841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毛利率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493770" y="33032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79.5%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511868" y="36856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↑ 纯软件经济模型水准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6096000" y="2933700"/>
            <a:ext cx="2571750" cy="952500"/>
            <a:chOff x="6096000" y="2933700"/>
            <a:chExt cx="2571750" cy="952500"/>
          </a:xfrm>
        </p:grpSpPr>
        <p:sp>
          <p:nvSpPr>
            <p:cNvPr id="92" name="Rectangle 92"/>
            <p:cNvSpPr/>
            <p:nvPr/>
          </p:nvSpPr>
          <p:spPr>
            <a:xfrm>
              <a:off x="6096000" y="2933700"/>
              <a:ext cx="25717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275070" y="3084195"/>
              <a:ext cx="12926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自由现金流（FY25）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56020" y="3303270"/>
              <a:ext cx="1275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$6.08B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274118" y="3685699"/>
              <a:ext cx="18545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↑ $307 价位 FCF 收益率 7.1%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858250" y="2933700"/>
            <a:ext cx="2762250" cy="952500"/>
            <a:chOff x="8858250" y="2933700"/>
            <a:chExt cx="2762250" cy="952500"/>
          </a:xfrm>
        </p:grpSpPr>
        <p:sp>
          <p:nvSpPr>
            <p:cNvPr id="97" name="Rectangle 97"/>
            <p:cNvSpPr/>
            <p:nvPr/>
          </p:nvSpPr>
          <p:spPr>
            <a:xfrm>
              <a:off x="8858250" y="2933700"/>
              <a:ext cx="2762250" cy="952500"/>
            </a:xfrm>
            <a:prstGeom prst="roundRect">
              <a:avLst>
                <a:gd name="adj" fmla="val 4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037320" y="30841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资产负债表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018270" y="33032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0.62x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036368" y="3685699"/>
              <a:ext cx="14985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净债务/FCF — 极为安全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71500" y="4066699"/>
            <a:ext cx="11049000" cy="198120"/>
            <a:chOff x="571500" y="4066699"/>
            <a:chExt cx="11049000" cy="198120"/>
          </a:xfrm>
        </p:grpSpPr>
        <p:sp>
          <p:nvSpPr>
            <p:cNvPr id="102" name="TextBox 102"/>
            <p:cNvSpPr txBox="1"/>
            <p:nvPr/>
          </p:nvSpPr>
          <p:spPr>
            <a:xfrm>
              <a:off x="749618" y="406669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FY25 营收结构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571500" y="42481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571500" y="4343400"/>
            <a:ext cx="11049000" cy="254794"/>
            <a:chOff x="571500" y="4343400"/>
            <a:chExt cx="11049000" cy="254794"/>
          </a:xfrm>
        </p:grpSpPr>
        <p:sp>
          <p:nvSpPr>
            <p:cNvPr id="105" name="Rectangle 105"/>
            <p:cNvSpPr/>
            <p:nvPr/>
          </p:nvSpPr>
          <p:spPr>
            <a:xfrm>
              <a:off x="571500" y="434340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49618" y="4400074"/>
              <a:ext cx="29154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小企业&amp;自雇（QuickBooks + 工资单 + 支付）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4857750" y="4400550"/>
              <a:ext cx="3714750" cy="114300"/>
            </a:xfrm>
            <a:prstGeom prst="roundRect">
              <a:avLst>
                <a:gd name="adj" fmla="val 16667"/>
              </a:avLst>
            </a:prstGeom>
            <a:solidFill>
              <a:srgbClr val="4A90D9">
                <a:alpha val="40000"/>
              </a:srgbClr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750618" y="44000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~$8.0B 42%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750868" y="4400074"/>
              <a:ext cx="6655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SaaS 订阅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571500" y="4572000"/>
            <a:ext cx="11049000" cy="254794"/>
            <a:chOff x="571500" y="4572000"/>
            <a:chExt cx="11049000" cy="254794"/>
          </a:xfrm>
        </p:grpSpPr>
        <p:sp>
          <p:nvSpPr>
            <p:cNvPr id="111" name="Rectangle 111"/>
            <p:cNvSpPr/>
            <p:nvPr/>
          </p:nvSpPr>
          <p:spPr>
            <a:xfrm>
              <a:off x="571500" y="457200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49618" y="4628674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消费者（TurboTax）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4857750" y="4629150"/>
              <a:ext cx="2552700" cy="114300"/>
            </a:xfrm>
            <a:prstGeom prst="roundRect">
              <a:avLst>
                <a:gd name="adj" fmla="val 16667"/>
              </a:avLst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750618" y="46286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~$5.5B 29%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750868" y="4628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按次收费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71500" y="4800600"/>
            <a:ext cx="11049000" cy="254794"/>
            <a:chOff x="571500" y="4800600"/>
            <a:chExt cx="11049000" cy="254794"/>
          </a:xfrm>
        </p:grpSpPr>
        <p:sp>
          <p:nvSpPr>
            <p:cNvPr id="117" name="Rectangle 117"/>
            <p:cNvSpPr/>
            <p:nvPr/>
          </p:nvSpPr>
          <p:spPr>
            <a:xfrm>
              <a:off x="571500" y="480060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49618" y="4857274"/>
              <a:ext cx="1434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Mailchimp / SMB 营销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4857750" y="4857750"/>
              <a:ext cx="1162050" cy="114300"/>
            </a:xfrm>
            <a:prstGeom prst="roundRect">
              <a:avLst>
                <a:gd name="adj" fmla="val 16667"/>
              </a:avLst>
            </a:prstGeom>
            <a:solidFill>
              <a:srgbClr val="4CAF82">
                <a:alpha val="30000"/>
              </a:srgbClr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750618" y="48572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~$2.5B 13%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750868" y="4857274"/>
              <a:ext cx="6655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分层 SaaS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71500" y="5029200"/>
            <a:ext cx="11049000" cy="254794"/>
            <a:chOff x="571500" y="5029200"/>
            <a:chExt cx="11049000" cy="254794"/>
          </a:xfrm>
        </p:grpSpPr>
        <p:sp>
          <p:nvSpPr>
            <p:cNvPr id="123" name="Rectangle 123"/>
            <p:cNvSpPr/>
            <p:nvPr/>
          </p:nvSpPr>
          <p:spPr>
            <a:xfrm>
              <a:off x="571500" y="502920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49618" y="5085874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Credit Karma（广告 CPC/CPA）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4857750" y="5086350"/>
              <a:ext cx="885825" cy="114300"/>
            </a:xfrm>
            <a:prstGeom prst="roundRect">
              <a:avLst>
                <a:gd name="adj" fmla="val 16667"/>
              </a:avLst>
            </a:prstGeom>
            <a:solidFill>
              <a:srgbClr val="8899BB">
                <a:alpha val="30000"/>
              </a:srgbClr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750618" y="5085874"/>
              <a:ext cx="7011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~$1.9B 10%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750868" y="50858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周期性广告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750570" y="5503545"/>
            <a:ext cx="5734145" cy="354330"/>
            <a:chOff x="750570" y="5503545"/>
            <a:chExt cx="5734145" cy="354330"/>
          </a:xfrm>
        </p:grpSpPr>
        <p:sp>
          <p:nvSpPr>
            <p:cNvPr id="129" name="TextBox 129"/>
            <p:cNvSpPr txBox="1"/>
            <p:nvPr/>
          </p:nvSpPr>
          <p:spPr>
            <a:xfrm>
              <a:off x="750570" y="5503545"/>
              <a:ext cx="56815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3A5C"/>
                  </a:solidFill>
                  <a:latin typeface="Arial"/>
                  <a:ea typeface="Microsoft YaHei"/>
                  <a:cs typeface="Arial"/>
                </a:rPr>
                <a:t>* FY26E EPS $23.31 为非 GAAP 共识（加回 SBC ~$7/股 + 收购摊销）。GAAP EPS 明显低于此值。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50570" y="5674995"/>
              <a:ext cx="5734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3A5C"/>
                  </a:solidFill>
                  <a:latin typeface="Arial"/>
                  <a:ea typeface="Microsoft YaHei"/>
                  <a:cs typeface="Arial"/>
                </a:rPr>
                <a:t>股票激励（SBC）占营收 10.4%（FY25）— 高于同类中位数 ~7%；但净股数持平（回购抵消摊薄）。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132" name="Rectangle 132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投资论点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1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63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33" grpId="0"/>
      <p:bldP spid="44" grpId="0"/>
      <p:bldP spid="55" grpId="0"/>
      <p:bldP spid="67" grpId="0"/>
      <p:bldP spid="78" grpId="0"/>
      <p:bldP spid="81" grpId="0"/>
      <p:bldP spid="86" grpId="0"/>
      <p:bldP spid="91" grpId="0"/>
      <p:bldP spid="96" grpId="0"/>
      <p:bldP spid="101" grpId="0"/>
      <p:bldP spid="104" grpId="0"/>
      <p:bldP spid="110" grpId="0"/>
      <p:bldP spid="116" grpId="0"/>
      <p:bldP spid="122" grpId="0"/>
      <p:bldP spid="128" grpId="0"/>
      <p:bldP spid="131" grpId="0"/>
      <p:bldP spid="1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994386" y="2447925"/>
            <a:ext cx="3346228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473321" cy="198120"/>
            <a:chOff x="749618" y="2656999"/>
            <a:chExt cx="473321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第二章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2491359" cy="792480"/>
            <a:chOff x="712470" y="3007995"/>
            <a:chExt cx="2491359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业务质量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2228850" cy="304800"/>
            <a:chOff x="742950" y="3838575"/>
            <a:chExt cx="2228850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护城河、管理层与增长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商业模式与护城河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838200"/>
            <a:ext cx="5314950" cy="5334000"/>
            <a:chOff x="571500" y="838200"/>
            <a:chExt cx="5314950" cy="5334000"/>
          </a:xfrm>
        </p:grpSpPr>
        <p:sp>
          <p:nvSpPr>
            <p:cNvPr id="9" name="Rectangle 9"/>
            <p:cNvSpPr/>
            <p:nvPr/>
          </p:nvSpPr>
          <p:spPr>
            <a:xfrm>
              <a:off x="571500" y="838200"/>
              <a:ext cx="5314950" cy="5334000"/>
            </a:xfrm>
            <a:prstGeom prst="roundRect">
              <a:avLst>
                <a:gd name="adj" fmla="val 7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838200"/>
              <a:ext cx="531495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618" y="10758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商业模式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712" y="13644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SaaS 平台（~55% 营收）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1590199"/>
              <a:ext cx="3214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Online（750 万订阅用户）+ 工资单 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1761649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支付。NRR &gt;100% — ARPU 提升驱动增长。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01930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7712" y="2145506"/>
              <a:ext cx="2012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消费者报税（~29% 营收）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2371249"/>
              <a:ext cx="27588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TurboTax：美国数字报税市场 ~37% 份额。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254269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按次收费 + 年度订阅混合模式。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80035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7712" y="2926556"/>
              <a:ext cx="26854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广告变现 — Credit Karma（~10%）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15229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1.3 亿+ 会员，CPC/CPA 金融产品推荐。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3237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具有周期性，高利率环境下承压。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8140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3723799"/>
              <a:ext cx="19236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管理层 — 评级：B（待观察）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9618" y="3952399"/>
              <a:ext cx="29297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Goodarzi：QuickBooks SaaS 转型执行良好；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123849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$120 亿 Mailchimp 收购整合令人失望。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295299"/>
              <a:ext cx="32856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AI 战略透明度低，无 Intuit Assist 变现数据披露。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76950" y="838200"/>
            <a:ext cx="9525" cy="5334000"/>
            <a:chOff x="6076950" y="838200"/>
            <a:chExt cx="9525" cy="5334000"/>
          </a:xfrm>
        </p:grpSpPr>
        <p:sp>
          <p:nvSpPr>
            <p:cNvPr id="29" name="Rectangle 29"/>
            <p:cNvSpPr/>
            <p:nvPr/>
          </p:nvSpPr>
          <p:spPr>
            <a:xfrm>
              <a:off x="6076950" y="838200"/>
              <a:ext cx="9525" cy="5334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6305550" y="838200"/>
            <a:ext cx="5314950" cy="5334000"/>
            <a:chOff x="6305550" y="838200"/>
            <a:chExt cx="5314950" cy="5334000"/>
          </a:xfrm>
        </p:grpSpPr>
        <p:sp>
          <p:nvSpPr>
            <p:cNvPr id="31" name="Rectangle 31"/>
            <p:cNvSpPr/>
            <p:nvPr/>
          </p:nvSpPr>
          <p:spPr>
            <a:xfrm>
              <a:off x="6305550" y="838200"/>
              <a:ext cx="5314950" cy="5334000"/>
            </a:xfrm>
            <a:prstGeom prst="roundRect">
              <a:avLst>
                <a:gd name="adj" fmla="val 7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05550" y="838200"/>
              <a:ext cx="531495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83668" y="10758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竞争护城河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96050" y="133350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165" y="1410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税务数据锁定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5118" y="1609249"/>
              <a:ext cx="30578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多年 IRS 记录 + 州税结转项目 = 极高切换成本。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6050" y="200025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4165" y="2077402"/>
              <a:ext cx="2079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QuickBooks 会计师生态系统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5118" y="2275999"/>
              <a:ext cx="31646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全美会计行业围绕 QB 格式构建 — 真实网络效应。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96050" y="266700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4165" y="2744152"/>
              <a:ext cx="23775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1 亿+ 税务数据集（AI 训练优势）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5118" y="2942749"/>
              <a:ext cx="2958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美国最大私有税务数据集 — 真实 AI 训练优势。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96050" y="3333750"/>
              <a:ext cx="47625" cy="514350"/>
            </a:xfrm>
            <a:prstGeom prst="roundRect">
              <a:avLst>
                <a:gd name="adj" fmla="val 4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4165" y="34109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IRS 集成监管护城河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60949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特定表格类型的数据合作关系形成监管壁垒。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96050" y="409575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83668" y="42762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护城河结论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96050" y="4514850"/>
              <a:ext cx="4953000" cy="571500"/>
            </a:xfrm>
            <a:prstGeom prst="roundRect">
              <a:avLst>
                <a:gd name="adj" fmla="val 6667"/>
              </a:avLst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6050" y="4514850"/>
              <a:ext cx="38100" cy="571500"/>
            </a:xfrm>
            <a:prstGeom prst="rect">
              <a:avLst/>
            </a:prstGeom>
            <a:solidFill>
              <a:srgbClr val="F0A03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35115" y="463010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窄护城河 — 3 年窗口至关重要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36068" y="4828699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今日切换成本有效；技术复制壁垒基本消失。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53" name="Rectangle 53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业务质量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30" grpId="0"/>
      <p:bldP spid="52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增长催化剂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096500" y="1905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4CAF82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096500" y="190500"/>
              <a:ext cx="15240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4CAF8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46757" y="293370"/>
              <a:ext cx="10234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FY26–FY28 展望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952500"/>
            <a:ext cx="7449264" cy="571500"/>
            <a:chOff x="571500" y="952500"/>
            <a:chExt cx="7449264" cy="571500"/>
          </a:xfrm>
        </p:grpSpPr>
        <p:sp>
          <p:nvSpPr>
            <p:cNvPr id="12" name="Rectangle 12"/>
            <p:cNvSpPr/>
            <p:nvPr/>
          </p:nvSpPr>
          <p:spPr>
            <a:xfrm>
              <a:off x="571500" y="9525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2008" y="1043464"/>
              <a:ext cx="26328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AI 驱动成本重组 — 利润率扩张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865" y="1296352"/>
              <a:ext cx="71958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裁员 17% 目标 FY26 非GAAP 运营利润率提升。若 AI 内部使用在客户流失前证明价值，效率叙事即为上行。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95450"/>
            <a:ext cx="8323374" cy="571500"/>
            <a:chOff x="571500" y="1695450"/>
            <a:chExt cx="8323374" cy="571500"/>
          </a:xfrm>
        </p:grpSpPr>
        <p:sp>
          <p:nvSpPr>
            <p:cNvPr id="16" name="Rectangle 16"/>
            <p:cNvSpPr/>
            <p:nvPr/>
          </p:nvSpPr>
          <p:spPr>
            <a:xfrm>
              <a:off x="571500" y="16954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008" y="1786414"/>
              <a:ext cx="22711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Assist 付费层变现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039302"/>
              <a:ext cx="8070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和 TurboTax 高级 AI 层发布。目标：付费渗透率 &gt;5% 且披露单位经济数据。是乐观论点的关键二元变量。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438400"/>
            <a:ext cx="6690169" cy="571500"/>
            <a:chOff x="571500" y="2438400"/>
            <a:chExt cx="6690169" cy="571500"/>
          </a:xfrm>
        </p:grpSpPr>
        <p:sp>
          <p:nvSpPr>
            <p:cNvPr id="20" name="Rectangle 20"/>
            <p:cNvSpPr/>
            <p:nvPr/>
          </p:nvSpPr>
          <p:spPr>
            <a:xfrm>
              <a:off x="571500" y="24384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2008" y="2529364"/>
              <a:ext cx="41481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国际 QuickBooks 扩张（英国、澳洲、加拿大）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4865" y="2782252"/>
              <a:ext cx="64368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相对美国市场仍严重欠渗透。全球 SMB 会计软件 TAM ~$500 亿，年增 12% — 用户增长跑道大。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181350"/>
            <a:ext cx="6069092" cy="571500"/>
            <a:chOff x="571500" y="3181350"/>
            <a:chExt cx="6069092" cy="571500"/>
          </a:xfrm>
        </p:grpSpPr>
        <p:sp>
          <p:nvSpPr>
            <p:cNvPr id="24" name="Rectangle 24"/>
            <p:cNvSpPr/>
            <p:nvPr/>
          </p:nvSpPr>
          <p:spPr>
            <a:xfrm>
              <a:off x="571500" y="31813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2008" y="3272314"/>
              <a:ext cx="3806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Enterprise Suite — 向中端市场进军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525202"/>
              <a:ext cx="5815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目标 1,000+ 员工企业，逃脱纯 SMB AI 破坏风险。更高 ARPU、更低流失率的用户群。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3924300"/>
            <a:ext cx="5448014" cy="571500"/>
            <a:chOff x="571500" y="3924300"/>
            <a:chExt cx="5448014" cy="571500"/>
          </a:xfrm>
        </p:grpSpPr>
        <p:sp>
          <p:nvSpPr>
            <p:cNvPr id="28" name="Rectangle 28"/>
            <p:cNvSpPr/>
            <p:nvPr/>
          </p:nvSpPr>
          <p:spPr>
            <a:xfrm>
              <a:off x="571500" y="39243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2008" y="4015264"/>
              <a:ext cx="24959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Credit Karma 金融产品扩张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4865" y="4268152"/>
              <a:ext cx="51946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1.3 亿+ 会员基础在消费信贷环境改善后可变现。周期性期权 — 边际成本低。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762500"/>
            <a:ext cx="11049000" cy="835819"/>
            <a:chOff x="571500" y="4762500"/>
            <a:chExt cx="11049000" cy="835819"/>
          </a:xfrm>
        </p:grpSpPr>
        <p:sp>
          <p:nvSpPr>
            <p:cNvPr id="32" name="Rectangle 32"/>
            <p:cNvSpPr/>
            <p:nvPr/>
          </p:nvSpPr>
          <p:spPr>
            <a:xfrm>
              <a:off x="571500" y="47625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4942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关键监控触发条件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5171599"/>
              <a:ext cx="74722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2026-08-20 Q4 FY26：QuickBooks 净增用户 · TurboTax 市占 ≥35% · Intuit Assist 付费指标 · FY27 指引 ≥$230 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5400199"/>
              <a:ext cx="5371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技术面：MA50 收复（预计 $370–$395）且量比 ≥1.5x — Stage 1 筑底确认后方可入场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7" name="Rectangle 37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业务质量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  <p:bldP spid="27" grpId="0"/>
      <p:bldP spid="31" grpId="0"/>
      <p:bldP spid="36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06493" y="2933700"/>
            <a:ext cx="3922014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III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473321" cy="198120"/>
            <a:chOff x="749618" y="2656999"/>
            <a:chExt cx="473321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第三章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3089434" cy="792480"/>
            <a:chOff x="712470" y="3007995"/>
            <a:chExt cx="3089434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308943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风险与宏观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2009775" cy="304800"/>
            <a:chOff x="742950" y="3838575"/>
            <a:chExt cx="2009775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主要风险与宏观背景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关键风险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952500"/>
            <a:ext cx="8898445" cy="571500"/>
            <a:chOff x="571500" y="952500"/>
            <a:chExt cx="8898445" cy="571500"/>
          </a:xfrm>
        </p:grpSpPr>
        <p:sp>
          <p:nvSpPr>
            <p:cNvPr id="9" name="Rectangle 9"/>
            <p:cNvSpPr/>
            <p:nvPr/>
          </p:nvSpPr>
          <p:spPr>
            <a:xfrm>
              <a:off x="571500" y="9525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008" y="1043464"/>
              <a:ext cx="45196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TurboTax AI 替代加速 ［影响：关键 · 概率：35%］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4865" y="1296352"/>
              <a:ext cx="8645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免费 LLM 可复制 TurboTax Basic 价值（$89/次报税）。IRS Direct File 已覆盖 25 个州，直接竞争免费版。最大结构性风险。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695450"/>
            <a:ext cx="6743843" cy="571500"/>
            <a:chOff x="571500" y="1695450"/>
            <a:chExt cx="6743843" cy="571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954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2008" y="1786414"/>
              <a:ext cx="326831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Assist 变现失败 ［高 · 40%］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865" y="2039302"/>
              <a:ext cx="6490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推出 24 个月无付费数据。若用户不为 AI 付费，效率叙事崩塌。风险矩阵中概率最高的风险项。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438400"/>
            <a:ext cx="7280577" cy="571500"/>
            <a:chOff x="571500" y="2438400"/>
            <a:chExt cx="7280577" cy="571500"/>
          </a:xfrm>
        </p:grpSpPr>
        <p:sp>
          <p:nvSpPr>
            <p:cNvPr id="17" name="Rectangle 17"/>
            <p:cNvSpPr/>
            <p:nvPr/>
          </p:nvSpPr>
          <p:spPr>
            <a:xfrm>
              <a:off x="571500" y="24384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2008" y="2529364"/>
              <a:ext cx="25937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裁员后执行风险 ［高 · 30%］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4865" y="2782252"/>
              <a:ext cx="7027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3,300 人 = 公司历史上最大规模裁员。在最关键 AI 转型窗口期损失机构知识，产品叙事自我强化受损。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219450"/>
            <a:ext cx="11049000" cy="1143000"/>
            <a:chOff x="571500" y="3219450"/>
            <a:chExt cx="110490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571500" y="32194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618" y="33808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其他风险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36004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8899B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865" y="3715702"/>
              <a:ext cx="70195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QuickBooks SMB 净用户下降 — FY27 净流失概率 25%（Bench、Pilot、Xero AI 等 AI 原生竞争者加速）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401955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8899B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4865" y="4134802"/>
              <a:ext cx="56700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估值继续压缩 — AI 破坏叙事持续则 8-9x FWD PE 可能（vs 当前 13.2x），概率 40%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629150"/>
            <a:ext cx="11049000" cy="933450"/>
            <a:chOff x="571500" y="4629150"/>
            <a:chExt cx="11049000" cy="933450"/>
          </a:xfrm>
        </p:grpSpPr>
        <p:sp>
          <p:nvSpPr>
            <p:cNvPr id="28" name="Rectangle 28"/>
            <p:cNvSpPr/>
            <p:nvPr/>
          </p:nvSpPr>
          <p:spPr>
            <a:xfrm>
              <a:off x="571500" y="46291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618" y="47905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宏观背景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5029200"/>
              <a:ext cx="11049000" cy="533400"/>
            </a:xfrm>
            <a:prstGeom prst="roundRect">
              <a:avLst>
                <a:gd name="adj" fmla="val 7143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5029200"/>
              <a:ext cx="38100" cy="5334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9615" y="5144452"/>
              <a:ext cx="82463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AI 去中间化风险对 INTU 而言是政策层面威胁 — IRS Direct File 扩张至全部 50 州将移除 TurboTax 联邦免费版存在理由。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9615" y="5334952"/>
              <a:ext cx="7149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Intuit Assist 大规模推理成本 = 毛利率可能下行 100–200bp（从当前 79.5%），若 ARPU 提升无法抵消。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5" name="Rectangle 35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618" y="65336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风险与宏观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7" grpId="0"/>
      <p:bldP spid="34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98504" y="2933700"/>
            <a:ext cx="3737991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IV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473321" cy="198120"/>
            <a:chOff x="749618" y="2656999"/>
            <a:chExt cx="473321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第四章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4285583" cy="792480"/>
            <a:chOff x="712470" y="3007995"/>
            <a:chExt cx="4285583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428558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估值与情景分析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3105150" cy="304800"/>
            <a:chOff x="742950" y="3838575"/>
            <a:chExt cx="3105150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31051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估值倍数、同类对比与路径分析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64760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估值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0" y="1905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4CAF82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06000" y="190500"/>
              <a:ext cx="17145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4CAF8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7768" y="293370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历史估值低谷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847249"/>
            <a:ext cx="11049000" cy="198120"/>
            <a:chOff x="571500" y="847249"/>
            <a:chExt cx="11049000" cy="198120"/>
          </a:xfrm>
        </p:grpSpPr>
        <p:sp>
          <p:nvSpPr>
            <p:cNvPr id="12" name="TextBox 12"/>
            <p:cNvSpPr txBox="1"/>
            <p:nvPr/>
          </p:nvSpPr>
          <p:spPr>
            <a:xfrm>
              <a:off x="749618" y="847249"/>
              <a:ext cx="1886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关键估值倍数 — INTU @ $307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0287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1066800"/>
            <a:ext cx="11049000" cy="257175"/>
            <a:chOff x="571500" y="1066800"/>
            <a:chExt cx="11049000" cy="257175"/>
          </a:xfrm>
        </p:grpSpPr>
        <p:sp>
          <p:nvSpPr>
            <p:cNvPr id="15" name="Rectangle 15"/>
            <p:cNvSpPr/>
            <p:nvPr/>
          </p:nvSpPr>
          <p:spPr>
            <a:xfrm>
              <a:off x="571500" y="1066800"/>
              <a:ext cx="11049000" cy="24765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0570" y="114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指标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5070" y="11410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当前值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89070" y="1141095"/>
              <a:ext cx="8854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 历史均值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3570" y="114109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行业中位数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0" y="1141095"/>
              <a:ext cx="7681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vs 历史均值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23070" y="11410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研判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314450"/>
            <a:ext cx="11049000" cy="254794"/>
            <a:chOff x="571500" y="1314450"/>
            <a:chExt cx="11049000" cy="254794"/>
          </a:xfrm>
        </p:grpSpPr>
        <p:sp>
          <p:nvSpPr>
            <p:cNvPr id="23" name="Rectangle 23"/>
            <p:cNvSpPr/>
            <p:nvPr/>
          </p:nvSpPr>
          <p:spPr>
            <a:xfrm>
              <a:off x="571500" y="13144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618" y="13711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P/E FWD（非GAAP）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64118" y="13711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13.2x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88118" y="13711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30–40x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2618" y="13711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18x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2368" y="1371124"/>
              <a:ext cx="6655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-65% 折价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3070" y="137922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低谷；叙事驱动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543050"/>
            <a:ext cx="11049000" cy="254794"/>
            <a:chOff x="571500" y="1543050"/>
            <a:chExt cx="11049000" cy="254794"/>
          </a:xfrm>
        </p:grpSpPr>
        <p:sp>
          <p:nvSpPr>
            <p:cNvPr id="31" name="Rectangle 31"/>
            <p:cNvSpPr/>
            <p:nvPr/>
          </p:nvSpPr>
          <p:spPr>
            <a:xfrm>
              <a:off x="571500" y="15430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9618" y="159972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P/FCF（FY25 FCF $60.8亿）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64118" y="15997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14.0x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88118" y="159972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~35–50x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02618" y="15997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~25x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2368" y="1599724"/>
              <a:ext cx="1050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FCF 收益率 7.1%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3070" y="1607820"/>
              <a:ext cx="13307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优质 FCF，极具吸引力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771650"/>
            <a:ext cx="11049000" cy="254794"/>
            <a:chOff x="571500" y="1771650"/>
            <a:chExt cx="11049000" cy="254794"/>
          </a:xfrm>
        </p:grpSpPr>
        <p:sp>
          <p:nvSpPr>
            <p:cNvPr id="39" name="Rectangle 39"/>
            <p:cNvSpPr/>
            <p:nvPr/>
          </p:nvSpPr>
          <p:spPr>
            <a:xfrm>
              <a:off x="571500" y="17716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618" y="1828324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EV/营收（FY26E $212亿）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64118" y="18283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88118" y="18283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7–10x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2618" y="1828324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4.2x（ADBE、CRM）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12368" y="18283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与同类持平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23070" y="18364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已充分计入破坏折价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2000250"/>
            <a:ext cx="11049000" cy="254794"/>
            <a:chOff x="571500" y="2000250"/>
            <a:chExt cx="11049000" cy="254794"/>
          </a:xfrm>
        </p:grpSpPr>
        <p:sp>
          <p:nvSpPr>
            <p:cNvPr id="47" name="Rectangle 47"/>
            <p:cNvSpPr/>
            <p:nvPr/>
          </p:nvSpPr>
          <p:spPr>
            <a:xfrm>
              <a:off x="571500" y="20002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618" y="205692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EV/EBITDA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64118" y="20569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~15.7x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88118" y="205692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~30–40x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02618" y="205692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~20x SaaS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12368" y="20569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低于同类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23070" y="20650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优质 SaaS 价值价格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2390299"/>
            <a:ext cx="11049000" cy="198120"/>
            <a:chOff x="571500" y="2390299"/>
            <a:chExt cx="11049000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749618" y="23902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同类对比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25717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71500" y="2609850"/>
            <a:ext cx="11049000" cy="257175"/>
            <a:chOff x="571500" y="2609850"/>
            <a:chExt cx="11049000" cy="257175"/>
          </a:xfrm>
        </p:grpSpPr>
        <p:sp>
          <p:nvSpPr>
            <p:cNvPr id="58" name="Rectangle 58"/>
            <p:cNvSpPr/>
            <p:nvPr/>
          </p:nvSpPr>
          <p:spPr>
            <a:xfrm>
              <a:off x="571500" y="2609850"/>
              <a:ext cx="11049000" cy="247650"/>
            </a:xfrm>
            <a:prstGeom prst="rect">
              <a:avLst/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0570" y="26841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代码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03070" y="26841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市值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36570" y="2684145"/>
              <a:ext cx="5956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TTM 营收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274820" y="2684145"/>
              <a:ext cx="5266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EV/营收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17820" y="2684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营收增速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41820" y="268414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毛利率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61070" y="2684145"/>
              <a:ext cx="547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P/E FWD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94570" y="268414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盈利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2857500"/>
            <a:ext cx="11049000" cy="264319"/>
            <a:chOff x="571500" y="2857500"/>
            <a:chExt cx="11049000" cy="264319"/>
          </a:xfrm>
        </p:grpSpPr>
        <p:sp>
          <p:nvSpPr>
            <p:cNvPr id="68" name="Rectangle 68"/>
            <p:cNvSpPr/>
            <p:nvPr/>
          </p:nvSpPr>
          <p:spPr>
            <a:xfrm>
              <a:off x="571500" y="2857500"/>
              <a:ext cx="11049000" cy="247650"/>
            </a:xfrm>
            <a:prstGeom prst="rect">
              <a:avLst/>
            </a:prstGeom>
            <a:solidFill>
              <a:srgbClr val="1A2A44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1500" y="2857500"/>
              <a:ext cx="38100" cy="2476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9618" y="29236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INTU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702118" y="2923699"/>
              <a:ext cx="480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$854亿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35618" y="2923699"/>
              <a:ext cx="444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$201亿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273868" y="29236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416868" y="292369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+17.4%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40868" y="292369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79.5%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560118" y="2923699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13.2x*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93618" y="2923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3105150"/>
            <a:ext cx="11049000" cy="254794"/>
            <a:chOff x="571500" y="3105150"/>
            <a:chExt cx="11049000" cy="254794"/>
          </a:xfrm>
        </p:grpSpPr>
        <p:sp>
          <p:nvSpPr>
            <p:cNvPr id="79" name="Rectangle 79"/>
            <p:cNvSpPr/>
            <p:nvPr/>
          </p:nvSpPr>
          <p:spPr>
            <a:xfrm>
              <a:off x="571500" y="3105150"/>
              <a:ext cx="11049000" cy="228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9618" y="31618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ADBE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702118" y="3161824"/>
              <a:ext cx="480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$987亿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035618" y="3161824"/>
              <a:ext cx="4804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$245亿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273868" y="31618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416868" y="31618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+12.0%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40868" y="31618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89.4%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60118" y="31618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~20x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93618" y="31618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71500" y="3333750"/>
            <a:ext cx="11049000" cy="254794"/>
            <a:chOff x="571500" y="3333750"/>
            <a:chExt cx="11049000" cy="254794"/>
          </a:xfrm>
        </p:grpSpPr>
        <p:sp>
          <p:nvSpPr>
            <p:cNvPr id="89" name="Rectangle 89"/>
            <p:cNvSpPr/>
            <p:nvPr/>
          </p:nvSpPr>
          <p:spPr>
            <a:xfrm>
              <a:off x="571500" y="3333750"/>
              <a:ext cx="11049000" cy="2286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49618" y="3390424"/>
              <a:ext cx="2882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CRM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702118" y="3390424"/>
              <a:ext cx="5231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$1442亿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035618" y="3390424"/>
              <a:ext cx="444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$415亿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273868" y="33904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4.2x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416868" y="3390424"/>
              <a:ext cx="4234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+12.1%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40868" y="3390424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77.7%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60118" y="3390424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~22x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893618" y="33904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571500" y="3771900"/>
            <a:ext cx="11049000" cy="1028700"/>
            <a:chOff x="571500" y="3771900"/>
            <a:chExt cx="11049000" cy="1028700"/>
          </a:xfrm>
        </p:grpSpPr>
        <p:sp>
          <p:nvSpPr>
            <p:cNvPr id="99" name="Rectangle 99"/>
            <p:cNvSpPr/>
            <p:nvPr/>
          </p:nvSpPr>
          <p:spPr>
            <a:xfrm>
              <a:off x="571500" y="37719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49618" y="39333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估值研判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71500" y="4152900"/>
              <a:ext cx="11049000" cy="647700"/>
            </a:xfrm>
            <a:prstGeom prst="roundRect">
              <a:avLst>
                <a:gd name="adj" fmla="val 588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71500" y="4152900"/>
              <a:ext cx="38100" cy="647700"/>
            </a:xfrm>
            <a:prstGeom prst="rect">
              <a:avLst/>
            </a:prstGeom>
            <a:solidFill>
              <a:srgbClr val="4CAF82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28662" y="4279106"/>
              <a:ext cx="72399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INTU 以大市值历史最低 EV/营收（3.9x FY26E）交易 — 与 ADBE/CRM 持平，但营收增速更高。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29615" y="4534852"/>
              <a:ext cx="69275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AI 破坏折价已充分定价。13.2x 非GAAP FWD PE 隐含市场对结构性损害的定价，而财务数据尚未体现。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571500" y="5010150"/>
            <a:ext cx="11049000" cy="816769"/>
            <a:chOff x="571500" y="5010150"/>
            <a:chExt cx="11049000" cy="816769"/>
          </a:xfrm>
        </p:grpSpPr>
        <p:sp>
          <p:nvSpPr>
            <p:cNvPr id="106" name="Rectangle 106"/>
            <p:cNvSpPr/>
            <p:nvPr/>
          </p:nvSpPr>
          <p:spPr>
            <a:xfrm>
              <a:off x="571500" y="50101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49618" y="5171599"/>
              <a:ext cx="24768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分析师共识（财报后，32 位分析师）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9618" y="5400199"/>
              <a:ext cx="87822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暴跌后均值目标价：~$437 · 暴跌前中位数：$578 · 区间：$360（UBS/Wells）– $591（花旗）· 2026-05-21 有 13 家下调目标价 · 1 家降级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49618" y="5628799"/>
              <a:ext cx="63615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评级共识：强力买入（1.47 分，32 位分析师）— 市场与分析师共识背离；跟随价格行为，而非目标价</a:t>
              </a: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750570" y="5998845"/>
            <a:ext cx="66542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* 非GAAP 共识 FY26 EPS $23.31。GAAP 市盈率显著更高。INTU @ $307 = 3.9x FY26E EV/营收 — 大市值历史最低。</a:t>
            </a:r>
          </a:p>
        </p:txBody>
      </p:sp>
      <p:grpSp>
        <p:nvGrpSpPr>
          <p:cNvPr id="116" name="Group 116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112" name="Rectangle 112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49618" y="65336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估值与情景分析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1332178" y="6533674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30" grpId="0"/>
      <p:bldP spid="38" grpId="0"/>
      <p:bldP spid="46" grpId="0"/>
      <p:bldP spid="54" grpId="0"/>
      <p:bldP spid="57" grpId="0"/>
      <p:bldP spid="78" grpId="0"/>
      <p:bldP spid="88" grpId="0"/>
      <p:bldP spid="98" grpId="0"/>
      <p:bldP spid="105" grpId="0"/>
      <p:bldP spid="110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情景分析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838200"/>
            <a:ext cx="3409950" cy="5219700"/>
            <a:chOff x="571500" y="838200"/>
            <a:chExt cx="3409950" cy="5219700"/>
          </a:xfrm>
        </p:grpSpPr>
        <p:sp>
          <p:nvSpPr>
            <p:cNvPr id="9" name="Rectangle 9"/>
            <p:cNvSpPr/>
            <p:nvPr/>
          </p:nvSpPr>
          <p:spPr>
            <a:xfrm>
              <a:off x="571500" y="838200"/>
              <a:ext cx="3409950" cy="52197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838200"/>
              <a:ext cx="3409950" cy="38100"/>
            </a:xfrm>
            <a:prstGeom prst="rect">
              <a:avLst/>
            </a:prstGeom>
            <a:solidFill>
              <a:srgbClr val="4CAF8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54803" y="1111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乐观情景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3500" y="1390650"/>
              <a:ext cx="1905000" cy="266700"/>
            </a:xfrm>
            <a:prstGeom prst="roundRect">
              <a:avLst>
                <a:gd name="adj" fmla="val 50000"/>
              </a:avLst>
            </a:prstGeom>
            <a:solidFill>
              <a:srgbClr val="1A3A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54650" y="1458278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概率 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78588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59502" y="22440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+63%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69385" y="2847499"/>
              <a:ext cx="18332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Intuit Assist 付费渗透 &gt;10%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01425" y="3037999"/>
              <a:ext cx="1769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订阅留存 ≥95%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18583" y="3228499"/>
              <a:ext cx="13348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 市占 ≥35%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4145" y="3418999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重新定价至 18–19x FWD PE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957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68029" y="39142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FY27E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32181" y="4123849"/>
              <a:ext cx="9076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营收：$260亿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5986" y="4314349"/>
              <a:ext cx="1940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倍数：18.9x FY27 非GAAP EPS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91025" y="838200"/>
            <a:ext cx="3409950" cy="5219700"/>
            <a:chOff x="4391025" y="838200"/>
            <a:chExt cx="3409950" cy="5219700"/>
          </a:xfrm>
        </p:grpSpPr>
        <p:sp>
          <p:nvSpPr>
            <p:cNvPr id="26" name="Rectangle 26"/>
            <p:cNvSpPr/>
            <p:nvPr/>
          </p:nvSpPr>
          <p:spPr>
            <a:xfrm>
              <a:off x="4391025" y="838200"/>
              <a:ext cx="3409950" cy="52197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91025" y="838200"/>
              <a:ext cx="340995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4803" y="1111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基准情景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143500" y="1390650"/>
              <a:ext cx="1905000" cy="266700"/>
            </a:xfrm>
            <a:prstGeom prst="roundRect">
              <a:avLst>
                <a:gd name="adj" fmla="val 50000"/>
              </a:avLst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64650" y="1458278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概率 50%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88588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$355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04006" y="2244090"/>
              <a:ext cx="5839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+16%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72025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14343" y="284749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营收增速 10–12% 维持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40226" y="3037999"/>
              <a:ext cx="19115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倍数在 13–14x 停留 12–18 个月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38942" y="3228499"/>
              <a:ext cx="11141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AI 验证延至 FY28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71624" y="34189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护城河对抗竞争者有效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72025" y="36957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78029" y="39142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FY27E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42181" y="4123849"/>
              <a:ext cx="9076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营收：$240亿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25986" y="4314349"/>
              <a:ext cx="1940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倍数：13.4x FY27 非GAAP EPS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10550" y="838200"/>
            <a:ext cx="3409950" cy="5219700"/>
            <a:chOff x="8210550" y="838200"/>
            <a:chExt cx="3409950" cy="5219700"/>
          </a:xfrm>
        </p:grpSpPr>
        <p:sp>
          <p:nvSpPr>
            <p:cNvPr id="43" name="Rectangle 43"/>
            <p:cNvSpPr/>
            <p:nvPr/>
          </p:nvSpPr>
          <p:spPr>
            <a:xfrm>
              <a:off x="8210550" y="838200"/>
              <a:ext cx="3409950" cy="52197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10550" y="838200"/>
              <a:ext cx="3409950" cy="38100"/>
            </a:xfrm>
            <a:prstGeom prst="rect">
              <a:avLst/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84328" y="1111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悲观情景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963025" y="1390650"/>
              <a:ext cx="1905000" cy="266700"/>
            </a:xfrm>
            <a:prstGeom prst="roundRect">
              <a:avLst>
                <a:gd name="adj" fmla="val 50000"/>
              </a:avLst>
            </a:prstGeom>
            <a:solidFill>
              <a:srgbClr val="3A1A1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84175" y="1458278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概率 30%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2872" y="1674495"/>
              <a:ext cx="1265306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$210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89027" y="22440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-32%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82025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44869" y="2847499"/>
              <a:ext cx="15413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 市占低于 30%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95350" y="3037999"/>
              <a:ext cx="1840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QuickBooks 净订阅用户下滑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76267" y="3228499"/>
              <a:ext cx="1078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营收增速低于 8%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69147" y="34189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倍数压缩至 8–9x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82025" y="36957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97554" y="391429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FY27E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1706" y="4123849"/>
              <a:ext cx="9076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营收：$220亿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27711" y="4314349"/>
              <a:ext cx="19756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倍数：8.75x FY27 非GAAP EPS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6011228"/>
            <a:ext cx="11049000" cy="213360"/>
            <a:chOff x="571500" y="6011228"/>
            <a:chExt cx="11049000" cy="213360"/>
          </a:xfrm>
        </p:grpSpPr>
        <p:sp>
          <p:nvSpPr>
            <p:cNvPr id="60" name="Rectangle 60"/>
            <p:cNvSpPr/>
            <p:nvPr/>
          </p:nvSpPr>
          <p:spPr>
            <a:xfrm>
              <a:off x="571500" y="61722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83999" y="6011228"/>
              <a:ext cx="80240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 xml:space="preserve">概率加权预期价值：0.20×$500 + 0.50×$355 + 0.30×$210 = </a:t>
              </a:r>
              <a:r>
                <a:rPr lang="zh-CN" sz="105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$340.50</a:t>
              </a:r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（vs 当前 $307 +10.9%，低于最低收益率要求）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63" name="Rectangle 63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9618" y="65336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估值与情景分析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42" grpId="0"/>
      <p:bldP spid="59" grpId="0"/>
      <p:bldP spid="62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103650" y="2257425"/>
            <a:ext cx="3127700" cy="579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V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38100"/>
            <a:ext cx="38100" cy="6781800"/>
            <a:chOff x="0" y="38100"/>
            <a:chExt cx="38100" cy="6781800"/>
          </a:xfrm>
        </p:grpSpPr>
        <p:sp>
          <p:nvSpPr>
            <p:cNvPr id="6" name="Rectangle 6"/>
            <p:cNvSpPr/>
            <p:nvPr/>
          </p:nvSpPr>
          <p:spPr>
            <a:xfrm>
              <a:off x="0" y="38100"/>
              <a:ext cx="38100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9618" y="2656999"/>
            <a:ext cx="473321" cy="198120"/>
            <a:chOff x="749618" y="2656999"/>
            <a:chExt cx="473321" cy="198120"/>
          </a:xfrm>
        </p:grpSpPr>
        <p:sp>
          <p:nvSpPr>
            <p:cNvPr id="8" name="TextBox 8"/>
            <p:cNvSpPr txBox="1"/>
            <p:nvPr/>
          </p:nvSpPr>
          <p:spPr>
            <a:xfrm>
              <a:off x="749618" y="2656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第五章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70" y="3007995"/>
            <a:ext cx="2491359" cy="792480"/>
            <a:chOff x="712470" y="3007995"/>
            <a:chExt cx="2491359" cy="792480"/>
          </a:xfrm>
        </p:grpSpPr>
        <p:sp>
          <p:nvSpPr>
            <p:cNvPr id="10" name="TextBox 10"/>
            <p:cNvSpPr txBox="1"/>
            <p:nvPr/>
          </p:nvSpPr>
          <p:spPr>
            <a:xfrm>
              <a:off x="712470" y="300799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决策框架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657600"/>
            <a:ext cx="4572000" cy="19050"/>
            <a:chOff x="762000" y="3657600"/>
            <a:chExt cx="4572000" cy="19050"/>
          </a:xfrm>
        </p:grpSpPr>
        <p:sp>
          <p:nvSpPr>
            <p:cNvPr id="12" name="Rectangle 12"/>
            <p:cNvSpPr/>
            <p:nvPr/>
          </p:nvSpPr>
          <p:spPr>
            <a:xfrm>
              <a:off x="762000" y="3657600"/>
              <a:ext cx="4572000" cy="1905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3838575"/>
            <a:ext cx="2064544" cy="304800"/>
            <a:chOff x="742950" y="3838575"/>
            <a:chExt cx="2064544" cy="304800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3838575"/>
              <a:ext cx="20645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BAIT 分析与投资结论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35482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BAIT 框架（Mauboussin）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43500" y="2552700"/>
            <a:ext cx="1905000" cy="457200"/>
            <a:chOff x="5143500" y="2552700"/>
            <a:chExt cx="1905000" cy="457200"/>
          </a:xfrm>
        </p:grpSpPr>
        <p:sp>
          <p:nvSpPr>
            <p:cNvPr id="9" name="Rectangle 9"/>
            <p:cNvSpPr/>
            <p:nvPr/>
          </p:nvSpPr>
          <p:spPr>
            <a:xfrm>
              <a:off x="5143500" y="25527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F0A030">
                <a:alpha val="3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43500" y="2552700"/>
              <a:ext cx="1905000" cy="4572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F0A03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59440" y="2702242"/>
              <a:ext cx="14731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观察（WATCH）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838200"/>
            <a:ext cx="11049000" cy="5334000"/>
            <a:chOff x="571500" y="838200"/>
            <a:chExt cx="11049000" cy="5334000"/>
          </a:xfrm>
        </p:grpSpPr>
        <p:sp>
          <p:nvSpPr>
            <p:cNvPr id="13" name="Rectangle 13"/>
            <p:cNvSpPr/>
            <p:nvPr/>
          </p:nvSpPr>
          <p:spPr>
            <a:xfrm>
              <a:off x="571500" y="33528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838200"/>
              <a:ext cx="9525" cy="5334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838200"/>
            <a:ext cx="5334000" cy="2438400"/>
            <a:chOff x="571500" y="838200"/>
            <a:chExt cx="5334000" cy="2438400"/>
          </a:xfrm>
        </p:grpSpPr>
        <p:sp>
          <p:nvSpPr>
            <p:cNvPr id="16" name="Rectangle 16"/>
            <p:cNvSpPr/>
            <p:nvPr/>
          </p:nvSpPr>
          <p:spPr>
            <a:xfrm>
              <a:off x="571500" y="838200"/>
              <a:ext cx="5334000" cy="2438400"/>
            </a:xfrm>
            <a:prstGeom prst="roundRect">
              <a:avLst>
                <a:gd name="adj" fmla="val 156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103774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B — 行为面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855" y="1283018"/>
              <a:ext cx="23426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中性 — 可能存在过度反应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159019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单日 -20% 暴跌 = 机构清仓事件。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1780699"/>
              <a:ext cx="2652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市场从一次裁员公告外推最坏 AI 破坏情景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19711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— 行为偏差 vs. 真实基本面风险。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838200"/>
            <a:ext cx="5334000" cy="2438400"/>
            <a:chOff x="6286500" y="838200"/>
            <a:chExt cx="53340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6286500" y="838200"/>
              <a:ext cx="5334000" cy="2438400"/>
            </a:xfrm>
            <a:prstGeom prst="roundRect">
              <a:avLst>
                <a:gd name="adj" fmla="val 156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4618" y="103774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 — 分析面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9855" y="128301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看多 — 存在认知优势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1590199"/>
              <a:ext cx="2417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市场混淆"AI 内部提效"（利润率+）与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1780699"/>
              <a:ext cx="28442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"AI 竞争产品"（营收-），两者是独立事件。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1971199"/>
              <a:ext cx="27801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13.2x FWD PE 定价了估计尚未体现的减速。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448050"/>
            <a:ext cx="5334000" cy="2495550"/>
            <a:chOff x="571500" y="3448050"/>
            <a:chExt cx="5334000" cy="2495550"/>
          </a:xfrm>
        </p:grpSpPr>
        <p:sp>
          <p:nvSpPr>
            <p:cNvPr id="30" name="Rectangle 30"/>
            <p:cNvSpPr/>
            <p:nvPr/>
          </p:nvSpPr>
          <p:spPr>
            <a:xfrm>
              <a:off x="571500" y="3448050"/>
              <a:ext cx="5334000" cy="2495550"/>
            </a:xfrm>
            <a:prstGeom prst="roundRect">
              <a:avLst>
                <a:gd name="adj" fmla="val 152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618" y="3647599"/>
              <a:ext cx="690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I — 信息面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4855" y="3892868"/>
              <a:ext cx="2166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看空 — 91 天信息空窗期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618" y="4200049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关键数据须等至 2026-08-20 才披露：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4390549"/>
              <a:ext cx="2652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TurboTax 市占、QuickBooks 净用户数、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4581049"/>
              <a:ext cx="27944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Intuit Assist 付费渗透率。信息劣势明显。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3448050"/>
            <a:ext cx="5334000" cy="2495550"/>
            <a:chOff x="6286500" y="3448050"/>
            <a:chExt cx="5334000" cy="2495550"/>
          </a:xfrm>
        </p:grpSpPr>
        <p:sp>
          <p:nvSpPr>
            <p:cNvPr id="37" name="Rectangle 37"/>
            <p:cNvSpPr/>
            <p:nvPr/>
          </p:nvSpPr>
          <p:spPr>
            <a:xfrm>
              <a:off x="6286500" y="3448050"/>
              <a:ext cx="5334000" cy="2495550"/>
            </a:xfrm>
            <a:prstGeom prst="roundRect">
              <a:avLst>
                <a:gd name="adj" fmla="val 152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4618" y="364759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T — 技术面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9855" y="3892868"/>
              <a:ext cx="15455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看空 — 第 4 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4618" y="420004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52 周新低，所有均线下行，SEPA 趋势模板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43905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条件均未满足。技术面最差设置。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4618" y="4581049"/>
              <a:ext cx="2253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SEPA 铁律：第 4 阶段绝对不入场。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44" name="Rectangle 44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决策框架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22" grpId="0"/>
      <p:bldP spid="29" grpId="0"/>
      <p:bldP spid="36" grpId="0"/>
      <p:bldP spid="43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结论与入场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14750" y="952500"/>
            <a:ext cx="4762500" cy="971550"/>
            <a:chOff x="3714750" y="952500"/>
            <a:chExt cx="4762500" cy="971550"/>
          </a:xfrm>
        </p:grpSpPr>
        <p:sp>
          <p:nvSpPr>
            <p:cNvPr id="9" name="Rectangle 9"/>
            <p:cNvSpPr/>
            <p:nvPr/>
          </p:nvSpPr>
          <p:spPr>
            <a:xfrm>
              <a:off x="3714750" y="952500"/>
              <a:ext cx="4762500" cy="952500"/>
            </a:xfrm>
            <a:prstGeom prst="roundRect">
              <a:avLst>
                <a:gd name="adj" fmla="val 50000"/>
              </a:avLst>
            </a:prstGeom>
            <a:solidFill>
              <a:srgbClr val="F0A03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968160" y="1131570"/>
              <a:ext cx="425568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0A0E1A"/>
                  </a:solidFill>
                  <a:latin typeface="Arial"/>
                  <a:ea typeface="Microsoft YaHei"/>
                  <a:cs typeface="Arial"/>
                </a:rPr>
                <a:t>观察（WATCH）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571500" y="219075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747712" y="2485549"/>
            <a:ext cx="6469380" cy="993457"/>
            <a:chOff x="747712" y="2485549"/>
            <a:chExt cx="6469380" cy="993457"/>
          </a:xfrm>
        </p:grpSpPr>
        <p:sp>
          <p:nvSpPr>
            <p:cNvPr id="13" name="TextBox 13"/>
            <p:cNvSpPr txBox="1"/>
            <p:nvPr/>
          </p:nvSpPr>
          <p:spPr>
            <a:xfrm>
              <a:off x="749618" y="24855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一年展望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712" y="2755106"/>
              <a:ext cx="48016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基准：$355（+16%）。概率加权预期价值：$340.50（+10.9%）。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712" y="3002756"/>
              <a:ext cx="64693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上行：$500+ — 2026 年 8 月财报确认 Intuit Assist 付费牵引 + QuickBooks 增长无虞。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712" y="3250406"/>
              <a:ext cx="34625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下行：$210 — AI 破坏坐实 + 倍数压缩至 8–9x。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6286500" y="2400300"/>
            <a:ext cx="9525" cy="18097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6557962" y="2485549"/>
            <a:ext cx="3980140" cy="993457"/>
            <a:chOff x="6557962" y="2485549"/>
            <a:chExt cx="3980140" cy="993457"/>
          </a:xfrm>
        </p:grpSpPr>
        <p:sp>
          <p:nvSpPr>
            <p:cNvPr id="19" name="TextBox 19"/>
            <p:cNvSpPr txBox="1"/>
            <p:nvPr/>
          </p:nvSpPr>
          <p:spPr>
            <a:xfrm>
              <a:off x="6559868" y="24855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仓位建议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7962" y="2755106"/>
              <a:ext cx="272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当前：0%（第 4 阶段 — 不追跌刀）。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7962" y="3002756"/>
              <a:ext cx="32243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2026 年 8 月验证后：最多 2–3% 初始仓位。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7962" y="3250406"/>
              <a:ext cx="3980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优选正股，不建议 LEAPS（暴跌后隐含波动率偏高）。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441960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9618" y="456199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关键入场触发条件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800600"/>
            <a:ext cx="11049000" cy="609600"/>
          </a:xfrm>
          <a:prstGeom prst="roundRect">
            <a:avLst>
              <a:gd name="adj" fmla="val 625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800600"/>
            <a:ext cx="47625" cy="6096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4918710"/>
            <a:ext cx="47230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收复 MA50（预估 $370–$395），成交量 ≥1.5 倍均量，且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5147310"/>
            <a:ext cx="6011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Q4 FY26 财报（2026-08-20）确认 QuickBooks 增长 + TurboTax 留存。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5590699"/>
            <a:ext cx="51155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止损：入场价 -8%（SEPA 铁律，不可协商）。筑底第 1 阶段仓位不超过组合 3%。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1" name="Rectangle 31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决策框架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23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38100"/>
              <a:ext cx="28575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238500" y="1699260"/>
            <a:ext cx="5715000" cy="291465"/>
            <a:chOff x="3238500" y="1699260"/>
            <a:chExt cx="5715000" cy="291465"/>
          </a:xfrm>
        </p:grpSpPr>
        <p:sp>
          <p:nvSpPr>
            <p:cNvPr id="7" name="TextBox 7"/>
            <p:cNvSpPr txBox="1"/>
            <p:nvPr/>
          </p:nvSpPr>
          <p:spPr>
            <a:xfrm>
              <a:off x="5252656" y="16992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数据来源与免责声明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238500" y="1981200"/>
              <a:ext cx="5715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164794" y="2295049"/>
            <a:ext cx="3862411" cy="426720"/>
            <a:chOff x="4164794" y="2295049"/>
            <a:chExt cx="3862411" cy="426720"/>
          </a:xfrm>
        </p:grpSpPr>
        <p:sp>
          <p:nvSpPr>
            <p:cNvPr id="10" name="TextBox 10"/>
            <p:cNvSpPr txBox="1"/>
            <p:nvPr/>
          </p:nvSpPr>
          <p:spPr>
            <a:xfrm>
              <a:off x="4164794" y="2295049"/>
              <a:ext cx="38624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本报告由结构化 wiki 投资论点生成 — rwh-overlay 投研系统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02029" y="252364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本材料仅供参考，不构成任何投资建议。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990005" y="3018949"/>
            <a:ext cx="6211991" cy="655320"/>
            <a:chOff x="2990005" y="3018949"/>
            <a:chExt cx="6211991" cy="655320"/>
          </a:xfrm>
        </p:grpSpPr>
        <p:sp>
          <p:nvSpPr>
            <p:cNvPr id="13" name="TextBox 13"/>
            <p:cNvSpPr txBox="1"/>
            <p:nvPr/>
          </p:nvSpPr>
          <p:spPr>
            <a:xfrm>
              <a:off x="2990005" y="3018949"/>
              <a:ext cx="6211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数据来源：Yahoo Finance (yfinance) · Intuit Q3 FY26 财报（2026-05-20）· Intuit 10-K FY25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41158" y="3247549"/>
              <a:ext cx="47096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分析师共识：32 位分析师 · Minervini SEPA 框架 · Mauboussin BAIT 框架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06200" y="3476149"/>
              <a:ext cx="5179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市场日报 2026-05-21（rwh-overlay outputs/market/daily/2026-05-21.md）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709821" y="39333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2026-05-21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667250" y="4400550"/>
            <a:ext cx="2857500" cy="342900"/>
            <a:chOff x="4667250" y="4400550"/>
            <a:chExt cx="2857500" cy="342900"/>
          </a:xfrm>
        </p:grpSpPr>
        <p:sp>
          <p:nvSpPr>
            <p:cNvPr id="18" name="Rectangle 18"/>
            <p:cNvSpPr/>
            <p:nvPr/>
          </p:nvSpPr>
          <p:spPr>
            <a:xfrm>
              <a:off x="4667250" y="4400550"/>
              <a:ext cx="2857500" cy="342900"/>
            </a:xfrm>
            <a:prstGeom prst="roundRect">
              <a:avLst>
                <a:gd name="adj" fmla="val 50000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67250" y="4400550"/>
              <a:ext cx="2857500" cy="3429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2A3A5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9744" y="451437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投资研究 · rwh-overlay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