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12192000" cy="38100"/>
            </a:xfrm>
            <a:prstGeom prst="rect">
              <a:avLst/>
            </a:prstGeom>
            <a:solidFill>
              <a:srgbClr val="F5C842"/>
            </a:solidFill>
            <a:ln>
              <a:noFill/>
            </a:ln>
          </p:spPr>
        </p:sp>
        <p:sp>
          <p:nvSpPr>
            <p:cNvPr id="4" name="Rectangle 4"/>
            <p:cNvSpPr/>
            <p:nvPr/>
          </p:nvSpPr>
          <p:spPr>
            <a:xfrm>
              <a:off x="0" y="38100"/>
              <a:ext cx="28575" cy="6819900"/>
            </a:xfrm>
            <a:prstGeom prst="rect">
              <a:avLst/>
            </a:prstGeom>
            <a:solidFill>
              <a:srgbClr val="F5C842"/>
            </a:solidFill>
            <a:ln>
              <a:noFill/>
            </a:ln>
          </p:spPr>
        </p:sp>
      </p:grpSp>
      <p:grpSp>
        <p:nvGrpSpPr>
          <p:cNvPr id="9" name="Group 9"/>
          <p:cNvGrpSpPr/>
          <p:nvPr/>
        </p:nvGrpSpPr>
        <p:grpSpPr>
          <a:xfrm>
            <a:off x="10096500" y="4953000"/>
            <a:ext cx="2095500" cy="1905000"/>
            <a:chOff x="10096500" y="4953000"/>
            <a:chExt cx="2095500" cy="1905000"/>
          </a:xfrm>
        </p:grpSpPr>
        <p:sp>
          <p:nvSpPr>
            <p:cNvPr id="6" name="Polygon 6"/>
            <p:cNvSpPr/>
            <p:nvPr/>
          </p:nvSpPr>
          <p:spPr>
            <a:xfrm>
              <a:off x="10096500" y="4953000"/>
              <a:ext cx="2095500" cy="1905000"/>
            </a:xfrm>
            <a:custGeom>
              <a:avLst/>
              <a:gdLst/>
              <a:ahLst/>
              <a:cxnLst/>
              <a:rect l="l" t="t" r="r" b="b"/>
              <a:pathLst>
                <a:path w="2095500" h="1905000">
                  <a:moveTo>
                    <a:pt x="2095500" y="1905000"/>
                  </a:moveTo>
                  <a:lnTo>
                    <a:pt x="2095500" y="0"/>
                  </a:lnTo>
                  <a:lnTo>
                    <a:pt x="0" y="1905000"/>
                  </a:lnTo>
                  <a:close/>
                </a:path>
              </a:pathLst>
            </a:custGeom>
            <a:solidFill>
              <a:srgbClr val="131B30"/>
            </a:solidFill>
            <a:ln>
              <a:noFill/>
            </a:ln>
          </p:spPr>
        </p:sp>
        <p:sp>
          <p:nvSpPr>
            <p:cNvPr id="7" name="Polygon 7"/>
            <p:cNvSpPr/>
            <p:nvPr/>
          </p:nvSpPr>
          <p:spPr>
            <a:xfrm>
              <a:off x="10763250" y="5524500"/>
              <a:ext cx="1428750" cy="1333500"/>
            </a:xfrm>
            <a:custGeom>
              <a:avLst/>
              <a:gdLst/>
              <a:ahLst/>
              <a:cxnLst/>
              <a:rect l="l" t="t" r="r" b="b"/>
              <a:pathLst>
                <a:path w="1428750" h="1333500">
                  <a:moveTo>
                    <a:pt x="1428750" y="1333500"/>
                  </a:moveTo>
                  <a:lnTo>
                    <a:pt x="1428750" y="0"/>
                  </a:lnTo>
                  <a:lnTo>
                    <a:pt x="0" y="1333500"/>
                  </a:lnTo>
                  <a:close/>
                </a:path>
              </a:pathLst>
            </a:custGeom>
            <a:solidFill>
              <a:srgbClr val="1A2540"/>
            </a:solidFill>
            <a:ln>
              <a:noFill/>
            </a:ln>
          </p:spPr>
        </p:sp>
        <p:sp>
          <p:nvSpPr>
            <p:cNvPr id="8" name="Polygon 8"/>
            <p:cNvSpPr/>
            <p:nvPr/>
          </p:nvSpPr>
          <p:spPr>
            <a:xfrm>
              <a:off x="11430000" y="6096000"/>
              <a:ext cx="762000" cy="762000"/>
            </a:xfrm>
            <a:custGeom>
              <a:avLst/>
              <a:gdLst/>
              <a:ahLst/>
              <a:cxnLst/>
              <a:rect l="l" t="t" r="r" b="b"/>
              <a:pathLst>
                <a:path w="762000" h="762000">
                  <a:moveTo>
                    <a:pt x="762000" y="762000"/>
                  </a:moveTo>
                  <a:lnTo>
                    <a:pt x="762000" y="0"/>
                  </a:lnTo>
                  <a:lnTo>
                    <a:pt x="0" y="762000"/>
                  </a:lnTo>
                  <a:close/>
                </a:path>
              </a:pathLst>
            </a:custGeom>
            <a:solidFill>
              <a:srgbClr val="F5C842">
                <a:alpha val="15000"/>
              </a:srgbClr>
            </a:solidFill>
            <a:ln>
              <a:noFill/>
            </a:ln>
          </p:spPr>
        </p:sp>
      </p:grpSp>
      <p:grpSp>
        <p:nvGrpSpPr>
          <p:cNvPr id="13" name="Group 13"/>
          <p:cNvGrpSpPr/>
          <p:nvPr/>
        </p:nvGrpSpPr>
        <p:grpSpPr>
          <a:xfrm>
            <a:off x="8191500" y="762000"/>
            <a:ext cx="1057275" cy="4572000"/>
            <a:chOff x="8191500" y="762000"/>
            <a:chExt cx="1057275" cy="4572000"/>
          </a:xfrm>
        </p:grpSpPr>
        <p:sp>
          <p:nvSpPr>
            <p:cNvPr id="10" name="Rectangle 10"/>
            <p:cNvSpPr/>
            <p:nvPr/>
          </p:nvSpPr>
          <p:spPr>
            <a:xfrm>
              <a:off x="8763000" y="762000"/>
              <a:ext cx="9525" cy="4572000"/>
            </a:xfrm>
            <a:prstGeom prst="rect">
              <a:avLst/>
            </a:prstGeom>
            <a:solidFill>
              <a:srgbClr val="2A3A5C"/>
            </a:solidFill>
            <a:ln>
              <a:noFill/>
            </a:ln>
          </p:spPr>
        </p:sp>
        <p:sp>
          <p:nvSpPr>
            <p:cNvPr id="11" name="Rectangle 11"/>
            <p:cNvSpPr/>
            <p:nvPr/>
          </p:nvSpPr>
          <p:spPr>
            <a:xfrm>
              <a:off x="9239250" y="1143000"/>
              <a:ext cx="9525" cy="3810000"/>
            </a:xfrm>
            <a:prstGeom prst="rect">
              <a:avLst/>
            </a:prstGeom>
            <a:solidFill>
              <a:srgbClr val="1A2540"/>
            </a:solidFill>
            <a:ln>
              <a:noFill/>
            </a:ln>
          </p:spPr>
        </p:sp>
        <p:sp>
          <p:nvSpPr>
            <p:cNvPr id="12" name="Rectangle 12"/>
            <p:cNvSpPr/>
            <p:nvPr/>
          </p:nvSpPr>
          <p:spPr>
            <a:xfrm>
              <a:off x="8191500" y="1524000"/>
              <a:ext cx="9525" cy="2857500"/>
            </a:xfrm>
            <a:prstGeom prst="rect">
              <a:avLst/>
            </a:prstGeom>
            <a:solidFill>
              <a:srgbClr val="1A2540">
                <a:alpha val="60000"/>
              </a:srgbClr>
            </a:solidFill>
            <a:ln>
              <a:noFill/>
            </a:ln>
          </p:spPr>
        </p:sp>
      </p:grpSp>
      <p:grpSp>
        <p:nvGrpSpPr>
          <p:cNvPr id="15" name="Group 15"/>
          <p:cNvGrpSpPr/>
          <p:nvPr/>
        </p:nvGrpSpPr>
        <p:grpSpPr>
          <a:xfrm>
            <a:off x="1600200" y="1981200"/>
            <a:ext cx="3541014" cy="1828800"/>
            <a:chOff x="1600200" y="1981200"/>
            <a:chExt cx="3541014" cy="1828800"/>
          </a:xfrm>
        </p:grpSpPr>
        <p:sp>
          <p:nvSpPr>
            <p:cNvPr id="14" name="TextBox 14"/>
            <p:cNvSpPr txBox="1"/>
            <p:nvPr/>
          </p:nvSpPr>
          <p:spPr>
            <a:xfrm>
              <a:off x="1600200" y="1981200"/>
              <a:ext cx="3541014" cy="1828800"/>
            </a:xfrm>
            <a:prstGeom prst="rect">
              <a:avLst/>
            </a:prstGeom>
            <a:noFill/>
            <a:ln>
              <a:noFill/>
            </a:ln>
          </p:spPr>
          <p:txBody>
            <a:bodyPr wrap="none" lIns="0" tIns="0" rIns="0" bIns="0" anchor="t" anchorCtr="0">
              <a:spAutoFit/>
            </a:bodyPr>
            <a:lstStyle/>
            <a:p>
              <a:pPr algn="l"/>
              <a:r>
                <a:rPr lang="zh-CN" sz="9000" b="1" dirty="0">
                  <a:solidFill>
                    <a:srgbClr val="F5C842"/>
                  </a:solidFill>
                  <a:latin typeface="Arial"/>
                  <a:ea typeface="Microsoft YaHei"/>
                  <a:cs typeface="Arial"/>
                </a:rPr>
                <a:t>SOXX</a:t>
              </a:r>
            </a:p>
          </p:txBody>
        </p:sp>
      </p:grpSp>
      <p:grpSp>
        <p:nvGrpSpPr>
          <p:cNvPr id="17" name="Group 17"/>
          <p:cNvGrpSpPr/>
          <p:nvPr/>
        </p:nvGrpSpPr>
        <p:grpSpPr>
          <a:xfrm>
            <a:off x="1689735" y="3294698"/>
            <a:ext cx="3737658" cy="396240"/>
            <a:chOff x="1689735" y="3294698"/>
            <a:chExt cx="3737658" cy="396240"/>
          </a:xfrm>
        </p:grpSpPr>
        <p:sp>
          <p:nvSpPr>
            <p:cNvPr id="16" name="TextBox 16"/>
            <p:cNvSpPr txBox="1"/>
            <p:nvPr/>
          </p:nvSpPr>
          <p:spPr>
            <a:xfrm>
              <a:off x="1689735" y="3294698"/>
              <a:ext cx="3737658" cy="396240"/>
            </a:xfrm>
            <a:prstGeom prst="rect">
              <a:avLst/>
            </a:prstGeom>
            <a:noFill/>
            <a:ln>
              <a:noFill/>
            </a:ln>
          </p:spPr>
          <p:txBody>
            <a:bodyPr wrap="none" lIns="0" tIns="0" rIns="0" bIns="0" anchor="t" anchorCtr="0">
              <a:spAutoFit/>
            </a:bodyPr>
            <a:lstStyle/>
            <a:p>
              <a:pPr algn="l"/>
              <a:r>
                <a:rPr lang="zh-CN" sz="1950" dirty="0">
                  <a:solidFill>
                    <a:srgbClr val="E8EAF0"/>
                  </a:solidFill>
                  <a:latin typeface="Arial"/>
                  <a:ea typeface="Microsoft YaHei"/>
                  <a:cs typeface="Arial"/>
                </a:rPr>
                <a:t>iShares Semiconductor ETF</a:t>
              </a:r>
            </a:p>
          </p:txBody>
        </p:sp>
      </p:grpSp>
      <p:grpSp>
        <p:nvGrpSpPr>
          <p:cNvPr id="19" name="Group 19"/>
          <p:cNvGrpSpPr/>
          <p:nvPr/>
        </p:nvGrpSpPr>
        <p:grpSpPr>
          <a:xfrm>
            <a:off x="1714500" y="3733800"/>
            <a:ext cx="6096000" cy="28575"/>
            <a:chOff x="1714500" y="3733800"/>
            <a:chExt cx="6096000" cy="28575"/>
          </a:xfrm>
        </p:grpSpPr>
        <p:sp>
          <p:nvSpPr>
            <p:cNvPr id="18" name="Rectangle 18"/>
            <p:cNvSpPr/>
            <p:nvPr/>
          </p:nvSpPr>
          <p:spPr>
            <a:xfrm>
              <a:off x="1714500" y="3733800"/>
              <a:ext cx="6096000" cy="28575"/>
            </a:xfrm>
            <a:prstGeom prst="rect">
              <a:avLst/>
            </a:prstGeom>
            <a:solidFill>
              <a:srgbClr val="F5C842"/>
            </a:solidFill>
            <a:ln>
              <a:noFill/>
            </a:ln>
          </p:spPr>
        </p:sp>
      </p:grpSp>
      <p:grpSp>
        <p:nvGrpSpPr>
          <p:cNvPr id="22" name="Group 22"/>
          <p:cNvGrpSpPr/>
          <p:nvPr/>
        </p:nvGrpSpPr>
        <p:grpSpPr>
          <a:xfrm>
            <a:off x="1697355" y="4007168"/>
            <a:ext cx="6737985" cy="521970"/>
            <a:chOff x="1697355" y="4007168"/>
            <a:chExt cx="6737985" cy="521970"/>
          </a:xfrm>
        </p:grpSpPr>
        <p:sp>
          <p:nvSpPr>
            <p:cNvPr id="20" name="TextBox 20"/>
            <p:cNvSpPr txBox="1"/>
            <p:nvPr/>
          </p:nvSpPr>
          <p:spPr>
            <a:xfrm>
              <a:off x="1697355" y="4007168"/>
              <a:ext cx="6649260" cy="274320"/>
            </a:xfrm>
            <a:prstGeom prst="rect">
              <a:avLst/>
            </a:prstGeom>
            <a:noFill/>
            <a:ln>
              <a:noFill/>
            </a:ln>
          </p:spPr>
          <p:txBody>
            <a:bodyPr wrap="none" lIns="0" tIns="0" rIns="0" bIns="0" anchor="t" anchorCtr="0">
              <a:spAutoFit/>
            </a:bodyPr>
            <a:lstStyle/>
            <a:p>
              <a:pPr algn="l"/>
              <a:r>
                <a:rPr lang="zh-CN" sz="1350" i="1" dirty="0">
                  <a:solidFill>
                    <a:srgbClr val="8899BB"/>
                  </a:solidFill>
                  <a:latin typeface="Arial"/>
                  <a:ea typeface="Microsoft YaHei"/>
                  <a:cs typeface="Arial"/>
                </a:rPr>
                <a:t>A single-instrument bet on the entire US semiconductor value chain —</a:t>
              </a:r>
            </a:p>
          </p:txBody>
        </p:sp>
        <p:sp>
          <p:nvSpPr>
            <p:cNvPr id="21" name="TextBox 21"/>
            <p:cNvSpPr txBox="1"/>
            <p:nvPr/>
          </p:nvSpPr>
          <p:spPr>
            <a:xfrm>
              <a:off x="1697355" y="4254818"/>
              <a:ext cx="6737985" cy="274320"/>
            </a:xfrm>
            <a:prstGeom prst="rect">
              <a:avLst/>
            </a:prstGeom>
            <a:noFill/>
            <a:ln>
              <a:noFill/>
            </a:ln>
          </p:spPr>
          <p:txBody>
            <a:bodyPr wrap="none" lIns="0" tIns="0" rIns="0" bIns="0" anchor="t" anchorCtr="0">
              <a:spAutoFit/>
            </a:bodyPr>
            <a:lstStyle/>
            <a:p>
              <a:pPr algn="l"/>
              <a:r>
                <a:rPr lang="zh-CN" sz="1350" i="1" dirty="0">
                  <a:solidFill>
                    <a:srgbClr val="8899BB"/>
                  </a:solidFill>
                  <a:latin typeface="Arial"/>
                  <a:ea typeface="Microsoft YaHei"/>
                  <a:cs typeface="Arial"/>
                </a:rPr>
                <a:t>the primary infrastructure layer beneath the AI compute supercycle.</a:t>
              </a:r>
            </a:p>
          </p:txBody>
        </p:sp>
      </p:grpSp>
      <p:grpSp>
        <p:nvGrpSpPr>
          <p:cNvPr id="24" name="Group 24"/>
          <p:cNvGrpSpPr/>
          <p:nvPr/>
        </p:nvGrpSpPr>
        <p:grpSpPr>
          <a:xfrm>
            <a:off x="1701165" y="4934902"/>
            <a:ext cx="1774888" cy="213360"/>
            <a:chOff x="1701165" y="4934902"/>
            <a:chExt cx="1774888" cy="213360"/>
          </a:xfrm>
        </p:grpSpPr>
        <p:sp>
          <p:nvSpPr>
            <p:cNvPr id="23" name="TextBox 23"/>
            <p:cNvSpPr txBox="1"/>
            <p:nvPr/>
          </p:nvSpPr>
          <p:spPr>
            <a:xfrm>
              <a:off x="1701165" y="4934902"/>
              <a:ext cx="1774888" cy="213360"/>
            </a:xfrm>
            <a:prstGeom prst="rect">
              <a:avLst/>
            </a:prstGeom>
            <a:noFill/>
            <a:ln>
              <a:noFill/>
            </a:ln>
          </p:spPr>
          <p:txBody>
            <a:bodyPr wrap="none" lIns="0" tIns="0" rIns="0" bIns="0" anchor="t" anchorCtr="0">
              <a:spAutoFit/>
            </a:bodyPr>
            <a:lstStyle/>
            <a:p>
              <a:pPr algn="l"/>
              <a:r>
                <a:rPr lang="zh-CN" sz="1050" dirty="0">
                  <a:solidFill>
                    <a:srgbClr val="2A3A5C"/>
                  </a:solidFill>
                  <a:latin typeface="Arial"/>
                  <a:ea typeface="Microsoft YaHei"/>
                  <a:cs typeface="Arial"/>
                </a:rPr>
                <a:t>ETF THESIS · 2026-05-17</a:t>
              </a:r>
            </a:p>
          </p:txBody>
        </p:sp>
      </p:grpSp>
      <p:grpSp>
        <p:nvGrpSpPr>
          <p:cNvPr id="28" name="Group 28"/>
          <p:cNvGrpSpPr/>
          <p:nvPr/>
        </p:nvGrpSpPr>
        <p:grpSpPr>
          <a:xfrm>
            <a:off x="1714500" y="5429250"/>
            <a:ext cx="1524000" cy="285750"/>
            <a:chOff x="1714500" y="5429250"/>
            <a:chExt cx="1524000" cy="285750"/>
          </a:xfrm>
        </p:grpSpPr>
        <p:sp>
          <p:nvSpPr>
            <p:cNvPr id="25" name="Rectangle 25"/>
            <p:cNvSpPr/>
            <p:nvPr/>
          </p:nvSpPr>
          <p:spPr>
            <a:xfrm>
              <a:off x="1714500" y="5429250"/>
              <a:ext cx="1524000" cy="285750"/>
            </a:xfrm>
            <a:prstGeom prst="roundRect">
              <a:avLst>
                <a:gd name="adj" fmla="val 50000"/>
              </a:avLst>
            </a:prstGeom>
            <a:solidFill>
              <a:srgbClr val="131B30"/>
            </a:solidFill>
            <a:ln>
              <a:noFill/>
            </a:ln>
          </p:spPr>
        </p:sp>
        <p:sp>
          <p:nvSpPr>
            <p:cNvPr id="26" name="Rectangle 26"/>
            <p:cNvSpPr/>
            <p:nvPr/>
          </p:nvSpPr>
          <p:spPr>
            <a:xfrm>
              <a:off x="1714500" y="5429250"/>
              <a:ext cx="1524000" cy="285750"/>
            </a:xfrm>
            <a:prstGeom prst="roundRect">
              <a:avLst>
                <a:gd name="adj" fmla="val 50000"/>
              </a:avLst>
            </a:prstGeom>
            <a:noFill/>
            <a:ln w="9525">
              <a:solidFill>
                <a:srgbClr val="F5C842"/>
              </a:solidFill>
            </a:ln>
          </p:spPr>
        </p:sp>
        <p:sp>
          <p:nvSpPr>
            <p:cNvPr id="27" name="TextBox 27"/>
            <p:cNvSpPr txBox="1"/>
            <p:nvPr/>
          </p:nvSpPr>
          <p:spPr>
            <a:xfrm>
              <a:off x="1871596" y="5522595"/>
              <a:ext cx="1209808" cy="182880"/>
            </a:xfrm>
            <a:prstGeom prst="rect">
              <a:avLst/>
            </a:prstGeom>
            <a:noFill/>
            <a:ln>
              <a:noFill/>
            </a:ln>
          </p:spPr>
          <p:txBody>
            <a:bodyPr wrap="none" lIns="0" tIns="0" rIns="0" bIns="0" anchor="t" anchorCtr="0">
              <a:spAutoFit/>
            </a:bodyPr>
            <a:lstStyle/>
            <a:p>
              <a:pPr algn="ctr"/>
              <a:r>
                <a:rPr lang="zh-CN" sz="900" b="1" dirty="0">
                  <a:solidFill>
                    <a:srgbClr val="F5C842"/>
                  </a:solidFill>
                  <a:latin typeface="Arial"/>
                  <a:ea typeface="Microsoft YaHei"/>
                  <a:cs typeface="Arial"/>
                </a:rPr>
                <a:t>DETAILED ANALYSIS</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900"/>
                            </p:stCondLst>
                            <p:childTnLst>
                              <p:par>
                                <p:cTn id="9" presetID="3" presetClass="entr" presetSubtype="1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blinds(horizontal)">
                                      <p:cBhvr>
                                        <p:cTn id="11" dur="400"/>
                                        <p:tgtEl>
                                          <p:spTgt spid="13"/>
                                        </p:tgtEl>
                                      </p:cBhvr>
                                    </p:animEffect>
                                  </p:childTnLst>
                                </p:cTn>
                              </p:par>
                            </p:childTnLst>
                          </p:cTn>
                        </p:par>
                        <p:par>
                          <p:cTn id="12" fill="hold">
                            <p:stCondLst>
                              <p:cond delay="1800"/>
                            </p:stCondLst>
                            <p:childTnLst>
                              <p:par>
                                <p:cTn id="13" presetID="5" presetClass="entr" presetSubtype="6"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checkerboard(across)">
                                      <p:cBhvr>
                                        <p:cTn id="15" dur="400"/>
                                        <p:tgtEl>
                                          <p:spTgt spid="15"/>
                                        </p:tgtEl>
                                      </p:cBhvr>
                                    </p:animEffect>
                                  </p:childTnLst>
                                </p:cTn>
                              </p:par>
                            </p:childTnLst>
                          </p:cTn>
                        </p:par>
                        <p:par>
                          <p:cTn id="16" fill="hold">
                            <p:stCondLst>
                              <p:cond delay="2700"/>
                            </p:stCondLst>
                            <p:childTnLst>
                              <p:par>
                                <p:cTn id="17" presetID="9" presetClass="entr" presetSubtype="0" fill="hold"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dissolve">
                                      <p:cBhvr>
                                        <p:cTn id="19" dur="400"/>
                                        <p:tgtEl>
                                          <p:spTgt spid="17"/>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slide(fromBottom)">
                                      <p:cBhvr>
                                        <p:cTn id="23" dur="400"/>
                                        <p:tgtEl>
                                          <p:spTgt spid="19"/>
                                        </p:tgtEl>
                                      </p:cBhvr>
                                    </p:animEffect>
                                  </p:childTnLst>
                                </p:cTn>
                              </p:par>
                            </p:childTnLst>
                          </p:cTn>
                        </p:par>
                        <p:par>
                          <p:cTn id="24" fill="hold">
                            <p:stCondLst>
                              <p:cond delay="4500"/>
                            </p:stCondLst>
                            <p:childTnLst>
                              <p:par>
                                <p:cTn id="25" presetID="42" presetClass="entr" presetSubtype="8" fill="hold" nodeType="after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slide(fromLeft)">
                                      <p:cBhvr>
                                        <p:cTn id="27" dur="400"/>
                                        <p:tgtEl>
                                          <p:spTgt spid="22"/>
                                        </p:tgtEl>
                                      </p:cBhvr>
                                    </p:animEffect>
                                  </p:childTnLst>
                                </p:cTn>
                              </p:par>
                            </p:childTnLst>
                          </p:cTn>
                        </p:par>
                        <p:par>
                          <p:cTn id="28" fill="hold">
                            <p:stCondLst>
                              <p:cond delay="5400"/>
                            </p:stCondLst>
                            <p:childTnLst>
                              <p:par>
                                <p:cTn id="29" presetID="14" presetClass="entr" presetSubtype="10" fill="hold" nodeType="after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randombar(horizontal)">
                                      <p:cBhvr>
                                        <p:cTn id="31" dur="400"/>
                                        <p:tgtEl>
                                          <p:spTgt spid="24"/>
                                        </p:tgtEl>
                                      </p:cBhvr>
                                    </p:animEffect>
                                  </p:childTnLst>
                                </p:cTn>
                              </p:par>
                            </p:childTnLst>
                          </p:cTn>
                        </p:par>
                        <p:par>
                          <p:cTn id="32" fill="hold">
                            <p:stCondLst>
                              <p:cond delay="6300"/>
                            </p:stCondLst>
                            <p:childTnLst>
                              <p:par>
                                <p:cTn id="33" presetID="4" presetClass="entr" presetSubtype="0" fill="hold"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box(in)">
                                      <p:cBhvr>
                                        <p:cTn id="35"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P spid="15" grpId="0"/>
      <p:bldP spid="17" grpId="0"/>
      <p:bldP spid="19" grpId="0"/>
      <p:bldP spid="22" grpId="0"/>
      <p:bldP spid="24" grpId="0"/>
      <p:bldP spid="2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12192000" cy="38100"/>
            </a:xfrm>
            <a:prstGeom prst="rect">
              <a:avLst/>
            </a:prstGeom>
            <a:solidFill>
              <a:srgbClr val="F5C842"/>
            </a:solidFill>
            <a:ln>
              <a:noFill/>
            </a:ln>
          </p:spPr>
        </p:sp>
      </p:grpSp>
      <p:sp>
        <p:nvSpPr>
          <p:cNvPr id="5" name="TextBox 5"/>
          <p:cNvSpPr txBox="1"/>
          <p:nvPr/>
        </p:nvSpPr>
        <p:spPr>
          <a:xfrm>
            <a:off x="5649968" y="2257425"/>
            <a:ext cx="2035064" cy="5791200"/>
          </a:xfrm>
          <a:prstGeom prst="rect">
            <a:avLst/>
          </a:prstGeom>
          <a:noFill/>
          <a:ln>
            <a:noFill/>
          </a:ln>
        </p:spPr>
        <p:txBody>
          <a:bodyPr wrap="none" lIns="0" tIns="0" rIns="0" bIns="0" anchor="t" anchorCtr="0">
            <a:spAutoFit/>
          </a:bodyPr>
          <a:lstStyle/>
          <a:p>
            <a:pPr algn="ctr"/>
            <a:r>
              <a:rPr lang="zh-CN" sz="28500" b="1" dirty="0">
                <a:solidFill>
                  <a:srgbClr val="0F1628"/>
                </a:solidFill>
                <a:latin typeface="Arial"/>
                <a:ea typeface="Microsoft YaHei"/>
                <a:cs typeface="Arial"/>
              </a:rPr>
              <a:t>I</a:t>
            </a:r>
          </a:p>
        </p:txBody>
      </p:sp>
      <p:grpSp>
        <p:nvGrpSpPr>
          <p:cNvPr id="7" name="Group 7"/>
          <p:cNvGrpSpPr/>
          <p:nvPr/>
        </p:nvGrpSpPr>
        <p:grpSpPr>
          <a:xfrm>
            <a:off x="0" y="38100"/>
            <a:ext cx="38100" cy="6781800"/>
            <a:chOff x="0" y="38100"/>
            <a:chExt cx="38100" cy="6781800"/>
          </a:xfrm>
        </p:grpSpPr>
        <p:sp>
          <p:nvSpPr>
            <p:cNvPr id="6" name="Rectangle 6"/>
            <p:cNvSpPr/>
            <p:nvPr/>
          </p:nvSpPr>
          <p:spPr>
            <a:xfrm>
              <a:off x="0" y="38100"/>
              <a:ext cx="38100" cy="6781800"/>
            </a:xfrm>
            <a:prstGeom prst="rect">
              <a:avLst/>
            </a:prstGeom>
            <a:solidFill>
              <a:srgbClr val="F5C842"/>
            </a:solidFill>
            <a:ln>
              <a:noFill/>
            </a:ln>
          </p:spPr>
        </p:sp>
      </p:grpSp>
      <p:grpSp>
        <p:nvGrpSpPr>
          <p:cNvPr id="9" name="Group 9"/>
          <p:cNvGrpSpPr/>
          <p:nvPr/>
        </p:nvGrpSpPr>
        <p:grpSpPr>
          <a:xfrm>
            <a:off x="749618" y="2656999"/>
            <a:ext cx="690123" cy="198120"/>
            <a:chOff x="749618" y="2656999"/>
            <a:chExt cx="690123" cy="198120"/>
          </a:xfrm>
        </p:grpSpPr>
        <p:sp>
          <p:nvSpPr>
            <p:cNvPr id="8" name="TextBox 8"/>
            <p:cNvSpPr txBox="1"/>
            <p:nvPr/>
          </p:nvSpPr>
          <p:spPr>
            <a:xfrm>
              <a:off x="749618" y="2656999"/>
              <a:ext cx="690123" cy="198120"/>
            </a:xfrm>
            <a:prstGeom prst="rect">
              <a:avLst/>
            </a:prstGeom>
            <a:noFill/>
            <a:ln>
              <a:noFill/>
            </a:ln>
          </p:spPr>
          <p:txBody>
            <a:bodyPr wrap="none" lIns="0" tIns="0" rIns="0" bIns="0" anchor="t" anchorCtr="0">
              <a:spAutoFit/>
            </a:bodyPr>
            <a:lstStyle/>
            <a:p>
              <a:pPr algn="l"/>
              <a:r>
                <a:rPr lang="zh-CN" sz="975" b="1" dirty="0">
                  <a:solidFill>
                    <a:srgbClr val="F5C842"/>
                  </a:solidFill>
                  <a:latin typeface="Arial"/>
                  <a:ea typeface="Microsoft YaHei"/>
                  <a:cs typeface="Arial"/>
                </a:rPr>
                <a:t>CHAPTER I</a:t>
              </a:r>
            </a:p>
          </p:txBody>
        </p:sp>
      </p:grpSp>
      <p:grpSp>
        <p:nvGrpSpPr>
          <p:cNvPr id="11" name="Group 11"/>
          <p:cNvGrpSpPr/>
          <p:nvPr/>
        </p:nvGrpSpPr>
        <p:grpSpPr>
          <a:xfrm>
            <a:off x="712470" y="3007995"/>
            <a:ext cx="3986546" cy="792480"/>
            <a:chOff x="712470" y="3007995"/>
            <a:chExt cx="3986546" cy="792480"/>
          </a:xfrm>
        </p:grpSpPr>
        <p:sp>
          <p:nvSpPr>
            <p:cNvPr id="10" name="TextBox 10"/>
            <p:cNvSpPr txBox="1"/>
            <p:nvPr/>
          </p:nvSpPr>
          <p:spPr>
            <a:xfrm>
              <a:off x="712470" y="3007995"/>
              <a:ext cx="3986546" cy="792480"/>
            </a:xfrm>
            <a:prstGeom prst="rect">
              <a:avLst/>
            </a:prstGeom>
            <a:noFill/>
            <a:ln>
              <a:noFill/>
            </a:ln>
          </p:spPr>
          <p:txBody>
            <a:bodyPr wrap="none" lIns="0" tIns="0" rIns="0" bIns="0" anchor="t" anchorCtr="0">
              <a:spAutoFit/>
            </a:bodyPr>
            <a:lstStyle/>
            <a:p>
              <a:pPr algn="l"/>
              <a:r>
                <a:rPr lang="zh-CN" sz="3900" b="1" dirty="0">
                  <a:solidFill>
                    <a:srgbClr val="E8EAF0"/>
                  </a:solidFill>
                  <a:latin typeface="Arial"/>
                  <a:ea typeface="Microsoft YaHei"/>
                  <a:cs typeface="Arial"/>
                </a:rPr>
                <a:t>ETF Overview</a:t>
              </a:r>
            </a:p>
          </p:txBody>
        </p:sp>
      </p:grpSp>
      <p:grpSp>
        <p:nvGrpSpPr>
          <p:cNvPr id="13" name="Group 13"/>
          <p:cNvGrpSpPr/>
          <p:nvPr/>
        </p:nvGrpSpPr>
        <p:grpSpPr>
          <a:xfrm>
            <a:off x="762000" y="3657600"/>
            <a:ext cx="4572000" cy="19050"/>
            <a:chOff x="762000" y="3657600"/>
            <a:chExt cx="4572000" cy="19050"/>
          </a:xfrm>
        </p:grpSpPr>
        <p:sp>
          <p:nvSpPr>
            <p:cNvPr id="12" name="Rectangle 12"/>
            <p:cNvSpPr/>
            <p:nvPr/>
          </p:nvSpPr>
          <p:spPr>
            <a:xfrm>
              <a:off x="762000" y="3657600"/>
              <a:ext cx="4572000" cy="19050"/>
            </a:xfrm>
            <a:prstGeom prst="rect">
              <a:avLst/>
            </a:prstGeom>
            <a:solidFill>
              <a:srgbClr val="F5C842"/>
            </a:solidFill>
            <a:ln>
              <a:noFill/>
            </a:ln>
          </p:spPr>
        </p:sp>
      </p:grpSp>
      <p:grpSp>
        <p:nvGrpSpPr>
          <p:cNvPr id="15" name="Group 15"/>
          <p:cNvGrpSpPr/>
          <p:nvPr/>
        </p:nvGrpSpPr>
        <p:grpSpPr>
          <a:xfrm>
            <a:off x="742950" y="3838575"/>
            <a:ext cx="2710815" cy="304800"/>
            <a:chOff x="742950" y="3838575"/>
            <a:chExt cx="2710815" cy="304800"/>
          </a:xfrm>
        </p:grpSpPr>
        <p:sp>
          <p:nvSpPr>
            <p:cNvPr id="14" name="TextBox 14"/>
            <p:cNvSpPr txBox="1"/>
            <p:nvPr/>
          </p:nvSpPr>
          <p:spPr>
            <a:xfrm>
              <a:off x="742950" y="3838575"/>
              <a:ext cx="2710815" cy="304800"/>
            </a:xfrm>
            <a:prstGeom prst="rect">
              <a:avLst/>
            </a:prstGeom>
            <a:noFill/>
            <a:ln>
              <a:noFill/>
            </a:ln>
          </p:spPr>
          <p:txBody>
            <a:bodyPr wrap="none" lIns="0" tIns="0" rIns="0" bIns="0" anchor="t" anchorCtr="0">
              <a:spAutoFit/>
            </a:bodyPr>
            <a:lstStyle/>
            <a:p>
              <a:pPr algn="l"/>
              <a:r>
                <a:rPr lang="zh-CN" sz="1500" dirty="0">
                  <a:solidFill>
                    <a:srgbClr val="8899BB"/>
                  </a:solidFill>
                  <a:latin typeface="Arial"/>
                  <a:ea typeface="Microsoft YaHei"/>
                  <a:cs typeface="Arial"/>
                </a:rPr>
                <a:t>What It Tracks &amp; Holdings</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16" presetClass="entr" presetSubtype="21"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barn(inVertical)">
                                      <p:cBhvr>
                                        <p:cTn id="11" dur="400"/>
                                        <p:tgtEl>
                                          <p:spTgt spid="9"/>
                                        </p:tgtEl>
                                      </p:cBhvr>
                                    </p:animEffect>
                                  </p:childTnLst>
                                </p:cTn>
                              </p:par>
                            </p:childTnLst>
                          </p:cTn>
                        </p:par>
                        <p:par>
                          <p:cTn id="12" fill="hold">
                            <p:stCondLst>
                              <p:cond delay="1800"/>
                            </p:stCondLst>
                            <p:childTnLst>
                              <p:par>
                                <p:cTn id="13" presetID="18" presetClass="entr" presetSubtype="12"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strips(downRight)">
                                      <p:cBhvr>
                                        <p:cTn id="15" dur="400"/>
                                        <p:tgtEl>
                                          <p:spTgt spid="11"/>
                                        </p:tgtEl>
                                      </p:cBhvr>
                                    </p:animEffect>
                                  </p:childTnLst>
                                </p:cTn>
                              </p:par>
                            </p:childTnLst>
                          </p:cTn>
                        </p:par>
                        <p:par>
                          <p:cTn id="16" fill="hold">
                            <p:stCondLst>
                              <p:cond delay="2700"/>
                            </p:stCondLst>
                            <p:childTnLst>
                              <p:par>
                                <p:cTn id="17" presetID="20" presetClass="entr" presetSubtype="0" fill="hold"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edge">
                                      <p:cBhvr>
                                        <p:cTn id="19" dur="400"/>
                                        <p:tgtEl>
                                          <p:spTgt spid="13"/>
                                        </p:tgtEl>
                                      </p:cBhvr>
                                    </p:animEffect>
                                  </p:childTnLst>
                                </p:cTn>
                              </p:par>
                            </p:childTnLst>
                          </p:cTn>
                        </p:par>
                        <p:par>
                          <p:cTn id="20" fill="hold">
                            <p:stCondLst>
                              <p:cond delay="3600"/>
                            </p:stCondLst>
                            <p:childTnLst>
                              <p:par>
                                <p:cTn id="21" presetID="21" presetClass="entr" presetSubtype="0"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4)">
                                      <p:cBhvr>
                                        <p:cTn id="23"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P spid="13" grpId="0"/>
      <p:bldP spid="1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12192000" cy="38100"/>
            </a:xfrm>
            <a:prstGeom prst="rect">
              <a:avLst/>
            </a:prstGeom>
            <a:solidFill>
              <a:srgbClr val="F5C842"/>
            </a:solidFill>
            <a:ln>
              <a:noFill/>
            </a:ln>
          </p:spPr>
        </p:sp>
      </p:grpSp>
      <p:grpSp>
        <p:nvGrpSpPr>
          <p:cNvPr id="9" name="Group 9"/>
          <p:cNvGrpSpPr/>
          <p:nvPr/>
        </p:nvGrpSpPr>
        <p:grpSpPr>
          <a:xfrm>
            <a:off x="0" y="38100"/>
            <a:ext cx="12192000" cy="609600"/>
            <a:chOff x="0" y="38100"/>
            <a:chExt cx="12192000" cy="609600"/>
          </a:xfrm>
        </p:grpSpPr>
        <p:sp>
          <p:nvSpPr>
            <p:cNvPr id="5" name="Rectangle 5"/>
            <p:cNvSpPr/>
            <p:nvPr/>
          </p:nvSpPr>
          <p:spPr>
            <a:xfrm>
              <a:off x="0" y="38100"/>
              <a:ext cx="12192000" cy="609600"/>
            </a:xfrm>
            <a:prstGeom prst="rect">
              <a:avLst/>
            </a:prstGeom>
            <a:solidFill>
              <a:srgbClr val="131B30"/>
            </a:solidFill>
            <a:ln>
              <a:noFill/>
            </a:ln>
          </p:spPr>
        </p:sp>
        <p:sp>
          <p:nvSpPr>
            <p:cNvPr id="6" name="Rectangle 6"/>
            <p:cNvSpPr/>
            <p:nvPr/>
          </p:nvSpPr>
          <p:spPr>
            <a:xfrm>
              <a:off x="571500" y="152400"/>
              <a:ext cx="38100" cy="381000"/>
            </a:xfrm>
            <a:prstGeom prst="rect">
              <a:avLst/>
            </a:prstGeom>
            <a:solidFill>
              <a:srgbClr val="F5C842"/>
            </a:solidFill>
            <a:ln>
              <a:noFill/>
            </a:ln>
          </p:spPr>
        </p:sp>
        <p:sp>
          <p:nvSpPr>
            <p:cNvPr id="7" name="TextBox 7"/>
            <p:cNvSpPr txBox="1"/>
            <p:nvPr/>
          </p:nvSpPr>
          <p:spPr>
            <a:xfrm>
              <a:off x="737235" y="227648"/>
              <a:ext cx="2516588" cy="396240"/>
            </a:xfrm>
            <a:prstGeom prst="rect">
              <a:avLst/>
            </a:prstGeom>
            <a:noFill/>
            <a:ln>
              <a:noFill/>
            </a:ln>
          </p:spPr>
          <p:txBody>
            <a:bodyPr wrap="none" lIns="0" tIns="0" rIns="0" bIns="0" anchor="t" anchorCtr="0">
              <a:spAutoFit/>
            </a:bodyPr>
            <a:lstStyle/>
            <a:p>
              <a:pPr algn="l"/>
              <a:r>
                <a:rPr lang="zh-CN" sz="1950" b="1" dirty="0">
                  <a:solidFill>
                    <a:srgbClr val="E8EAF0"/>
                  </a:solidFill>
                  <a:latin typeface="Arial"/>
                  <a:ea typeface="Microsoft YaHei"/>
                  <a:cs typeface="Arial"/>
                </a:rPr>
                <a:t>The One-Line Bet</a:t>
              </a:r>
            </a:p>
          </p:txBody>
        </p:sp>
        <p:sp>
          <p:nvSpPr>
            <p:cNvPr id="8" name="TextBox 8"/>
            <p:cNvSpPr txBox="1"/>
            <p:nvPr/>
          </p:nvSpPr>
          <p:spPr>
            <a:xfrm>
              <a:off x="10492026" y="332899"/>
              <a:ext cx="950357" cy="198120"/>
            </a:xfrm>
            <a:prstGeom prst="rect">
              <a:avLst/>
            </a:prstGeom>
            <a:noFill/>
            <a:ln>
              <a:noFill/>
            </a:ln>
          </p:spPr>
          <p:txBody>
            <a:bodyPr wrap="none" lIns="0" tIns="0" rIns="0" bIns="0" anchor="t" anchorCtr="0">
              <a:spAutoFit/>
            </a:bodyPr>
            <a:lstStyle/>
            <a:p>
              <a:pPr algn="r"/>
              <a:r>
                <a:rPr lang="zh-CN" sz="975" dirty="0">
                  <a:solidFill>
                    <a:srgbClr val="8899BB"/>
                  </a:solidFill>
                  <a:latin typeface="Arial"/>
                  <a:ea typeface="Microsoft YaHei"/>
                  <a:cs typeface="Arial"/>
                </a:rPr>
                <a:t>ETF Overview</a:t>
              </a:r>
            </a:p>
          </p:txBody>
        </p:sp>
      </p:grpSp>
      <p:grpSp>
        <p:nvGrpSpPr>
          <p:cNvPr id="11" name="Group 11"/>
          <p:cNvGrpSpPr/>
          <p:nvPr/>
        </p:nvGrpSpPr>
        <p:grpSpPr>
          <a:xfrm>
            <a:off x="723900" y="533400"/>
            <a:ext cx="1975390" cy="3657600"/>
            <a:chOff x="723900" y="533400"/>
            <a:chExt cx="1975390" cy="3657600"/>
          </a:xfrm>
        </p:grpSpPr>
        <p:sp>
          <p:nvSpPr>
            <p:cNvPr id="10" name="TextBox 10"/>
            <p:cNvSpPr txBox="1"/>
            <p:nvPr/>
          </p:nvSpPr>
          <p:spPr>
            <a:xfrm>
              <a:off x="723900" y="533400"/>
              <a:ext cx="1975390" cy="3657600"/>
            </a:xfrm>
            <a:prstGeom prst="rect">
              <a:avLst/>
            </a:prstGeom>
            <a:noFill/>
            <a:ln>
              <a:noFill/>
            </a:ln>
          </p:spPr>
          <p:txBody>
            <a:bodyPr wrap="none" lIns="0" tIns="0" rIns="0" bIns="0" anchor="t" anchorCtr="0">
              <a:spAutoFit/>
            </a:bodyPr>
            <a:lstStyle/>
            <a:p>
              <a:pPr algn="l"/>
              <a:r>
                <a:rPr lang="zh-CN" sz="18000" b="1" dirty="0">
                  <a:solidFill>
                    <a:srgbClr val="131B30"/>
                  </a:solidFill>
                  <a:latin typeface="Arial"/>
                  <a:ea typeface="Microsoft YaHei"/>
                  <a:cs typeface="Arial"/>
                </a:rPr>
                <a:t>“</a:t>
              </a:r>
            </a:p>
          </p:txBody>
        </p:sp>
      </p:grpSp>
      <p:grpSp>
        <p:nvGrpSpPr>
          <p:cNvPr id="17" name="Group 17"/>
          <p:cNvGrpSpPr/>
          <p:nvPr/>
        </p:nvGrpSpPr>
        <p:grpSpPr>
          <a:xfrm>
            <a:off x="1312545" y="2584132"/>
            <a:ext cx="8417257" cy="1554480"/>
            <a:chOff x="1312545" y="2584132"/>
            <a:chExt cx="8417257" cy="1554480"/>
          </a:xfrm>
        </p:grpSpPr>
        <p:sp>
          <p:nvSpPr>
            <p:cNvPr id="12" name="TextBox 12"/>
            <p:cNvSpPr txBox="1"/>
            <p:nvPr/>
          </p:nvSpPr>
          <p:spPr>
            <a:xfrm>
              <a:off x="1312545" y="2584132"/>
              <a:ext cx="6494216" cy="335280"/>
            </a:xfrm>
            <a:prstGeom prst="rect">
              <a:avLst/>
            </a:prstGeom>
            <a:noFill/>
            <a:ln>
              <a:noFill/>
            </a:ln>
          </p:spPr>
          <p:txBody>
            <a:bodyPr wrap="none" lIns="0" tIns="0" rIns="0" bIns="0" anchor="t" anchorCtr="0">
              <a:spAutoFit/>
            </a:bodyPr>
            <a:lstStyle/>
            <a:p>
              <a:pPr algn="l"/>
              <a:r>
                <a:rPr lang="zh-CN" sz="1650" b="1" dirty="0">
                  <a:solidFill>
                    <a:srgbClr val="E8EAF0"/>
                  </a:solidFill>
                  <a:latin typeface="Arial"/>
                  <a:ea typeface="Microsoft YaHei"/>
                  <a:cs typeface="Arial"/>
                </a:rPr>
                <a:t>Buying SOXX is a single-instrument bet on the entire</a:t>
              </a:r>
            </a:p>
          </p:txBody>
        </p:sp>
        <p:sp>
          <p:nvSpPr>
            <p:cNvPr id="13" name="TextBox 13"/>
            <p:cNvSpPr txBox="1"/>
            <p:nvPr/>
          </p:nvSpPr>
          <p:spPr>
            <a:xfrm>
              <a:off x="1312545" y="2888932"/>
              <a:ext cx="6633384" cy="335280"/>
            </a:xfrm>
            <a:prstGeom prst="rect">
              <a:avLst/>
            </a:prstGeom>
            <a:noFill/>
            <a:ln>
              <a:noFill/>
            </a:ln>
          </p:spPr>
          <p:txBody>
            <a:bodyPr wrap="none" lIns="0" tIns="0" rIns="0" bIns="0" anchor="t" anchorCtr="0">
              <a:spAutoFit/>
            </a:bodyPr>
            <a:lstStyle/>
            <a:p>
              <a:pPr algn="l"/>
              <a:r>
                <a:rPr lang="zh-CN" sz="1650" b="1" dirty="0">
                  <a:solidFill>
                    <a:srgbClr val="E8EAF0"/>
                  </a:solidFill>
                  <a:latin typeface="Arial"/>
                  <a:ea typeface="Microsoft YaHei"/>
                  <a:cs typeface="Arial"/>
                </a:rPr>
                <a:t>US semiconductor value chain — from AI chip designers</a:t>
              </a:r>
            </a:p>
          </p:txBody>
        </p:sp>
        <p:sp>
          <p:nvSpPr>
            <p:cNvPr id="14" name="TextBox 14"/>
            <p:cNvSpPr txBox="1"/>
            <p:nvPr/>
          </p:nvSpPr>
          <p:spPr>
            <a:xfrm>
              <a:off x="1312545" y="3193732"/>
              <a:ext cx="8417257" cy="335280"/>
            </a:xfrm>
            <a:prstGeom prst="rect">
              <a:avLst/>
            </a:prstGeom>
            <a:noFill/>
            <a:ln>
              <a:noFill/>
            </a:ln>
          </p:spPr>
          <p:txBody>
            <a:bodyPr wrap="none" lIns="0" tIns="0" rIns="0" bIns="0" anchor="t" anchorCtr="0">
              <a:spAutoFit/>
            </a:bodyPr>
            <a:lstStyle/>
            <a:p>
              <a:pPr algn="l"/>
              <a:r>
                <a:rPr lang="zh-CN" sz="1650" b="1" dirty="0">
                  <a:solidFill>
                    <a:srgbClr val="E8EAF0"/>
                  </a:solidFill>
                  <a:latin typeface="Arial"/>
                  <a:ea typeface="Microsoft YaHei"/>
                  <a:cs typeface="Arial"/>
                </a:rPr>
                <a:t>to memory manufacturers to wafer fabrication equipment makers —</a:t>
              </a:r>
            </a:p>
          </p:txBody>
        </p:sp>
        <p:sp>
          <p:nvSpPr>
            <p:cNvPr id="15" name="TextBox 15"/>
            <p:cNvSpPr txBox="1"/>
            <p:nvPr/>
          </p:nvSpPr>
          <p:spPr>
            <a:xfrm>
              <a:off x="1312545" y="3498532"/>
              <a:ext cx="5570651" cy="335280"/>
            </a:xfrm>
            <a:prstGeom prst="rect">
              <a:avLst/>
            </a:prstGeom>
            <a:noFill/>
            <a:ln>
              <a:noFill/>
            </a:ln>
          </p:spPr>
          <p:txBody>
            <a:bodyPr wrap="none" lIns="0" tIns="0" rIns="0" bIns="0" anchor="t" anchorCtr="0">
              <a:spAutoFit/>
            </a:bodyPr>
            <a:lstStyle/>
            <a:p>
              <a:pPr algn="l"/>
              <a:r>
                <a:rPr lang="zh-CN" sz="1650" b="1" dirty="0">
                  <a:solidFill>
                    <a:srgbClr val="F5C842"/>
                  </a:solidFill>
                  <a:latin typeface="Arial"/>
                  <a:ea typeface="Microsoft YaHei"/>
                  <a:cs typeface="Arial"/>
                </a:rPr>
                <a:t>as the primary infrastructure layer beneath</a:t>
              </a:r>
            </a:p>
          </p:txBody>
        </p:sp>
        <p:sp>
          <p:nvSpPr>
            <p:cNvPr id="16" name="TextBox 16"/>
            <p:cNvSpPr txBox="1"/>
            <p:nvPr/>
          </p:nvSpPr>
          <p:spPr>
            <a:xfrm>
              <a:off x="1312545" y="3803332"/>
              <a:ext cx="3394579" cy="335280"/>
            </a:xfrm>
            <a:prstGeom prst="rect">
              <a:avLst/>
            </a:prstGeom>
            <a:noFill/>
            <a:ln>
              <a:noFill/>
            </a:ln>
          </p:spPr>
          <p:txBody>
            <a:bodyPr wrap="none" lIns="0" tIns="0" rIns="0" bIns="0" anchor="t" anchorCtr="0">
              <a:spAutoFit/>
            </a:bodyPr>
            <a:lstStyle/>
            <a:p>
              <a:pPr algn="l"/>
              <a:r>
                <a:rPr lang="zh-CN" sz="1650" b="1" dirty="0">
                  <a:solidFill>
                    <a:srgbClr val="F5C842"/>
                  </a:solidFill>
                  <a:latin typeface="Arial"/>
                  <a:ea typeface="Microsoft YaHei"/>
                  <a:cs typeface="Arial"/>
                </a:rPr>
                <a:t>the AI compute supercycle.</a:t>
              </a:r>
            </a:p>
          </p:txBody>
        </p:sp>
      </p:grpSp>
      <p:grpSp>
        <p:nvGrpSpPr>
          <p:cNvPr id="22" name="Group 22"/>
          <p:cNvGrpSpPr/>
          <p:nvPr/>
        </p:nvGrpSpPr>
        <p:grpSpPr>
          <a:xfrm>
            <a:off x="571500" y="4419600"/>
            <a:ext cx="11049000" cy="900112"/>
            <a:chOff x="571500" y="4419600"/>
            <a:chExt cx="11049000" cy="900112"/>
          </a:xfrm>
        </p:grpSpPr>
        <p:sp>
          <p:nvSpPr>
            <p:cNvPr id="18" name="Rectangle 18"/>
            <p:cNvSpPr/>
            <p:nvPr/>
          </p:nvSpPr>
          <p:spPr>
            <a:xfrm>
              <a:off x="571500" y="4419600"/>
              <a:ext cx="11049000" cy="9525"/>
            </a:xfrm>
            <a:prstGeom prst="rect">
              <a:avLst/>
            </a:prstGeom>
            <a:solidFill>
              <a:srgbClr val="2A3A5C"/>
            </a:solidFill>
            <a:ln>
              <a:noFill/>
            </a:ln>
          </p:spPr>
        </p:sp>
        <p:sp>
          <p:nvSpPr>
            <p:cNvPr id="19" name="TextBox 19"/>
            <p:cNvSpPr txBox="1"/>
            <p:nvPr/>
          </p:nvSpPr>
          <p:spPr>
            <a:xfrm>
              <a:off x="749618" y="4657249"/>
              <a:ext cx="1325578"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Microsoft YaHei"/>
                  <a:cs typeface="Arial"/>
                </a:rPr>
                <a:t>WHAT SOXX TRACKS</a:t>
              </a:r>
            </a:p>
          </p:txBody>
        </p:sp>
        <p:sp>
          <p:nvSpPr>
            <p:cNvPr id="20" name="TextBox 20"/>
            <p:cNvSpPr txBox="1"/>
            <p:nvPr/>
          </p:nvSpPr>
          <p:spPr>
            <a:xfrm>
              <a:off x="748665" y="4877752"/>
              <a:ext cx="10439305" cy="213360"/>
            </a:xfrm>
            <a:prstGeom prst="rect">
              <a:avLst/>
            </a:prstGeom>
            <a:noFill/>
            <a:ln>
              <a:noFill/>
            </a:ln>
          </p:spPr>
          <p:txBody>
            <a:bodyPr wrap="none" lIns="0" tIns="0" rIns="0" bIns="0" anchor="t" anchorCtr="0">
              <a:spAutoFit/>
            </a:bodyPr>
            <a:lstStyle/>
            <a:p>
              <a:pPr algn="l"/>
              <a:r>
                <a:rPr lang="zh-CN" sz="1050" dirty="0">
                  <a:solidFill>
                    <a:srgbClr val="8899BB"/>
                  </a:solidFill>
                  <a:latin typeface="Arial"/>
                  <a:ea typeface="Microsoft YaHei"/>
                  <a:cs typeface="Arial"/>
                </a:rPr>
                <a:t>ICE Semiconductor Index · ~30 US-listed semiconductor companies · Modified market-cap weights · Single-stock caps · Quarterly rebalance</a:t>
              </a:r>
            </a:p>
          </p:txBody>
        </p:sp>
        <p:sp>
          <p:nvSpPr>
            <p:cNvPr id="21" name="TextBox 21"/>
            <p:cNvSpPr txBox="1"/>
            <p:nvPr/>
          </p:nvSpPr>
          <p:spPr>
            <a:xfrm>
              <a:off x="748665" y="5106352"/>
              <a:ext cx="10155603" cy="213360"/>
            </a:xfrm>
            <a:prstGeom prst="rect">
              <a:avLst/>
            </a:prstGeom>
            <a:noFill/>
            <a:ln>
              <a:noFill/>
            </a:ln>
          </p:spPr>
          <p:txBody>
            <a:bodyPr wrap="none" lIns="0" tIns="0" rIns="0" bIns="0" anchor="t" anchorCtr="0">
              <a:spAutoFit/>
            </a:bodyPr>
            <a:lstStyle/>
            <a:p>
              <a:pPr algn="l"/>
              <a:r>
                <a:rPr lang="zh-CN" sz="1050" dirty="0">
                  <a:solidFill>
                    <a:srgbClr val="8899BB"/>
                  </a:solidFill>
                  <a:latin typeface="Arial"/>
                  <a:ea typeface="Microsoft YaHei"/>
                  <a:cs typeface="Arial"/>
                </a:rPr>
                <a:t>Covers every segment: AI compute (NVDA, AMD, AVGO/MRVL) · Memory (MU) · Equipment (AMAT, KLAC, TER) · 100% semiconductor purity</a:t>
              </a:r>
            </a:p>
          </p:txBody>
        </p:sp>
      </p:grpSp>
      <p:grpSp>
        <p:nvGrpSpPr>
          <p:cNvPr id="27" name="Group 27"/>
          <p:cNvGrpSpPr/>
          <p:nvPr/>
        </p:nvGrpSpPr>
        <p:grpSpPr>
          <a:xfrm>
            <a:off x="0" y="6324600"/>
            <a:ext cx="12192000" cy="533400"/>
            <a:chOff x="0" y="6324600"/>
            <a:chExt cx="12192000" cy="533400"/>
          </a:xfrm>
        </p:grpSpPr>
        <p:sp>
          <p:nvSpPr>
            <p:cNvPr id="23" name="Rectangle 23"/>
            <p:cNvSpPr/>
            <p:nvPr/>
          </p:nvSpPr>
          <p:spPr>
            <a:xfrm>
              <a:off x="0" y="6324600"/>
              <a:ext cx="12192000" cy="533400"/>
            </a:xfrm>
            <a:prstGeom prst="rect">
              <a:avLst/>
            </a:prstGeom>
            <a:solidFill>
              <a:srgbClr val="131B30"/>
            </a:solidFill>
            <a:ln>
              <a:noFill/>
            </a:ln>
          </p:spPr>
        </p:sp>
        <p:sp>
          <p:nvSpPr>
            <p:cNvPr id="24" name="Rectangle 24"/>
            <p:cNvSpPr/>
            <p:nvPr/>
          </p:nvSpPr>
          <p:spPr>
            <a:xfrm>
              <a:off x="0" y="6324600"/>
              <a:ext cx="12192000" cy="9525"/>
            </a:xfrm>
            <a:prstGeom prst="rect">
              <a:avLst/>
            </a:prstGeom>
            <a:solidFill>
              <a:srgbClr val="F5C842">
                <a:alpha val="35000"/>
              </a:srgbClr>
            </a:solidFill>
            <a:ln>
              <a:noFill/>
            </a:ln>
          </p:spPr>
        </p:sp>
        <p:sp>
          <p:nvSpPr>
            <p:cNvPr id="25" name="TextBox 25"/>
            <p:cNvSpPr txBox="1"/>
            <p:nvPr/>
          </p:nvSpPr>
          <p:spPr>
            <a:xfrm>
              <a:off x="749618" y="6533674"/>
              <a:ext cx="950357"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ETF Overview</a:t>
              </a:r>
            </a:p>
          </p:txBody>
        </p:sp>
        <p:sp>
          <p:nvSpPr>
            <p:cNvPr id="26" name="TextBox 26"/>
            <p:cNvSpPr txBox="1"/>
            <p:nvPr/>
          </p:nvSpPr>
          <p:spPr>
            <a:xfrm>
              <a:off x="11339298" y="6533674"/>
              <a:ext cx="103084" cy="198120"/>
            </a:xfrm>
            <a:prstGeom prst="rect">
              <a:avLst/>
            </a:prstGeom>
            <a:noFill/>
            <a:ln>
              <a:noFill/>
            </a:ln>
          </p:spPr>
          <p:txBody>
            <a:bodyPr wrap="none" lIns="0" tIns="0" rIns="0" bIns="0" anchor="t" anchorCtr="0">
              <a:spAutoFit/>
            </a:bodyPr>
            <a:lstStyle/>
            <a:p>
              <a:pPr algn="r"/>
              <a:r>
                <a:rPr lang="zh-CN" sz="975" dirty="0">
                  <a:solidFill>
                    <a:srgbClr val="8899BB"/>
                  </a:solidFill>
                  <a:latin typeface="Arial"/>
                  <a:ea typeface="Microsoft YaHei"/>
                  <a:cs typeface="Arial"/>
                </a:rPr>
                <a:t>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400"/>
                                        <p:tgtEl>
                                          <p:spTgt spid="11"/>
                                        </p:tgtEl>
                                      </p:cBhvr>
                                    </p:animEffect>
                                  </p:childTnLst>
                                </p:cTn>
                              </p:par>
                            </p:childTnLst>
                          </p:cTn>
                        </p:par>
                        <p:par>
                          <p:cTn id="12" fill="hold">
                            <p:stCondLst>
                              <p:cond delay="1800"/>
                            </p:stCondLst>
                            <p:childTnLst>
                              <p:par>
                                <p:cTn id="13" presetID="50" presetClass="entr" presetSubtype="0"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stretch(across)">
                                      <p:cBhvr>
                                        <p:cTn id="15" dur="400"/>
                                        <p:tgtEl>
                                          <p:spTgt spid="17"/>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400"/>
                                        <p:tgtEl>
                                          <p:spTgt spid="22"/>
                                        </p:tgtEl>
                                      </p:cBhvr>
                                    </p:animEffect>
                                  </p:childTnLst>
                                </p:cTn>
                              </p:par>
                            </p:childTnLst>
                          </p:cTn>
                        </p:par>
                        <p:par>
                          <p:cTn id="20" fill="hold">
                            <p:stCondLst>
                              <p:cond delay="3600"/>
                            </p:stCondLst>
                            <p:childTnLst>
                              <p:par>
                                <p:cTn id="21" presetID="19" presetClass="entr" presetSubtype="0" fill="hold" nodeType="after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wheel(1)">
                                      <p:cBhvr>
                                        <p:cTn id="23"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7" grpId="0"/>
      <p:bldP spid="22"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12192000" cy="38100"/>
            </a:xfrm>
            <a:prstGeom prst="rect">
              <a:avLst/>
            </a:prstGeom>
            <a:solidFill>
              <a:srgbClr val="F5C842"/>
            </a:solidFill>
            <a:ln>
              <a:noFill/>
            </a:ln>
          </p:spPr>
        </p:sp>
      </p:grpSp>
      <p:grpSp>
        <p:nvGrpSpPr>
          <p:cNvPr id="11" name="Group 11"/>
          <p:cNvGrpSpPr/>
          <p:nvPr/>
        </p:nvGrpSpPr>
        <p:grpSpPr>
          <a:xfrm>
            <a:off x="0" y="38100"/>
            <a:ext cx="12192000" cy="609600"/>
            <a:chOff x="0" y="38100"/>
            <a:chExt cx="12192000" cy="609600"/>
          </a:xfrm>
        </p:grpSpPr>
        <p:sp>
          <p:nvSpPr>
            <p:cNvPr id="5" name="Rectangle 5"/>
            <p:cNvSpPr/>
            <p:nvPr/>
          </p:nvSpPr>
          <p:spPr>
            <a:xfrm>
              <a:off x="0" y="38100"/>
              <a:ext cx="12192000" cy="609600"/>
            </a:xfrm>
            <a:prstGeom prst="rect">
              <a:avLst/>
            </a:prstGeom>
            <a:solidFill>
              <a:srgbClr val="131B30"/>
            </a:solidFill>
            <a:ln>
              <a:noFill/>
            </a:ln>
          </p:spPr>
        </p:sp>
        <p:sp>
          <p:nvSpPr>
            <p:cNvPr id="6" name="Rectangle 6"/>
            <p:cNvSpPr/>
            <p:nvPr/>
          </p:nvSpPr>
          <p:spPr>
            <a:xfrm>
              <a:off x="571500" y="152400"/>
              <a:ext cx="38100" cy="381000"/>
            </a:xfrm>
            <a:prstGeom prst="rect">
              <a:avLst/>
            </a:prstGeom>
            <a:solidFill>
              <a:srgbClr val="F5C842"/>
            </a:solidFill>
            <a:ln>
              <a:noFill/>
            </a:ln>
          </p:spPr>
        </p:sp>
        <p:sp>
          <p:nvSpPr>
            <p:cNvPr id="7" name="TextBox 7"/>
            <p:cNvSpPr txBox="1"/>
            <p:nvPr/>
          </p:nvSpPr>
          <p:spPr>
            <a:xfrm>
              <a:off x="737235" y="227648"/>
              <a:ext cx="2471733" cy="396240"/>
            </a:xfrm>
            <a:prstGeom prst="rect">
              <a:avLst/>
            </a:prstGeom>
            <a:noFill/>
            <a:ln>
              <a:noFill/>
            </a:ln>
          </p:spPr>
          <p:txBody>
            <a:bodyPr wrap="none" lIns="0" tIns="0" rIns="0" bIns="0" anchor="t" anchorCtr="0">
              <a:spAutoFit/>
            </a:bodyPr>
            <a:lstStyle/>
            <a:p>
              <a:pPr algn="l"/>
              <a:r>
                <a:rPr lang="zh-CN" sz="1950" b="1" dirty="0">
                  <a:solidFill>
                    <a:srgbClr val="E8EAF0"/>
                  </a:solidFill>
                  <a:latin typeface="Arial"/>
                  <a:ea typeface="Microsoft YaHei"/>
                  <a:cs typeface="Arial"/>
                </a:rPr>
                <a:t>Holdings Analysis</a:t>
              </a:r>
            </a:p>
          </p:txBody>
        </p:sp>
        <p:sp>
          <p:nvSpPr>
            <p:cNvPr id="8" name="Rectangle 8"/>
            <p:cNvSpPr/>
            <p:nvPr/>
          </p:nvSpPr>
          <p:spPr>
            <a:xfrm>
              <a:off x="9525000" y="190500"/>
              <a:ext cx="1905000" cy="304800"/>
            </a:xfrm>
            <a:prstGeom prst="roundRect">
              <a:avLst>
                <a:gd name="adj" fmla="val 50000"/>
              </a:avLst>
            </a:prstGeom>
            <a:solidFill>
              <a:srgbClr val="4CAF82">
                <a:alpha val="20000"/>
              </a:srgbClr>
            </a:solidFill>
            <a:ln>
              <a:noFill/>
            </a:ln>
          </p:spPr>
        </p:sp>
        <p:sp>
          <p:nvSpPr>
            <p:cNvPr id="9" name="Rectangle 9"/>
            <p:cNvSpPr/>
            <p:nvPr/>
          </p:nvSpPr>
          <p:spPr>
            <a:xfrm>
              <a:off x="9525000" y="190500"/>
              <a:ext cx="1905000" cy="304800"/>
            </a:xfrm>
            <a:prstGeom prst="roundRect">
              <a:avLst>
                <a:gd name="adj" fmla="val 50000"/>
              </a:avLst>
            </a:prstGeom>
            <a:noFill/>
            <a:ln w="9525">
              <a:solidFill>
                <a:srgbClr val="4CAF82"/>
              </a:solidFill>
            </a:ln>
          </p:spPr>
        </p:sp>
        <p:sp>
          <p:nvSpPr>
            <p:cNvPr id="10" name="TextBox 10"/>
            <p:cNvSpPr txBox="1"/>
            <p:nvPr/>
          </p:nvSpPr>
          <p:spPr>
            <a:xfrm>
              <a:off x="9851893" y="293370"/>
              <a:ext cx="1251214" cy="182880"/>
            </a:xfrm>
            <a:prstGeom prst="rect">
              <a:avLst/>
            </a:prstGeom>
            <a:noFill/>
            <a:ln>
              <a:noFill/>
            </a:ln>
          </p:spPr>
          <p:txBody>
            <a:bodyPr wrap="none" lIns="0" tIns="0" rIns="0" bIns="0" anchor="t" anchorCtr="0">
              <a:spAutoFit/>
            </a:bodyPr>
            <a:lstStyle/>
            <a:p>
              <a:pPr algn="ctr"/>
              <a:r>
                <a:rPr lang="zh-CN" sz="900" b="1" dirty="0">
                  <a:solidFill>
                    <a:srgbClr val="4CAF82"/>
                  </a:solidFill>
                  <a:latin typeface="Arial"/>
                  <a:ea typeface="Microsoft YaHei"/>
                  <a:cs typeface="Arial"/>
                </a:rPr>
                <a:t>PURITY GRADE: HIGH</a:t>
              </a:r>
            </a:p>
          </p:txBody>
        </p:sp>
      </p:grpSp>
      <p:grpSp>
        <p:nvGrpSpPr>
          <p:cNvPr id="14" name="Group 14"/>
          <p:cNvGrpSpPr/>
          <p:nvPr/>
        </p:nvGrpSpPr>
        <p:grpSpPr>
          <a:xfrm>
            <a:off x="571500" y="885349"/>
            <a:ext cx="11049000" cy="198120"/>
            <a:chOff x="571500" y="885349"/>
            <a:chExt cx="11049000" cy="198120"/>
          </a:xfrm>
        </p:grpSpPr>
        <p:sp>
          <p:nvSpPr>
            <p:cNvPr id="12" name="TextBox 12"/>
            <p:cNvSpPr txBox="1"/>
            <p:nvPr/>
          </p:nvSpPr>
          <p:spPr>
            <a:xfrm>
              <a:off x="749618" y="885349"/>
              <a:ext cx="1168583"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Microsoft YaHei"/>
                  <a:cs typeface="Arial"/>
                </a:rPr>
                <a:t>TOP 10 HOLDINGS</a:t>
              </a:r>
            </a:p>
          </p:txBody>
        </p:sp>
        <p:sp>
          <p:nvSpPr>
            <p:cNvPr id="13" name="Rectangle 13"/>
            <p:cNvSpPr/>
            <p:nvPr/>
          </p:nvSpPr>
          <p:spPr>
            <a:xfrm>
              <a:off x="571500" y="1066800"/>
              <a:ext cx="11049000" cy="9525"/>
            </a:xfrm>
            <a:prstGeom prst="rect">
              <a:avLst/>
            </a:prstGeom>
            <a:solidFill>
              <a:srgbClr val="2A3A5C"/>
            </a:solidFill>
            <a:ln>
              <a:noFill/>
            </a:ln>
          </p:spPr>
        </p:sp>
      </p:grpSp>
      <p:grpSp>
        <p:nvGrpSpPr>
          <p:cNvPr id="22" name="Group 22"/>
          <p:cNvGrpSpPr/>
          <p:nvPr/>
        </p:nvGrpSpPr>
        <p:grpSpPr>
          <a:xfrm>
            <a:off x="571500" y="1104900"/>
            <a:ext cx="11049000" cy="266700"/>
            <a:chOff x="571500" y="1104900"/>
            <a:chExt cx="11049000" cy="266700"/>
          </a:xfrm>
        </p:grpSpPr>
        <p:sp>
          <p:nvSpPr>
            <p:cNvPr id="15" name="Rectangle 15"/>
            <p:cNvSpPr/>
            <p:nvPr/>
          </p:nvSpPr>
          <p:spPr>
            <a:xfrm>
              <a:off x="571500" y="1104900"/>
              <a:ext cx="11049000" cy="266700"/>
            </a:xfrm>
            <a:prstGeom prst="rect">
              <a:avLst/>
            </a:prstGeom>
            <a:solidFill>
              <a:srgbClr val="1A2540"/>
            </a:solidFill>
            <a:ln>
              <a:noFill/>
            </a:ln>
          </p:spPr>
        </p:sp>
        <p:sp>
          <p:nvSpPr>
            <p:cNvPr id="16" name="TextBox 16"/>
            <p:cNvSpPr txBox="1"/>
            <p:nvPr/>
          </p:nvSpPr>
          <p:spPr>
            <a:xfrm>
              <a:off x="750570" y="1188720"/>
              <a:ext cx="98769"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a:t>
              </a:r>
            </a:p>
          </p:txBody>
        </p:sp>
        <p:sp>
          <p:nvSpPr>
            <p:cNvPr id="17" name="TextBox 17"/>
            <p:cNvSpPr txBox="1"/>
            <p:nvPr/>
          </p:nvSpPr>
          <p:spPr>
            <a:xfrm>
              <a:off x="1131570" y="1188720"/>
              <a:ext cx="443813"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TICKER</a:t>
              </a:r>
            </a:p>
          </p:txBody>
        </p:sp>
        <p:sp>
          <p:nvSpPr>
            <p:cNvPr id="18" name="TextBox 18"/>
            <p:cNvSpPr txBox="1"/>
            <p:nvPr/>
          </p:nvSpPr>
          <p:spPr>
            <a:xfrm>
              <a:off x="2084070" y="1188720"/>
              <a:ext cx="609433"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COMPANY</a:t>
              </a:r>
            </a:p>
          </p:txBody>
        </p:sp>
        <p:sp>
          <p:nvSpPr>
            <p:cNvPr id="19" name="TextBox 19"/>
            <p:cNvSpPr txBox="1"/>
            <p:nvPr/>
          </p:nvSpPr>
          <p:spPr>
            <a:xfrm>
              <a:off x="5322570" y="1188720"/>
              <a:ext cx="471416"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WEIGHT</a:t>
              </a:r>
            </a:p>
          </p:txBody>
        </p:sp>
        <p:sp>
          <p:nvSpPr>
            <p:cNvPr id="20" name="TextBox 20"/>
            <p:cNvSpPr txBox="1"/>
            <p:nvPr/>
          </p:nvSpPr>
          <p:spPr>
            <a:xfrm>
              <a:off x="6465570" y="1188720"/>
              <a:ext cx="430011"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THEME</a:t>
              </a:r>
            </a:p>
          </p:txBody>
        </p:sp>
        <p:sp>
          <p:nvSpPr>
            <p:cNvPr id="21" name="TextBox 21"/>
            <p:cNvSpPr txBox="1"/>
            <p:nvPr/>
          </p:nvSpPr>
          <p:spPr>
            <a:xfrm>
              <a:off x="8561070" y="1188720"/>
              <a:ext cx="354101"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ROLE</a:t>
              </a:r>
            </a:p>
          </p:txBody>
        </p:sp>
      </p:grpSp>
      <p:grpSp>
        <p:nvGrpSpPr>
          <p:cNvPr id="31" name="Group 31"/>
          <p:cNvGrpSpPr/>
          <p:nvPr/>
        </p:nvGrpSpPr>
        <p:grpSpPr>
          <a:xfrm>
            <a:off x="571500" y="1371600"/>
            <a:ext cx="11049000" cy="264319"/>
            <a:chOff x="571500" y="1371600"/>
            <a:chExt cx="11049000" cy="264319"/>
          </a:xfrm>
        </p:grpSpPr>
        <p:sp>
          <p:nvSpPr>
            <p:cNvPr id="23" name="Rectangle 23"/>
            <p:cNvSpPr/>
            <p:nvPr/>
          </p:nvSpPr>
          <p:spPr>
            <a:xfrm>
              <a:off x="571500" y="1371600"/>
              <a:ext cx="11049000" cy="247650"/>
            </a:xfrm>
            <a:prstGeom prst="rect">
              <a:avLst/>
            </a:prstGeom>
            <a:solidFill>
              <a:srgbClr val="131B30"/>
            </a:solidFill>
            <a:ln>
              <a:noFill/>
            </a:ln>
          </p:spPr>
        </p:sp>
        <p:sp>
          <p:nvSpPr>
            <p:cNvPr id="24" name="TextBox 24"/>
            <p:cNvSpPr txBox="1"/>
            <p:nvPr/>
          </p:nvSpPr>
          <p:spPr>
            <a:xfrm>
              <a:off x="749618" y="1437799"/>
              <a:ext cx="67485"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1</a:t>
              </a:r>
            </a:p>
          </p:txBody>
        </p:sp>
        <p:sp>
          <p:nvSpPr>
            <p:cNvPr id="25" name="TextBox 25"/>
            <p:cNvSpPr txBox="1"/>
            <p:nvPr/>
          </p:nvSpPr>
          <p:spPr>
            <a:xfrm>
              <a:off x="1130618" y="1437799"/>
              <a:ext cx="353706" cy="198120"/>
            </a:xfrm>
            <a:prstGeom prst="rect">
              <a:avLst/>
            </a:prstGeom>
            <a:noFill/>
            <a:ln>
              <a:noFill/>
            </a:ln>
          </p:spPr>
          <p:txBody>
            <a:bodyPr wrap="none" lIns="0" tIns="0" rIns="0" bIns="0" anchor="t" anchorCtr="0">
              <a:spAutoFit/>
            </a:bodyPr>
            <a:lstStyle/>
            <a:p>
              <a:pPr algn="l"/>
              <a:r>
                <a:rPr lang="zh-CN" sz="975" b="1" dirty="0">
                  <a:solidFill>
                    <a:srgbClr val="F5C842"/>
                  </a:solidFill>
                  <a:latin typeface="Arial"/>
                  <a:ea typeface="Microsoft YaHei"/>
                  <a:cs typeface="Arial"/>
                </a:rPr>
                <a:t>NVDA</a:t>
              </a:r>
            </a:p>
          </p:txBody>
        </p:sp>
        <p:sp>
          <p:nvSpPr>
            <p:cNvPr id="26" name="TextBox 26"/>
            <p:cNvSpPr txBox="1"/>
            <p:nvPr/>
          </p:nvSpPr>
          <p:spPr>
            <a:xfrm>
              <a:off x="2083118" y="1437799"/>
              <a:ext cx="779478"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NVIDIA Corp</a:t>
              </a:r>
            </a:p>
          </p:txBody>
        </p:sp>
        <p:sp>
          <p:nvSpPr>
            <p:cNvPr id="27" name="Rectangle 27"/>
            <p:cNvSpPr/>
            <p:nvPr/>
          </p:nvSpPr>
          <p:spPr>
            <a:xfrm>
              <a:off x="5334000" y="1447800"/>
              <a:ext cx="800100" cy="95250"/>
            </a:xfrm>
            <a:prstGeom prst="roundRect">
              <a:avLst>
                <a:gd name="adj" fmla="val 20000"/>
              </a:avLst>
            </a:prstGeom>
            <a:solidFill>
              <a:srgbClr val="4A90D9">
                <a:alpha val="60000"/>
              </a:srgbClr>
            </a:solidFill>
            <a:ln>
              <a:noFill/>
            </a:ln>
          </p:spPr>
        </p:sp>
        <p:sp>
          <p:nvSpPr>
            <p:cNvPr id="28" name="TextBox 28"/>
            <p:cNvSpPr txBox="1"/>
            <p:nvPr/>
          </p:nvSpPr>
          <p:spPr>
            <a:xfrm>
              <a:off x="6274118" y="1437799"/>
              <a:ext cx="416362"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8.40%</a:t>
              </a:r>
            </a:p>
          </p:txBody>
        </p:sp>
        <p:sp>
          <p:nvSpPr>
            <p:cNvPr id="29" name="TextBox 29"/>
            <p:cNvSpPr txBox="1"/>
            <p:nvPr/>
          </p:nvSpPr>
          <p:spPr>
            <a:xfrm>
              <a:off x="7226618" y="1437799"/>
              <a:ext cx="103084" cy="198120"/>
            </a:xfrm>
            <a:prstGeom prst="rect">
              <a:avLst/>
            </a:prstGeom>
            <a:noFill/>
            <a:ln>
              <a:noFill/>
            </a:ln>
          </p:spPr>
          <p:txBody>
            <a:bodyPr wrap="none" lIns="0" tIns="0" rIns="0" bIns="0" anchor="t" anchorCtr="0">
              <a:spAutoFit/>
            </a:bodyPr>
            <a:lstStyle/>
            <a:p>
              <a:pPr algn="l"/>
              <a:r>
                <a:rPr lang="zh-CN" sz="975" dirty="0">
                  <a:solidFill>
                    <a:srgbClr val="4CAF82"/>
                  </a:solidFill>
                  <a:latin typeface="Arial"/>
                  <a:ea typeface="Microsoft YaHei"/>
                  <a:cs typeface="Arial"/>
                </a:rPr>
                <a:t>✅</a:t>
              </a:r>
            </a:p>
          </p:txBody>
        </p:sp>
        <p:sp>
          <p:nvSpPr>
            <p:cNvPr id="30" name="TextBox 30"/>
            <p:cNvSpPr txBox="1"/>
            <p:nvPr/>
          </p:nvSpPr>
          <p:spPr>
            <a:xfrm>
              <a:off x="8560118" y="1437799"/>
              <a:ext cx="1847469"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AI GPU / HBM training chips</a:t>
              </a:r>
            </a:p>
          </p:txBody>
        </p:sp>
      </p:grpSp>
      <p:grpSp>
        <p:nvGrpSpPr>
          <p:cNvPr id="40" name="Group 40"/>
          <p:cNvGrpSpPr/>
          <p:nvPr/>
        </p:nvGrpSpPr>
        <p:grpSpPr>
          <a:xfrm>
            <a:off x="571500" y="1619250"/>
            <a:ext cx="11049000" cy="264319"/>
            <a:chOff x="571500" y="1619250"/>
            <a:chExt cx="11049000" cy="264319"/>
          </a:xfrm>
        </p:grpSpPr>
        <p:sp>
          <p:nvSpPr>
            <p:cNvPr id="32" name="Rectangle 32"/>
            <p:cNvSpPr/>
            <p:nvPr/>
          </p:nvSpPr>
          <p:spPr>
            <a:xfrm>
              <a:off x="571500" y="1619250"/>
              <a:ext cx="11049000" cy="247650"/>
            </a:xfrm>
            <a:prstGeom prst="rect">
              <a:avLst/>
            </a:prstGeom>
            <a:solidFill>
              <a:srgbClr val="0A0E1A"/>
            </a:solidFill>
            <a:ln>
              <a:noFill/>
            </a:ln>
          </p:spPr>
        </p:sp>
        <p:sp>
          <p:nvSpPr>
            <p:cNvPr id="33" name="TextBox 33"/>
            <p:cNvSpPr txBox="1"/>
            <p:nvPr/>
          </p:nvSpPr>
          <p:spPr>
            <a:xfrm>
              <a:off x="749618" y="1685449"/>
              <a:ext cx="103084"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2</a:t>
              </a:r>
            </a:p>
          </p:txBody>
        </p:sp>
        <p:sp>
          <p:nvSpPr>
            <p:cNvPr id="34" name="TextBox 34"/>
            <p:cNvSpPr txBox="1"/>
            <p:nvPr/>
          </p:nvSpPr>
          <p:spPr>
            <a:xfrm>
              <a:off x="1130618" y="1685449"/>
              <a:ext cx="366522"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AVGO</a:t>
              </a:r>
            </a:p>
          </p:txBody>
        </p:sp>
        <p:sp>
          <p:nvSpPr>
            <p:cNvPr id="35" name="TextBox 35"/>
            <p:cNvSpPr txBox="1"/>
            <p:nvPr/>
          </p:nvSpPr>
          <p:spPr>
            <a:xfrm>
              <a:off x="2083118" y="1685449"/>
              <a:ext cx="921877"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Broadcom Inc</a:t>
              </a:r>
            </a:p>
          </p:txBody>
        </p:sp>
        <p:sp>
          <p:nvSpPr>
            <p:cNvPr id="36" name="Rectangle 36"/>
            <p:cNvSpPr/>
            <p:nvPr/>
          </p:nvSpPr>
          <p:spPr>
            <a:xfrm>
              <a:off x="5334000" y="1695450"/>
              <a:ext cx="790575" cy="95250"/>
            </a:xfrm>
            <a:prstGeom prst="roundRect">
              <a:avLst>
                <a:gd name="adj" fmla="val 20000"/>
              </a:avLst>
            </a:prstGeom>
            <a:solidFill>
              <a:srgbClr val="4A90D9">
                <a:alpha val="50000"/>
              </a:srgbClr>
            </a:solidFill>
            <a:ln>
              <a:noFill/>
            </a:ln>
          </p:spPr>
        </p:sp>
        <p:sp>
          <p:nvSpPr>
            <p:cNvPr id="37" name="TextBox 37"/>
            <p:cNvSpPr txBox="1"/>
            <p:nvPr/>
          </p:nvSpPr>
          <p:spPr>
            <a:xfrm>
              <a:off x="6274118" y="1685449"/>
              <a:ext cx="416362"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8.27%</a:t>
              </a:r>
            </a:p>
          </p:txBody>
        </p:sp>
        <p:sp>
          <p:nvSpPr>
            <p:cNvPr id="38" name="TextBox 38"/>
            <p:cNvSpPr txBox="1"/>
            <p:nvPr/>
          </p:nvSpPr>
          <p:spPr>
            <a:xfrm>
              <a:off x="7226618" y="1685449"/>
              <a:ext cx="103084" cy="198120"/>
            </a:xfrm>
            <a:prstGeom prst="rect">
              <a:avLst/>
            </a:prstGeom>
            <a:noFill/>
            <a:ln>
              <a:noFill/>
            </a:ln>
          </p:spPr>
          <p:txBody>
            <a:bodyPr wrap="none" lIns="0" tIns="0" rIns="0" bIns="0" anchor="t" anchorCtr="0">
              <a:spAutoFit/>
            </a:bodyPr>
            <a:lstStyle/>
            <a:p>
              <a:pPr algn="l"/>
              <a:r>
                <a:rPr lang="zh-CN" sz="975" dirty="0">
                  <a:solidFill>
                    <a:srgbClr val="4CAF82"/>
                  </a:solidFill>
                  <a:latin typeface="Arial"/>
                  <a:ea typeface="Microsoft YaHei"/>
                  <a:cs typeface="Arial"/>
                </a:rPr>
                <a:t>✅</a:t>
              </a:r>
            </a:p>
          </p:txBody>
        </p:sp>
        <p:sp>
          <p:nvSpPr>
            <p:cNvPr id="39" name="TextBox 39"/>
            <p:cNvSpPr txBox="1"/>
            <p:nvPr/>
          </p:nvSpPr>
          <p:spPr>
            <a:xfrm>
              <a:off x="8560118" y="1685449"/>
              <a:ext cx="1605391"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AI ASIC / network chips</a:t>
              </a:r>
            </a:p>
          </p:txBody>
        </p:sp>
      </p:grpSp>
      <p:grpSp>
        <p:nvGrpSpPr>
          <p:cNvPr id="49" name="Group 49"/>
          <p:cNvGrpSpPr/>
          <p:nvPr/>
        </p:nvGrpSpPr>
        <p:grpSpPr>
          <a:xfrm>
            <a:off x="571500" y="1866900"/>
            <a:ext cx="11049000" cy="264319"/>
            <a:chOff x="571500" y="1866900"/>
            <a:chExt cx="11049000" cy="264319"/>
          </a:xfrm>
        </p:grpSpPr>
        <p:sp>
          <p:nvSpPr>
            <p:cNvPr id="41" name="Rectangle 41"/>
            <p:cNvSpPr/>
            <p:nvPr/>
          </p:nvSpPr>
          <p:spPr>
            <a:xfrm>
              <a:off x="571500" y="1866900"/>
              <a:ext cx="11049000" cy="247650"/>
            </a:xfrm>
            <a:prstGeom prst="rect">
              <a:avLst/>
            </a:prstGeom>
            <a:solidFill>
              <a:srgbClr val="131B30"/>
            </a:solidFill>
            <a:ln>
              <a:noFill/>
            </a:ln>
          </p:spPr>
        </p:sp>
        <p:sp>
          <p:nvSpPr>
            <p:cNvPr id="42" name="TextBox 42"/>
            <p:cNvSpPr txBox="1"/>
            <p:nvPr/>
          </p:nvSpPr>
          <p:spPr>
            <a:xfrm>
              <a:off x="749618" y="1933099"/>
              <a:ext cx="103084"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3</a:t>
              </a:r>
            </a:p>
          </p:txBody>
        </p:sp>
        <p:sp>
          <p:nvSpPr>
            <p:cNvPr id="43" name="TextBox 43"/>
            <p:cNvSpPr txBox="1"/>
            <p:nvPr/>
          </p:nvSpPr>
          <p:spPr>
            <a:xfrm>
              <a:off x="1130618" y="1933099"/>
              <a:ext cx="209883"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MU</a:t>
              </a:r>
            </a:p>
          </p:txBody>
        </p:sp>
        <p:sp>
          <p:nvSpPr>
            <p:cNvPr id="44" name="TextBox 44"/>
            <p:cNvSpPr txBox="1"/>
            <p:nvPr/>
          </p:nvSpPr>
          <p:spPr>
            <a:xfrm>
              <a:off x="2083118" y="1933099"/>
              <a:ext cx="1277874"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Micron Technology</a:t>
              </a:r>
            </a:p>
          </p:txBody>
        </p:sp>
        <p:sp>
          <p:nvSpPr>
            <p:cNvPr id="45" name="Rectangle 45"/>
            <p:cNvSpPr/>
            <p:nvPr/>
          </p:nvSpPr>
          <p:spPr>
            <a:xfrm>
              <a:off x="5334000" y="1943100"/>
              <a:ext cx="666750" cy="95250"/>
            </a:xfrm>
            <a:prstGeom prst="roundRect">
              <a:avLst>
                <a:gd name="adj" fmla="val 20000"/>
              </a:avLst>
            </a:prstGeom>
            <a:solidFill>
              <a:srgbClr val="4A90D9">
                <a:alpha val="40000"/>
              </a:srgbClr>
            </a:solidFill>
            <a:ln>
              <a:noFill/>
            </a:ln>
          </p:spPr>
        </p:sp>
        <p:sp>
          <p:nvSpPr>
            <p:cNvPr id="46" name="TextBox 46"/>
            <p:cNvSpPr txBox="1"/>
            <p:nvPr/>
          </p:nvSpPr>
          <p:spPr>
            <a:xfrm>
              <a:off x="6274118" y="1933099"/>
              <a:ext cx="416362"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6.99%</a:t>
              </a:r>
            </a:p>
          </p:txBody>
        </p:sp>
        <p:sp>
          <p:nvSpPr>
            <p:cNvPr id="47" name="TextBox 47"/>
            <p:cNvSpPr txBox="1"/>
            <p:nvPr/>
          </p:nvSpPr>
          <p:spPr>
            <a:xfrm>
              <a:off x="7226618" y="1933099"/>
              <a:ext cx="103084" cy="198120"/>
            </a:xfrm>
            <a:prstGeom prst="rect">
              <a:avLst/>
            </a:prstGeom>
            <a:noFill/>
            <a:ln>
              <a:noFill/>
            </a:ln>
          </p:spPr>
          <p:txBody>
            <a:bodyPr wrap="none" lIns="0" tIns="0" rIns="0" bIns="0" anchor="t" anchorCtr="0">
              <a:spAutoFit/>
            </a:bodyPr>
            <a:lstStyle/>
            <a:p>
              <a:pPr algn="l"/>
              <a:r>
                <a:rPr lang="zh-CN" sz="975" dirty="0">
                  <a:solidFill>
                    <a:srgbClr val="4CAF82"/>
                  </a:solidFill>
                  <a:latin typeface="Arial"/>
                  <a:ea typeface="Microsoft YaHei"/>
                  <a:cs typeface="Arial"/>
                </a:rPr>
                <a:t>✅</a:t>
              </a:r>
            </a:p>
          </p:txBody>
        </p:sp>
        <p:sp>
          <p:nvSpPr>
            <p:cNvPr id="48" name="TextBox 48"/>
            <p:cNvSpPr txBox="1"/>
            <p:nvPr/>
          </p:nvSpPr>
          <p:spPr>
            <a:xfrm>
              <a:off x="8560118" y="1933099"/>
              <a:ext cx="1363313"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DRAM / HBM memory</a:t>
              </a:r>
            </a:p>
          </p:txBody>
        </p:sp>
      </p:grpSp>
      <p:grpSp>
        <p:nvGrpSpPr>
          <p:cNvPr id="58" name="Group 58"/>
          <p:cNvGrpSpPr/>
          <p:nvPr/>
        </p:nvGrpSpPr>
        <p:grpSpPr>
          <a:xfrm>
            <a:off x="571500" y="2114550"/>
            <a:ext cx="11049000" cy="264319"/>
            <a:chOff x="571500" y="2114550"/>
            <a:chExt cx="11049000" cy="264319"/>
          </a:xfrm>
        </p:grpSpPr>
        <p:sp>
          <p:nvSpPr>
            <p:cNvPr id="50" name="Rectangle 50"/>
            <p:cNvSpPr/>
            <p:nvPr/>
          </p:nvSpPr>
          <p:spPr>
            <a:xfrm>
              <a:off x="571500" y="2114550"/>
              <a:ext cx="11049000" cy="247650"/>
            </a:xfrm>
            <a:prstGeom prst="rect">
              <a:avLst/>
            </a:prstGeom>
            <a:solidFill>
              <a:srgbClr val="0A0E1A"/>
            </a:solidFill>
            <a:ln>
              <a:noFill/>
            </a:ln>
          </p:spPr>
        </p:sp>
        <p:sp>
          <p:nvSpPr>
            <p:cNvPr id="51" name="TextBox 51"/>
            <p:cNvSpPr txBox="1"/>
            <p:nvPr/>
          </p:nvSpPr>
          <p:spPr>
            <a:xfrm>
              <a:off x="749618" y="2180749"/>
              <a:ext cx="103084"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4</a:t>
              </a:r>
            </a:p>
          </p:txBody>
        </p:sp>
        <p:sp>
          <p:nvSpPr>
            <p:cNvPr id="52" name="TextBox 52"/>
            <p:cNvSpPr txBox="1"/>
            <p:nvPr/>
          </p:nvSpPr>
          <p:spPr>
            <a:xfrm>
              <a:off x="1130618" y="2180749"/>
              <a:ext cx="288203"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AMD</a:t>
              </a:r>
            </a:p>
          </p:txBody>
        </p:sp>
        <p:sp>
          <p:nvSpPr>
            <p:cNvPr id="53" name="TextBox 53"/>
            <p:cNvSpPr txBox="1"/>
            <p:nvPr/>
          </p:nvSpPr>
          <p:spPr>
            <a:xfrm>
              <a:off x="2083118" y="2180749"/>
              <a:ext cx="1633871"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Advanced Micro Devices</a:t>
              </a:r>
            </a:p>
          </p:txBody>
        </p:sp>
        <p:sp>
          <p:nvSpPr>
            <p:cNvPr id="54" name="Rectangle 54"/>
            <p:cNvSpPr/>
            <p:nvPr/>
          </p:nvSpPr>
          <p:spPr>
            <a:xfrm>
              <a:off x="5334000" y="2190750"/>
              <a:ext cx="619125" cy="95250"/>
            </a:xfrm>
            <a:prstGeom prst="roundRect">
              <a:avLst>
                <a:gd name="adj" fmla="val 20000"/>
              </a:avLst>
            </a:prstGeom>
            <a:solidFill>
              <a:srgbClr val="4A90D9">
                <a:alpha val="40000"/>
              </a:srgbClr>
            </a:solidFill>
            <a:ln>
              <a:noFill/>
            </a:ln>
          </p:spPr>
        </p:sp>
        <p:sp>
          <p:nvSpPr>
            <p:cNvPr id="55" name="TextBox 55"/>
            <p:cNvSpPr txBox="1"/>
            <p:nvPr/>
          </p:nvSpPr>
          <p:spPr>
            <a:xfrm>
              <a:off x="6274118" y="2180749"/>
              <a:ext cx="416362"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6.47%</a:t>
              </a:r>
            </a:p>
          </p:txBody>
        </p:sp>
        <p:sp>
          <p:nvSpPr>
            <p:cNvPr id="56" name="TextBox 56"/>
            <p:cNvSpPr txBox="1"/>
            <p:nvPr/>
          </p:nvSpPr>
          <p:spPr>
            <a:xfrm>
              <a:off x="7226618" y="2180749"/>
              <a:ext cx="103084" cy="198120"/>
            </a:xfrm>
            <a:prstGeom prst="rect">
              <a:avLst/>
            </a:prstGeom>
            <a:noFill/>
            <a:ln>
              <a:noFill/>
            </a:ln>
          </p:spPr>
          <p:txBody>
            <a:bodyPr wrap="none" lIns="0" tIns="0" rIns="0" bIns="0" anchor="t" anchorCtr="0">
              <a:spAutoFit/>
            </a:bodyPr>
            <a:lstStyle/>
            <a:p>
              <a:pPr algn="l"/>
              <a:r>
                <a:rPr lang="zh-CN" sz="975" dirty="0">
                  <a:solidFill>
                    <a:srgbClr val="4CAF82"/>
                  </a:solidFill>
                  <a:latin typeface="Arial"/>
                  <a:ea typeface="Microsoft YaHei"/>
                  <a:cs typeface="Arial"/>
                </a:rPr>
                <a:t>✅</a:t>
              </a:r>
            </a:p>
          </p:txBody>
        </p:sp>
        <p:sp>
          <p:nvSpPr>
            <p:cNvPr id="57" name="TextBox 57"/>
            <p:cNvSpPr txBox="1"/>
            <p:nvPr/>
          </p:nvSpPr>
          <p:spPr>
            <a:xfrm>
              <a:off x="8560118" y="2180749"/>
              <a:ext cx="1890189"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CPU / GPU / AI accelerators</a:t>
              </a:r>
            </a:p>
          </p:txBody>
        </p:sp>
      </p:grpSp>
      <p:grpSp>
        <p:nvGrpSpPr>
          <p:cNvPr id="67" name="Group 67"/>
          <p:cNvGrpSpPr/>
          <p:nvPr/>
        </p:nvGrpSpPr>
        <p:grpSpPr>
          <a:xfrm>
            <a:off x="571500" y="2362200"/>
            <a:ext cx="11049000" cy="264319"/>
            <a:chOff x="571500" y="2362200"/>
            <a:chExt cx="11049000" cy="264319"/>
          </a:xfrm>
        </p:grpSpPr>
        <p:sp>
          <p:nvSpPr>
            <p:cNvPr id="59" name="Rectangle 59"/>
            <p:cNvSpPr/>
            <p:nvPr/>
          </p:nvSpPr>
          <p:spPr>
            <a:xfrm>
              <a:off x="571500" y="2362200"/>
              <a:ext cx="11049000" cy="247650"/>
            </a:xfrm>
            <a:prstGeom prst="rect">
              <a:avLst/>
            </a:prstGeom>
            <a:solidFill>
              <a:srgbClr val="131B30"/>
            </a:solidFill>
            <a:ln>
              <a:noFill/>
            </a:ln>
          </p:spPr>
        </p:sp>
        <p:sp>
          <p:nvSpPr>
            <p:cNvPr id="60" name="TextBox 60"/>
            <p:cNvSpPr txBox="1"/>
            <p:nvPr/>
          </p:nvSpPr>
          <p:spPr>
            <a:xfrm>
              <a:off x="749618" y="2428399"/>
              <a:ext cx="103084"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5</a:t>
              </a:r>
            </a:p>
          </p:txBody>
        </p:sp>
        <p:sp>
          <p:nvSpPr>
            <p:cNvPr id="61" name="TextBox 61"/>
            <p:cNvSpPr txBox="1"/>
            <p:nvPr/>
          </p:nvSpPr>
          <p:spPr>
            <a:xfrm>
              <a:off x="1130618" y="2428399"/>
              <a:ext cx="366522"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AMAT</a:t>
              </a:r>
            </a:p>
          </p:txBody>
        </p:sp>
        <p:sp>
          <p:nvSpPr>
            <p:cNvPr id="62" name="TextBox 62"/>
            <p:cNvSpPr txBox="1"/>
            <p:nvPr/>
          </p:nvSpPr>
          <p:spPr>
            <a:xfrm>
              <a:off x="2083118" y="2428399"/>
              <a:ext cx="1206675"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Applied Materials</a:t>
              </a:r>
            </a:p>
          </p:txBody>
        </p:sp>
        <p:sp>
          <p:nvSpPr>
            <p:cNvPr id="63" name="Rectangle 63"/>
            <p:cNvSpPr/>
            <p:nvPr/>
          </p:nvSpPr>
          <p:spPr>
            <a:xfrm>
              <a:off x="5334000" y="2438400"/>
              <a:ext cx="552450" cy="95250"/>
            </a:xfrm>
            <a:prstGeom prst="roundRect">
              <a:avLst>
                <a:gd name="adj" fmla="val 20000"/>
              </a:avLst>
            </a:prstGeom>
            <a:solidFill>
              <a:srgbClr val="4A90D9">
                <a:alpha val="35000"/>
              </a:srgbClr>
            </a:solidFill>
            <a:ln>
              <a:noFill/>
            </a:ln>
          </p:spPr>
        </p:sp>
        <p:sp>
          <p:nvSpPr>
            <p:cNvPr id="64" name="TextBox 64"/>
            <p:cNvSpPr txBox="1"/>
            <p:nvPr/>
          </p:nvSpPr>
          <p:spPr>
            <a:xfrm>
              <a:off x="6274118" y="2428399"/>
              <a:ext cx="416362"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5.84%</a:t>
              </a:r>
            </a:p>
          </p:txBody>
        </p:sp>
        <p:sp>
          <p:nvSpPr>
            <p:cNvPr id="65" name="TextBox 65"/>
            <p:cNvSpPr txBox="1"/>
            <p:nvPr/>
          </p:nvSpPr>
          <p:spPr>
            <a:xfrm>
              <a:off x="7226618" y="2428399"/>
              <a:ext cx="103084" cy="198120"/>
            </a:xfrm>
            <a:prstGeom prst="rect">
              <a:avLst/>
            </a:prstGeom>
            <a:noFill/>
            <a:ln>
              <a:noFill/>
            </a:ln>
          </p:spPr>
          <p:txBody>
            <a:bodyPr wrap="none" lIns="0" tIns="0" rIns="0" bIns="0" anchor="t" anchorCtr="0">
              <a:spAutoFit/>
            </a:bodyPr>
            <a:lstStyle/>
            <a:p>
              <a:pPr algn="l"/>
              <a:r>
                <a:rPr lang="zh-CN" sz="975" dirty="0">
                  <a:solidFill>
                    <a:srgbClr val="4CAF82"/>
                  </a:solidFill>
                  <a:latin typeface="Arial"/>
                  <a:ea typeface="Microsoft YaHei"/>
                  <a:cs typeface="Arial"/>
                </a:rPr>
                <a:t>✅</a:t>
              </a:r>
            </a:p>
          </p:txBody>
        </p:sp>
        <p:sp>
          <p:nvSpPr>
            <p:cNvPr id="66" name="TextBox 66"/>
            <p:cNvSpPr txBox="1"/>
            <p:nvPr/>
          </p:nvSpPr>
          <p:spPr>
            <a:xfrm>
              <a:off x="8560118" y="2428399"/>
              <a:ext cx="1776270"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Semiconductor equipment</a:t>
              </a:r>
            </a:p>
          </p:txBody>
        </p:sp>
      </p:grpSp>
      <p:grpSp>
        <p:nvGrpSpPr>
          <p:cNvPr id="98" name="Group 98"/>
          <p:cNvGrpSpPr/>
          <p:nvPr/>
        </p:nvGrpSpPr>
        <p:grpSpPr>
          <a:xfrm>
            <a:off x="571500" y="2609850"/>
            <a:ext cx="11049000" cy="1254919"/>
            <a:chOff x="571500" y="2609850"/>
            <a:chExt cx="11049000" cy="1254919"/>
          </a:xfrm>
        </p:grpSpPr>
        <p:sp>
          <p:nvSpPr>
            <p:cNvPr id="68" name="Rectangle 68"/>
            <p:cNvSpPr/>
            <p:nvPr/>
          </p:nvSpPr>
          <p:spPr>
            <a:xfrm>
              <a:off x="571500" y="2609850"/>
              <a:ext cx="11049000" cy="247650"/>
            </a:xfrm>
            <a:prstGeom prst="rect">
              <a:avLst/>
            </a:prstGeom>
            <a:solidFill>
              <a:srgbClr val="0A0E1A"/>
            </a:solidFill>
            <a:ln>
              <a:noFill/>
            </a:ln>
          </p:spPr>
        </p:sp>
        <p:sp>
          <p:nvSpPr>
            <p:cNvPr id="69" name="TextBox 69"/>
            <p:cNvSpPr txBox="1"/>
            <p:nvPr/>
          </p:nvSpPr>
          <p:spPr>
            <a:xfrm>
              <a:off x="749618" y="2676049"/>
              <a:ext cx="103084"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6</a:t>
              </a:r>
            </a:p>
          </p:txBody>
        </p:sp>
        <p:sp>
          <p:nvSpPr>
            <p:cNvPr id="70" name="TextBox 70"/>
            <p:cNvSpPr txBox="1"/>
            <p:nvPr/>
          </p:nvSpPr>
          <p:spPr>
            <a:xfrm>
              <a:off x="1130618" y="2676049"/>
              <a:ext cx="366522"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MRVL</a:t>
              </a:r>
            </a:p>
          </p:txBody>
        </p:sp>
        <p:sp>
          <p:nvSpPr>
            <p:cNvPr id="71" name="TextBox 71"/>
            <p:cNvSpPr txBox="1"/>
            <p:nvPr/>
          </p:nvSpPr>
          <p:spPr>
            <a:xfrm>
              <a:off x="2083118" y="2676049"/>
              <a:ext cx="1320594"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Marvell Technology</a:t>
              </a:r>
            </a:p>
          </p:txBody>
        </p:sp>
        <p:sp>
          <p:nvSpPr>
            <p:cNvPr id="72" name="TextBox 72"/>
            <p:cNvSpPr txBox="1"/>
            <p:nvPr/>
          </p:nvSpPr>
          <p:spPr>
            <a:xfrm>
              <a:off x="6274118" y="2676049"/>
              <a:ext cx="380762"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5.17%</a:t>
              </a:r>
            </a:p>
          </p:txBody>
        </p:sp>
        <p:sp>
          <p:nvSpPr>
            <p:cNvPr id="73" name="TextBox 73"/>
            <p:cNvSpPr txBox="1"/>
            <p:nvPr/>
          </p:nvSpPr>
          <p:spPr>
            <a:xfrm>
              <a:off x="8560118" y="2676049"/>
              <a:ext cx="2025467"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AI custom chips / networking</a:t>
              </a:r>
            </a:p>
          </p:txBody>
        </p:sp>
        <p:sp>
          <p:nvSpPr>
            <p:cNvPr id="74" name="Rectangle 74"/>
            <p:cNvSpPr/>
            <p:nvPr/>
          </p:nvSpPr>
          <p:spPr>
            <a:xfrm>
              <a:off x="571500" y="2857500"/>
              <a:ext cx="11049000" cy="247650"/>
            </a:xfrm>
            <a:prstGeom prst="rect">
              <a:avLst/>
            </a:prstGeom>
            <a:solidFill>
              <a:srgbClr val="131B30"/>
            </a:solidFill>
            <a:ln>
              <a:noFill/>
            </a:ln>
          </p:spPr>
        </p:sp>
        <p:sp>
          <p:nvSpPr>
            <p:cNvPr id="75" name="TextBox 75"/>
            <p:cNvSpPr txBox="1"/>
            <p:nvPr/>
          </p:nvSpPr>
          <p:spPr>
            <a:xfrm>
              <a:off x="749618" y="2923699"/>
              <a:ext cx="103084"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7</a:t>
              </a:r>
            </a:p>
          </p:txBody>
        </p:sp>
        <p:sp>
          <p:nvSpPr>
            <p:cNvPr id="76" name="TextBox 76"/>
            <p:cNvSpPr txBox="1"/>
            <p:nvPr/>
          </p:nvSpPr>
          <p:spPr>
            <a:xfrm>
              <a:off x="1130618" y="2923699"/>
              <a:ext cx="302443"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INTC</a:t>
              </a:r>
            </a:p>
          </p:txBody>
        </p:sp>
        <p:sp>
          <p:nvSpPr>
            <p:cNvPr id="77" name="TextBox 77"/>
            <p:cNvSpPr txBox="1"/>
            <p:nvPr/>
          </p:nvSpPr>
          <p:spPr>
            <a:xfrm>
              <a:off x="2083118" y="2923699"/>
              <a:ext cx="701159"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Intel Corp</a:t>
              </a:r>
            </a:p>
          </p:txBody>
        </p:sp>
        <p:sp>
          <p:nvSpPr>
            <p:cNvPr id="78" name="TextBox 78"/>
            <p:cNvSpPr txBox="1"/>
            <p:nvPr/>
          </p:nvSpPr>
          <p:spPr>
            <a:xfrm>
              <a:off x="6274118" y="2923699"/>
              <a:ext cx="380762"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4.13%</a:t>
              </a:r>
            </a:p>
          </p:txBody>
        </p:sp>
        <p:sp>
          <p:nvSpPr>
            <p:cNvPr id="79" name="TextBox 79"/>
            <p:cNvSpPr txBox="1"/>
            <p:nvPr/>
          </p:nvSpPr>
          <p:spPr>
            <a:xfrm>
              <a:off x="8560118" y="2923699"/>
              <a:ext cx="2153626"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CPU / foundry (restructuring)</a:t>
              </a:r>
            </a:p>
          </p:txBody>
        </p:sp>
        <p:sp>
          <p:nvSpPr>
            <p:cNvPr id="80" name="Rectangle 80"/>
            <p:cNvSpPr/>
            <p:nvPr/>
          </p:nvSpPr>
          <p:spPr>
            <a:xfrm>
              <a:off x="571500" y="3105150"/>
              <a:ext cx="11049000" cy="247650"/>
            </a:xfrm>
            <a:prstGeom prst="rect">
              <a:avLst/>
            </a:prstGeom>
            <a:solidFill>
              <a:srgbClr val="0A0E1A"/>
            </a:solidFill>
            <a:ln>
              <a:noFill/>
            </a:ln>
          </p:spPr>
        </p:sp>
        <p:sp>
          <p:nvSpPr>
            <p:cNvPr id="81" name="TextBox 81"/>
            <p:cNvSpPr txBox="1"/>
            <p:nvPr/>
          </p:nvSpPr>
          <p:spPr>
            <a:xfrm>
              <a:off x="749618" y="3171349"/>
              <a:ext cx="103084"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8</a:t>
              </a:r>
            </a:p>
          </p:txBody>
        </p:sp>
        <p:sp>
          <p:nvSpPr>
            <p:cNvPr id="82" name="TextBox 82"/>
            <p:cNvSpPr txBox="1"/>
            <p:nvPr/>
          </p:nvSpPr>
          <p:spPr>
            <a:xfrm>
              <a:off x="1130618" y="3171349"/>
              <a:ext cx="338042"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KLAC</a:t>
              </a:r>
            </a:p>
          </p:txBody>
        </p:sp>
        <p:sp>
          <p:nvSpPr>
            <p:cNvPr id="83" name="TextBox 83"/>
            <p:cNvSpPr txBox="1"/>
            <p:nvPr/>
          </p:nvSpPr>
          <p:spPr>
            <a:xfrm>
              <a:off x="2083118" y="3171349"/>
              <a:ext cx="615720"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KLA Corp</a:t>
              </a:r>
            </a:p>
          </p:txBody>
        </p:sp>
        <p:sp>
          <p:nvSpPr>
            <p:cNvPr id="84" name="TextBox 84"/>
            <p:cNvSpPr txBox="1"/>
            <p:nvPr/>
          </p:nvSpPr>
          <p:spPr>
            <a:xfrm>
              <a:off x="6274118" y="3171349"/>
              <a:ext cx="380762"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4.12%</a:t>
              </a:r>
            </a:p>
          </p:txBody>
        </p:sp>
        <p:sp>
          <p:nvSpPr>
            <p:cNvPr id="85" name="TextBox 85"/>
            <p:cNvSpPr txBox="1"/>
            <p:nvPr/>
          </p:nvSpPr>
          <p:spPr>
            <a:xfrm>
              <a:off x="8560118" y="3171349"/>
              <a:ext cx="2530983"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Semiconductor inspection equipment</a:t>
              </a:r>
            </a:p>
          </p:txBody>
        </p:sp>
        <p:sp>
          <p:nvSpPr>
            <p:cNvPr id="86" name="Rectangle 86"/>
            <p:cNvSpPr/>
            <p:nvPr/>
          </p:nvSpPr>
          <p:spPr>
            <a:xfrm>
              <a:off x="571500" y="3352800"/>
              <a:ext cx="11049000" cy="247650"/>
            </a:xfrm>
            <a:prstGeom prst="rect">
              <a:avLst/>
            </a:prstGeom>
            <a:solidFill>
              <a:srgbClr val="131B30"/>
            </a:solidFill>
            <a:ln>
              <a:noFill/>
            </a:ln>
          </p:spPr>
        </p:sp>
        <p:sp>
          <p:nvSpPr>
            <p:cNvPr id="87" name="TextBox 87"/>
            <p:cNvSpPr txBox="1"/>
            <p:nvPr/>
          </p:nvSpPr>
          <p:spPr>
            <a:xfrm>
              <a:off x="749618" y="3418999"/>
              <a:ext cx="103084"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9</a:t>
              </a:r>
            </a:p>
          </p:txBody>
        </p:sp>
        <p:sp>
          <p:nvSpPr>
            <p:cNvPr id="88" name="TextBox 88"/>
            <p:cNvSpPr txBox="1"/>
            <p:nvPr/>
          </p:nvSpPr>
          <p:spPr>
            <a:xfrm>
              <a:off x="1130618" y="3418999"/>
              <a:ext cx="395002"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MPWR</a:t>
              </a:r>
            </a:p>
          </p:txBody>
        </p:sp>
        <p:sp>
          <p:nvSpPr>
            <p:cNvPr id="89" name="TextBox 89"/>
            <p:cNvSpPr txBox="1"/>
            <p:nvPr/>
          </p:nvSpPr>
          <p:spPr>
            <a:xfrm>
              <a:off x="2083118" y="3418999"/>
              <a:ext cx="1192435"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Monolithic Power</a:t>
              </a:r>
            </a:p>
          </p:txBody>
        </p:sp>
        <p:sp>
          <p:nvSpPr>
            <p:cNvPr id="90" name="TextBox 90"/>
            <p:cNvSpPr txBox="1"/>
            <p:nvPr/>
          </p:nvSpPr>
          <p:spPr>
            <a:xfrm>
              <a:off x="6274118" y="3418999"/>
              <a:ext cx="416362"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4.08%</a:t>
              </a:r>
            </a:p>
          </p:txBody>
        </p:sp>
        <p:sp>
          <p:nvSpPr>
            <p:cNvPr id="91" name="TextBox 91"/>
            <p:cNvSpPr txBox="1"/>
            <p:nvPr/>
          </p:nvSpPr>
          <p:spPr>
            <a:xfrm>
              <a:off x="8560118" y="3418999"/>
              <a:ext cx="2602182"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Power management ICs for AI servers</a:t>
              </a:r>
            </a:p>
          </p:txBody>
        </p:sp>
        <p:sp>
          <p:nvSpPr>
            <p:cNvPr id="92" name="Rectangle 92"/>
            <p:cNvSpPr/>
            <p:nvPr/>
          </p:nvSpPr>
          <p:spPr>
            <a:xfrm>
              <a:off x="571500" y="3600450"/>
              <a:ext cx="11049000" cy="247650"/>
            </a:xfrm>
            <a:prstGeom prst="rect">
              <a:avLst/>
            </a:prstGeom>
            <a:solidFill>
              <a:srgbClr val="0A0E1A"/>
            </a:solidFill>
            <a:ln>
              <a:noFill/>
            </a:ln>
          </p:spPr>
        </p:sp>
        <p:sp>
          <p:nvSpPr>
            <p:cNvPr id="93" name="TextBox 93"/>
            <p:cNvSpPr txBox="1"/>
            <p:nvPr/>
          </p:nvSpPr>
          <p:spPr>
            <a:xfrm>
              <a:off x="749618" y="3666649"/>
              <a:ext cx="145804"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10</a:t>
              </a:r>
            </a:p>
          </p:txBody>
        </p:sp>
        <p:sp>
          <p:nvSpPr>
            <p:cNvPr id="94" name="TextBox 94"/>
            <p:cNvSpPr txBox="1"/>
            <p:nvPr/>
          </p:nvSpPr>
          <p:spPr>
            <a:xfrm>
              <a:off x="1130618" y="3666649"/>
              <a:ext cx="259723"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TER</a:t>
              </a:r>
            </a:p>
          </p:txBody>
        </p:sp>
        <p:sp>
          <p:nvSpPr>
            <p:cNvPr id="95" name="TextBox 95"/>
            <p:cNvSpPr txBox="1"/>
            <p:nvPr/>
          </p:nvSpPr>
          <p:spPr>
            <a:xfrm>
              <a:off x="2083118" y="3666649"/>
              <a:ext cx="651319"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Teradyne</a:t>
              </a:r>
            </a:p>
          </p:txBody>
        </p:sp>
        <p:sp>
          <p:nvSpPr>
            <p:cNvPr id="96" name="TextBox 96"/>
            <p:cNvSpPr txBox="1"/>
            <p:nvPr/>
          </p:nvSpPr>
          <p:spPr>
            <a:xfrm>
              <a:off x="6274118" y="3666649"/>
              <a:ext cx="416362"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3.95%</a:t>
              </a:r>
            </a:p>
          </p:txBody>
        </p:sp>
        <p:sp>
          <p:nvSpPr>
            <p:cNvPr id="97" name="TextBox 97"/>
            <p:cNvSpPr txBox="1"/>
            <p:nvPr/>
          </p:nvSpPr>
          <p:spPr>
            <a:xfrm>
              <a:off x="8560118" y="3666649"/>
              <a:ext cx="2132267"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Semiconductor test equipment</a:t>
              </a:r>
            </a:p>
          </p:txBody>
        </p:sp>
      </p:grpSp>
      <p:grpSp>
        <p:nvGrpSpPr>
          <p:cNvPr id="107" name="Group 107"/>
          <p:cNvGrpSpPr/>
          <p:nvPr/>
        </p:nvGrpSpPr>
        <p:grpSpPr>
          <a:xfrm>
            <a:off x="571500" y="3981450"/>
            <a:ext cx="11049000" cy="971550"/>
            <a:chOff x="571500" y="3981450"/>
            <a:chExt cx="11049000" cy="971550"/>
          </a:xfrm>
        </p:grpSpPr>
        <p:sp>
          <p:nvSpPr>
            <p:cNvPr id="99" name="Rectangle 99"/>
            <p:cNvSpPr/>
            <p:nvPr/>
          </p:nvSpPr>
          <p:spPr>
            <a:xfrm>
              <a:off x="571500" y="3981450"/>
              <a:ext cx="11049000" cy="9525"/>
            </a:xfrm>
            <a:prstGeom prst="rect">
              <a:avLst/>
            </a:prstGeom>
            <a:solidFill>
              <a:srgbClr val="2A3A5C"/>
            </a:solidFill>
            <a:ln>
              <a:noFill/>
            </a:ln>
          </p:spPr>
        </p:sp>
        <p:sp>
          <p:nvSpPr>
            <p:cNvPr id="100" name="TextBox 100"/>
            <p:cNvSpPr txBox="1"/>
            <p:nvPr/>
          </p:nvSpPr>
          <p:spPr>
            <a:xfrm>
              <a:off x="749618" y="4200049"/>
              <a:ext cx="1744230"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Microsoft YaHei"/>
                  <a:cs typeface="Arial"/>
                </a:rPr>
                <a:t>CONCENTRATION &amp; PURITY</a:t>
              </a:r>
            </a:p>
          </p:txBody>
        </p:sp>
        <p:sp>
          <p:nvSpPr>
            <p:cNvPr id="101" name="Rectangle 101"/>
            <p:cNvSpPr/>
            <p:nvPr/>
          </p:nvSpPr>
          <p:spPr>
            <a:xfrm>
              <a:off x="571500" y="4381500"/>
              <a:ext cx="5334000" cy="571500"/>
            </a:xfrm>
            <a:prstGeom prst="roundRect">
              <a:avLst>
                <a:gd name="adj" fmla="val 6667"/>
              </a:avLst>
            </a:prstGeom>
            <a:solidFill>
              <a:srgbClr val="131B30"/>
            </a:solidFill>
            <a:ln>
              <a:noFill/>
            </a:ln>
          </p:spPr>
        </p:sp>
        <p:sp>
          <p:nvSpPr>
            <p:cNvPr id="102" name="TextBox 102"/>
            <p:cNvSpPr txBox="1"/>
            <p:nvPr/>
          </p:nvSpPr>
          <p:spPr>
            <a:xfrm>
              <a:off x="749618" y="4504849"/>
              <a:ext cx="3449455"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Top 5 = 36.0% · Top 10 = 57.7% · ~30 total holdings</a:t>
              </a:r>
            </a:p>
          </p:txBody>
        </p:sp>
        <p:sp>
          <p:nvSpPr>
            <p:cNvPr id="103" name="TextBox 103"/>
            <p:cNvSpPr txBox="1"/>
            <p:nvPr/>
          </p:nvSpPr>
          <p:spPr>
            <a:xfrm>
              <a:off x="749618" y="4733449"/>
              <a:ext cx="3008019" cy="198120"/>
            </a:xfrm>
            <a:prstGeom prst="rect">
              <a:avLst/>
            </a:prstGeom>
            <a:noFill/>
            <a:ln>
              <a:noFill/>
            </a:ln>
          </p:spPr>
          <p:txBody>
            <a:bodyPr wrap="none" lIns="0" tIns="0" rIns="0" bIns="0" anchor="t" anchorCtr="0">
              <a:spAutoFit/>
            </a:bodyPr>
            <a:lstStyle/>
            <a:p>
              <a:pPr algn="l"/>
              <a:r>
                <a:rPr lang="zh-CN" sz="975" dirty="0">
                  <a:solidFill>
                    <a:srgbClr val="4CAF82"/>
                  </a:solidFill>
                  <a:latin typeface="Arial"/>
                  <a:ea typeface="Microsoft YaHei"/>
                  <a:cs typeface="Arial"/>
                </a:rPr>
                <a:t>No single holding &gt;10% — NVDA capped at 8.4%</a:t>
              </a:r>
            </a:p>
          </p:txBody>
        </p:sp>
        <p:sp>
          <p:nvSpPr>
            <p:cNvPr id="104" name="Rectangle 104"/>
            <p:cNvSpPr/>
            <p:nvPr/>
          </p:nvSpPr>
          <p:spPr>
            <a:xfrm>
              <a:off x="6096000" y="4381500"/>
              <a:ext cx="5524500" cy="571500"/>
            </a:xfrm>
            <a:prstGeom prst="roundRect">
              <a:avLst>
                <a:gd name="adj" fmla="val 6667"/>
              </a:avLst>
            </a:prstGeom>
            <a:solidFill>
              <a:srgbClr val="131B30"/>
            </a:solidFill>
            <a:ln>
              <a:noFill/>
            </a:ln>
          </p:spPr>
        </p:sp>
        <p:sp>
          <p:nvSpPr>
            <p:cNvPr id="105" name="TextBox 105"/>
            <p:cNvSpPr txBox="1"/>
            <p:nvPr/>
          </p:nvSpPr>
          <p:spPr>
            <a:xfrm>
              <a:off x="6274118" y="4504849"/>
              <a:ext cx="3527774"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100% semiconductor sector · No off-theme dilution</a:t>
              </a:r>
            </a:p>
          </p:txBody>
        </p:sp>
        <p:sp>
          <p:nvSpPr>
            <p:cNvPr id="106" name="TextBox 106"/>
            <p:cNvSpPr txBox="1"/>
            <p:nvPr/>
          </p:nvSpPr>
          <p:spPr>
            <a:xfrm>
              <a:off x="6274118" y="4733449"/>
              <a:ext cx="3100578" cy="198120"/>
            </a:xfrm>
            <a:prstGeom prst="rect">
              <a:avLst/>
            </a:prstGeom>
            <a:noFill/>
            <a:ln>
              <a:noFill/>
            </a:ln>
          </p:spPr>
          <p:txBody>
            <a:bodyPr wrap="none" lIns="0" tIns="0" rIns="0" bIns="0" anchor="t" anchorCtr="0">
              <a:spAutoFit/>
            </a:bodyPr>
            <a:lstStyle/>
            <a:p>
              <a:pPr algn="l"/>
              <a:r>
                <a:rPr lang="zh-CN" sz="975" dirty="0">
                  <a:solidFill>
                    <a:srgbClr val="4CAF82"/>
                  </a:solidFill>
                  <a:latin typeface="Arial"/>
                  <a:ea typeface="Microsoft YaHei"/>
                  <a:cs typeface="Arial"/>
                </a:rPr>
                <a:t>Better diversification than SMH (∼20% NVDA)</a:t>
              </a:r>
            </a:p>
          </p:txBody>
        </p:sp>
      </p:grpSp>
      <p:grpSp>
        <p:nvGrpSpPr>
          <p:cNvPr id="112" name="Group 112"/>
          <p:cNvGrpSpPr/>
          <p:nvPr/>
        </p:nvGrpSpPr>
        <p:grpSpPr>
          <a:xfrm>
            <a:off x="0" y="6324600"/>
            <a:ext cx="12192000" cy="533400"/>
            <a:chOff x="0" y="6324600"/>
            <a:chExt cx="12192000" cy="533400"/>
          </a:xfrm>
        </p:grpSpPr>
        <p:sp>
          <p:nvSpPr>
            <p:cNvPr id="108" name="Rectangle 108"/>
            <p:cNvSpPr/>
            <p:nvPr/>
          </p:nvSpPr>
          <p:spPr>
            <a:xfrm>
              <a:off x="0" y="6324600"/>
              <a:ext cx="12192000" cy="533400"/>
            </a:xfrm>
            <a:prstGeom prst="rect">
              <a:avLst/>
            </a:prstGeom>
            <a:solidFill>
              <a:srgbClr val="131B30"/>
            </a:solidFill>
            <a:ln>
              <a:noFill/>
            </a:ln>
          </p:spPr>
        </p:sp>
        <p:sp>
          <p:nvSpPr>
            <p:cNvPr id="109" name="Rectangle 109"/>
            <p:cNvSpPr/>
            <p:nvPr/>
          </p:nvSpPr>
          <p:spPr>
            <a:xfrm>
              <a:off x="0" y="6324600"/>
              <a:ext cx="12192000" cy="9525"/>
            </a:xfrm>
            <a:prstGeom prst="rect">
              <a:avLst/>
            </a:prstGeom>
            <a:solidFill>
              <a:srgbClr val="F5C842">
                <a:alpha val="35000"/>
              </a:srgbClr>
            </a:solidFill>
            <a:ln>
              <a:noFill/>
            </a:ln>
          </p:spPr>
        </p:sp>
        <p:sp>
          <p:nvSpPr>
            <p:cNvPr id="110" name="TextBox 110"/>
            <p:cNvSpPr txBox="1"/>
            <p:nvPr/>
          </p:nvSpPr>
          <p:spPr>
            <a:xfrm>
              <a:off x="749618" y="6533674"/>
              <a:ext cx="950357"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ETF Overview</a:t>
              </a:r>
            </a:p>
          </p:txBody>
        </p:sp>
        <p:sp>
          <p:nvSpPr>
            <p:cNvPr id="111" name="TextBox 111"/>
            <p:cNvSpPr txBox="1"/>
            <p:nvPr/>
          </p:nvSpPr>
          <p:spPr>
            <a:xfrm>
              <a:off x="11339298" y="6533674"/>
              <a:ext cx="103084" cy="198120"/>
            </a:xfrm>
            <a:prstGeom prst="rect">
              <a:avLst/>
            </a:prstGeom>
            <a:noFill/>
            <a:ln>
              <a:noFill/>
            </a:ln>
          </p:spPr>
          <p:txBody>
            <a:bodyPr wrap="none" lIns="0" tIns="0" rIns="0" bIns="0" anchor="t" anchorCtr="0">
              <a:spAutoFit/>
            </a:bodyPr>
            <a:lstStyle/>
            <a:p>
              <a:pPr algn="r"/>
              <a:r>
                <a:rPr lang="zh-CN" sz="975" dirty="0">
                  <a:solidFill>
                    <a:srgbClr val="8899BB"/>
                  </a:solidFill>
                  <a:latin typeface="Arial"/>
                  <a:ea typeface="Microsoft YaHei"/>
                  <a:cs typeface="Arial"/>
                </a:rPr>
                <a:t>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image">
                                      <p:cBhvr>
                                        <p:cTn id="11" dur="400"/>
                                        <p:tgtEl>
                                          <p:spTgt spid="14"/>
                                        </p:tgtEl>
                                      </p:cBhvr>
                                    </p:animEffect>
                                  </p:childTnLst>
                                </p:cTn>
                              </p:par>
                            </p:childTnLst>
                          </p:cTn>
                        </p:par>
                        <p:par>
                          <p:cTn id="12" fill="hold">
                            <p:stCondLst>
                              <p:cond delay="1800"/>
                            </p:stCondLst>
                            <p:childTnLst>
                              <p:par>
                                <p:cTn id="13" presetID="3" presetClass="entr" presetSubtype="10" fill="hold"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blinds(horizontal)">
                                      <p:cBhvr>
                                        <p:cTn id="15" dur="400"/>
                                        <p:tgtEl>
                                          <p:spTgt spid="31"/>
                                        </p:tgtEl>
                                      </p:cBhvr>
                                    </p:animEffect>
                                  </p:childTnLst>
                                </p:cTn>
                              </p:par>
                            </p:childTnLst>
                          </p:cTn>
                        </p:par>
                        <p:par>
                          <p:cTn id="16" fill="hold">
                            <p:stCondLst>
                              <p:cond delay="2700"/>
                            </p:stCondLst>
                            <p:childTnLst>
                              <p:par>
                                <p:cTn id="17" presetID="5" presetClass="entr" presetSubtype="6" fill="hold" nodeType="after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checkerboard(across)">
                                      <p:cBhvr>
                                        <p:cTn id="19" dur="400"/>
                                        <p:tgtEl>
                                          <p:spTgt spid="40"/>
                                        </p:tgtEl>
                                      </p:cBhvr>
                                    </p:animEffect>
                                  </p:childTnLst>
                                </p:cTn>
                              </p:par>
                            </p:childTnLst>
                          </p:cTn>
                        </p:par>
                        <p:par>
                          <p:cTn id="20" fill="hold">
                            <p:stCondLst>
                              <p:cond delay="3600"/>
                            </p:stCondLst>
                            <p:childTnLst>
                              <p:par>
                                <p:cTn id="21" presetID="9" presetClass="entr" presetSubtype="0" fill="hold" nodeType="after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dissolve">
                                      <p:cBhvr>
                                        <p:cTn id="23" dur="400"/>
                                        <p:tgtEl>
                                          <p:spTgt spid="49"/>
                                        </p:tgtEl>
                                      </p:cBhvr>
                                    </p:animEffect>
                                  </p:childTnLst>
                                </p:cTn>
                              </p:par>
                            </p:childTnLst>
                          </p:cTn>
                        </p:par>
                        <p:par>
                          <p:cTn id="24" fill="hold">
                            <p:stCondLst>
                              <p:cond delay="4500"/>
                            </p:stCondLst>
                            <p:childTnLst>
                              <p:par>
                                <p:cTn id="25" presetID="2" presetClass="entr" presetSubtype="4" fill="hold" nodeType="afterEffect">
                                  <p:stCondLst>
                                    <p:cond delay="0"/>
                                  </p:stCondLst>
                                  <p:childTnLst>
                                    <p:set>
                                      <p:cBhvr>
                                        <p:cTn id="26" dur="1" fill="hold">
                                          <p:stCondLst>
                                            <p:cond delay="0"/>
                                          </p:stCondLst>
                                        </p:cTn>
                                        <p:tgtEl>
                                          <p:spTgt spid="58"/>
                                        </p:tgtEl>
                                        <p:attrNameLst>
                                          <p:attrName>style.visibility</p:attrName>
                                        </p:attrNameLst>
                                      </p:cBhvr>
                                      <p:to>
                                        <p:strVal val="visible"/>
                                      </p:to>
                                    </p:set>
                                    <p:animEffect transition="in" filter="slide(fromBottom)">
                                      <p:cBhvr>
                                        <p:cTn id="27" dur="400"/>
                                        <p:tgtEl>
                                          <p:spTgt spid="58"/>
                                        </p:tgtEl>
                                      </p:cBhvr>
                                    </p:animEffect>
                                  </p:childTnLst>
                                </p:cTn>
                              </p:par>
                            </p:childTnLst>
                          </p:cTn>
                        </p:par>
                        <p:par>
                          <p:cTn id="28" fill="hold">
                            <p:stCondLst>
                              <p:cond delay="5400"/>
                            </p:stCondLst>
                            <p:childTnLst>
                              <p:par>
                                <p:cTn id="29" presetID="42" presetClass="entr" presetSubtype="8" fill="hold" nodeType="afterEffect">
                                  <p:stCondLst>
                                    <p:cond delay="0"/>
                                  </p:stCondLst>
                                  <p:childTnLst>
                                    <p:set>
                                      <p:cBhvr>
                                        <p:cTn id="30" dur="1" fill="hold">
                                          <p:stCondLst>
                                            <p:cond delay="0"/>
                                          </p:stCondLst>
                                        </p:cTn>
                                        <p:tgtEl>
                                          <p:spTgt spid="67"/>
                                        </p:tgtEl>
                                        <p:attrNameLst>
                                          <p:attrName>style.visibility</p:attrName>
                                        </p:attrNameLst>
                                      </p:cBhvr>
                                      <p:to>
                                        <p:strVal val="visible"/>
                                      </p:to>
                                    </p:set>
                                    <p:animEffect transition="in" filter="slide(fromLeft)">
                                      <p:cBhvr>
                                        <p:cTn id="31" dur="400"/>
                                        <p:tgtEl>
                                          <p:spTgt spid="67"/>
                                        </p:tgtEl>
                                      </p:cBhvr>
                                    </p:animEffect>
                                  </p:childTnLst>
                                </p:cTn>
                              </p:par>
                            </p:childTnLst>
                          </p:cTn>
                        </p:par>
                        <p:par>
                          <p:cTn id="32" fill="hold">
                            <p:stCondLst>
                              <p:cond delay="6300"/>
                            </p:stCondLst>
                            <p:childTnLst>
                              <p:par>
                                <p:cTn id="33" presetID="14" presetClass="entr" presetSubtype="10" fill="hold" nodeType="afterEffect">
                                  <p:stCondLst>
                                    <p:cond delay="0"/>
                                  </p:stCondLst>
                                  <p:childTnLst>
                                    <p:set>
                                      <p:cBhvr>
                                        <p:cTn id="34" dur="1" fill="hold">
                                          <p:stCondLst>
                                            <p:cond delay="0"/>
                                          </p:stCondLst>
                                        </p:cTn>
                                        <p:tgtEl>
                                          <p:spTgt spid="98"/>
                                        </p:tgtEl>
                                        <p:attrNameLst>
                                          <p:attrName>style.visibility</p:attrName>
                                        </p:attrNameLst>
                                      </p:cBhvr>
                                      <p:to>
                                        <p:strVal val="visible"/>
                                      </p:to>
                                    </p:set>
                                    <p:animEffect transition="in" filter="randombar(horizontal)">
                                      <p:cBhvr>
                                        <p:cTn id="35" dur="400"/>
                                        <p:tgtEl>
                                          <p:spTgt spid="98"/>
                                        </p:tgtEl>
                                      </p:cBhvr>
                                    </p:animEffect>
                                  </p:childTnLst>
                                </p:cTn>
                              </p:par>
                            </p:childTnLst>
                          </p:cTn>
                        </p:par>
                        <p:par>
                          <p:cTn id="36" fill="hold">
                            <p:stCondLst>
                              <p:cond delay="7200"/>
                            </p:stCondLst>
                            <p:childTnLst>
                              <p:par>
                                <p:cTn id="37" presetID="4" presetClass="entr" presetSubtype="0" fill="hold" nodeType="afterEffect">
                                  <p:stCondLst>
                                    <p:cond delay="0"/>
                                  </p:stCondLst>
                                  <p:childTnLst>
                                    <p:set>
                                      <p:cBhvr>
                                        <p:cTn id="38" dur="1" fill="hold">
                                          <p:stCondLst>
                                            <p:cond delay="0"/>
                                          </p:stCondLst>
                                        </p:cTn>
                                        <p:tgtEl>
                                          <p:spTgt spid="107"/>
                                        </p:tgtEl>
                                        <p:attrNameLst>
                                          <p:attrName>style.visibility</p:attrName>
                                        </p:attrNameLst>
                                      </p:cBhvr>
                                      <p:to>
                                        <p:strVal val="visible"/>
                                      </p:to>
                                    </p:set>
                                    <p:animEffect transition="in" filter="box(in)">
                                      <p:cBhvr>
                                        <p:cTn id="39" dur="400"/>
                                        <p:tgtEl>
                                          <p:spTgt spid="107"/>
                                        </p:tgtEl>
                                      </p:cBhvr>
                                    </p:animEffect>
                                  </p:childTnLst>
                                </p:cTn>
                              </p:par>
                            </p:childTnLst>
                          </p:cTn>
                        </p:par>
                        <p:par>
                          <p:cTn id="40" fill="hold">
                            <p:stCondLst>
                              <p:cond delay="8100"/>
                            </p:stCondLst>
                            <p:childTnLst>
                              <p:par>
                                <p:cTn id="41" presetID="16" presetClass="entr" presetSubtype="21" fill="hold" nodeType="afterEffect">
                                  <p:stCondLst>
                                    <p:cond delay="0"/>
                                  </p:stCondLst>
                                  <p:childTnLst>
                                    <p:set>
                                      <p:cBhvr>
                                        <p:cTn id="42" dur="1" fill="hold">
                                          <p:stCondLst>
                                            <p:cond delay="0"/>
                                          </p:stCondLst>
                                        </p:cTn>
                                        <p:tgtEl>
                                          <p:spTgt spid="112"/>
                                        </p:tgtEl>
                                        <p:attrNameLst>
                                          <p:attrName>style.visibility</p:attrName>
                                        </p:attrNameLst>
                                      </p:cBhvr>
                                      <p:to>
                                        <p:strVal val="visible"/>
                                      </p:to>
                                    </p:set>
                                    <p:animEffect transition="in" filter="barn(inVertical)">
                                      <p:cBhvr>
                                        <p:cTn id="43" dur="4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P spid="31" grpId="0"/>
      <p:bldP spid="40" grpId="0"/>
      <p:bldP spid="49" grpId="0"/>
      <p:bldP spid="58" grpId="0"/>
      <p:bldP spid="67" grpId="0"/>
      <p:bldP spid="98" grpId="0"/>
      <p:bldP spid="107" grpId="0"/>
      <p:bldP spid="1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12192000" cy="38100"/>
            </a:xfrm>
            <a:prstGeom prst="rect">
              <a:avLst/>
            </a:prstGeom>
            <a:solidFill>
              <a:srgbClr val="F5C842"/>
            </a:solidFill>
            <a:ln>
              <a:noFill/>
            </a:ln>
          </p:spPr>
        </p:sp>
      </p:grpSp>
      <p:sp>
        <p:nvSpPr>
          <p:cNvPr id="5" name="TextBox 5"/>
          <p:cNvSpPr txBox="1"/>
          <p:nvPr/>
        </p:nvSpPr>
        <p:spPr>
          <a:xfrm>
            <a:off x="4994386" y="2257425"/>
            <a:ext cx="3346228" cy="5791200"/>
          </a:xfrm>
          <a:prstGeom prst="rect">
            <a:avLst/>
          </a:prstGeom>
          <a:noFill/>
          <a:ln>
            <a:noFill/>
          </a:ln>
        </p:spPr>
        <p:txBody>
          <a:bodyPr wrap="none" lIns="0" tIns="0" rIns="0" bIns="0" anchor="t" anchorCtr="0">
            <a:spAutoFit/>
          </a:bodyPr>
          <a:lstStyle/>
          <a:p>
            <a:pPr algn="ctr"/>
            <a:r>
              <a:rPr lang="zh-CN" sz="28500" b="1" dirty="0">
                <a:solidFill>
                  <a:srgbClr val="0F1628"/>
                </a:solidFill>
                <a:latin typeface="Arial"/>
                <a:ea typeface="Microsoft YaHei"/>
                <a:cs typeface="Arial"/>
              </a:rPr>
              <a:t>II</a:t>
            </a:r>
          </a:p>
        </p:txBody>
      </p:sp>
      <p:grpSp>
        <p:nvGrpSpPr>
          <p:cNvPr id="7" name="Group 7"/>
          <p:cNvGrpSpPr/>
          <p:nvPr/>
        </p:nvGrpSpPr>
        <p:grpSpPr>
          <a:xfrm>
            <a:off x="0" y="38100"/>
            <a:ext cx="38100" cy="6781800"/>
            <a:chOff x="0" y="38100"/>
            <a:chExt cx="38100" cy="6781800"/>
          </a:xfrm>
        </p:grpSpPr>
        <p:sp>
          <p:nvSpPr>
            <p:cNvPr id="6" name="Rectangle 6"/>
            <p:cNvSpPr/>
            <p:nvPr/>
          </p:nvSpPr>
          <p:spPr>
            <a:xfrm>
              <a:off x="0" y="38100"/>
              <a:ext cx="38100" cy="6781800"/>
            </a:xfrm>
            <a:prstGeom prst="rect">
              <a:avLst/>
            </a:prstGeom>
            <a:solidFill>
              <a:srgbClr val="F5C842"/>
            </a:solidFill>
            <a:ln>
              <a:noFill/>
            </a:ln>
          </p:spPr>
        </p:sp>
      </p:grpSp>
      <p:grpSp>
        <p:nvGrpSpPr>
          <p:cNvPr id="9" name="Group 9"/>
          <p:cNvGrpSpPr/>
          <p:nvPr/>
        </p:nvGrpSpPr>
        <p:grpSpPr>
          <a:xfrm>
            <a:off x="749618" y="2656999"/>
            <a:ext cx="734979" cy="198120"/>
            <a:chOff x="749618" y="2656999"/>
            <a:chExt cx="734979" cy="198120"/>
          </a:xfrm>
        </p:grpSpPr>
        <p:sp>
          <p:nvSpPr>
            <p:cNvPr id="8" name="TextBox 8"/>
            <p:cNvSpPr txBox="1"/>
            <p:nvPr/>
          </p:nvSpPr>
          <p:spPr>
            <a:xfrm>
              <a:off x="749618" y="2656999"/>
              <a:ext cx="734979" cy="198120"/>
            </a:xfrm>
            <a:prstGeom prst="rect">
              <a:avLst/>
            </a:prstGeom>
            <a:noFill/>
            <a:ln>
              <a:noFill/>
            </a:ln>
          </p:spPr>
          <p:txBody>
            <a:bodyPr wrap="none" lIns="0" tIns="0" rIns="0" bIns="0" anchor="t" anchorCtr="0">
              <a:spAutoFit/>
            </a:bodyPr>
            <a:lstStyle/>
            <a:p>
              <a:pPr algn="l"/>
              <a:r>
                <a:rPr lang="zh-CN" sz="975" b="1" dirty="0">
                  <a:solidFill>
                    <a:srgbClr val="F5C842"/>
                  </a:solidFill>
                  <a:latin typeface="Arial"/>
                  <a:ea typeface="Microsoft YaHei"/>
                  <a:cs typeface="Arial"/>
                </a:rPr>
                <a:t>CHAPTER II</a:t>
              </a:r>
            </a:p>
          </p:txBody>
        </p:sp>
      </p:grpSp>
      <p:grpSp>
        <p:nvGrpSpPr>
          <p:cNvPr id="11" name="Group 11"/>
          <p:cNvGrpSpPr/>
          <p:nvPr/>
        </p:nvGrpSpPr>
        <p:grpSpPr>
          <a:xfrm>
            <a:off x="712470" y="3007995"/>
            <a:ext cx="3388471" cy="792480"/>
            <a:chOff x="712470" y="3007995"/>
            <a:chExt cx="3388471" cy="792480"/>
          </a:xfrm>
        </p:grpSpPr>
        <p:sp>
          <p:nvSpPr>
            <p:cNvPr id="10" name="TextBox 10"/>
            <p:cNvSpPr txBox="1"/>
            <p:nvPr/>
          </p:nvSpPr>
          <p:spPr>
            <a:xfrm>
              <a:off x="712470" y="3007995"/>
              <a:ext cx="3388471" cy="792480"/>
            </a:xfrm>
            <a:prstGeom prst="rect">
              <a:avLst/>
            </a:prstGeom>
            <a:noFill/>
            <a:ln>
              <a:noFill/>
            </a:ln>
          </p:spPr>
          <p:txBody>
            <a:bodyPr wrap="none" lIns="0" tIns="0" rIns="0" bIns="0" anchor="t" anchorCtr="0">
              <a:spAutoFit/>
            </a:bodyPr>
            <a:lstStyle/>
            <a:p>
              <a:pPr algn="l"/>
              <a:r>
                <a:rPr lang="zh-CN" sz="3900" b="1" dirty="0">
                  <a:solidFill>
                    <a:srgbClr val="E8EAF0"/>
                  </a:solidFill>
                  <a:latin typeface="Arial"/>
                  <a:ea typeface="Microsoft YaHei"/>
                  <a:cs typeface="Arial"/>
                </a:rPr>
                <a:t>ETF Quality</a:t>
              </a:r>
            </a:p>
          </p:txBody>
        </p:sp>
      </p:grpSp>
      <p:grpSp>
        <p:nvGrpSpPr>
          <p:cNvPr id="13" name="Group 13"/>
          <p:cNvGrpSpPr/>
          <p:nvPr/>
        </p:nvGrpSpPr>
        <p:grpSpPr>
          <a:xfrm>
            <a:off x="762000" y="3657600"/>
            <a:ext cx="4572000" cy="19050"/>
            <a:chOff x="762000" y="3657600"/>
            <a:chExt cx="4572000" cy="19050"/>
          </a:xfrm>
        </p:grpSpPr>
        <p:sp>
          <p:nvSpPr>
            <p:cNvPr id="12" name="Rectangle 12"/>
            <p:cNvSpPr/>
            <p:nvPr/>
          </p:nvSpPr>
          <p:spPr>
            <a:xfrm>
              <a:off x="762000" y="3657600"/>
              <a:ext cx="4572000" cy="19050"/>
            </a:xfrm>
            <a:prstGeom prst="rect">
              <a:avLst/>
            </a:prstGeom>
            <a:solidFill>
              <a:srgbClr val="F5C842"/>
            </a:solidFill>
            <a:ln>
              <a:noFill/>
            </a:ln>
          </p:spPr>
        </p:sp>
      </p:grpSp>
      <p:grpSp>
        <p:nvGrpSpPr>
          <p:cNvPr id="15" name="Group 15"/>
          <p:cNvGrpSpPr/>
          <p:nvPr/>
        </p:nvGrpSpPr>
        <p:grpSpPr>
          <a:xfrm>
            <a:off x="742950" y="3838575"/>
            <a:ext cx="3214688" cy="304800"/>
            <a:chOff x="742950" y="3838575"/>
            <a:chExt cx="3214688" cy="304800"/>
          </a:xfrm>
        </p:grpSpPr>
        <p:sp>
          <p:nvSpPr>
            <p:cNvPr id="14" name="TextBox 14"/>
            <p:cNvSpPr txBox="1"/>
            <p:nvPr/>
          </p:nvSpPr>
          <p:spPr>
            <a:xfrm>
              <a:off x="742950" y="3838575"/>
              <a:ext cx="3214688" cy="304800"/>
            </a:xfrm>
            <a:prstGeom prst="rect">
              <a:avLst/>
            </a:prstGeom>
            <a:noFill/>
            <a:ln>
              <a:noFill/>
            </a:ln>
          </p:spPr>
          <p:txBody>
            <a:bodyPr wrap="none" lIns="0" tIns="0" rIns="0" bIns="0" anchor="t" anchorCtr="0">
              <a:spAutoFit/>
            </a:bodyPr>
            <a:lstStyle/>
            <a:p>
              <a:pPr algn="l"/>
              <a:r>
                <a:rPr lang="zh-CN" sz="1500" dirty="0">
                  <a:solidFill>
                    <a:srgbClr val="8899BB"/>
                  </a:solidFill>
                  <a:latin typeface="Arial"/>
                  <a:ea typeface="Microsoft YaHei"/>
                  <a:cs typeface="Arial"/>
                </a:rPr>
                <a:t>Cost, Liquidity &amp; Alternatives</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18" presetClass="entr" presetSubtype="12"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strips(downRight)">
                                      <p:cBhvr>
                                        <p:cTn id="11" dur="400"/>
                                        <p:tgtEl>
                                          <p:spTgt spid="9"/>
                                        </p:tgtEl>
                                      </p:cBhvr>
                                    </p:animEffect>
                                  </p:childTnLst>
                                </p:cTn>
                              </p:par>
                            </p:childTnLst>
                          </p:cTn>
                        </p:par>
                        <p:par>
                          <p:cTn id="12" fill="hold">
                            <p:stCondLst>
                              <p:cond delay="1800"/>
                            </p:stCondLst>
                            <p:childTnLst>
                              <p:par>
                                <p:cTn id="13" presetID="2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edge">
                                      <p:cBhvr>
                                        <p:cTn id="15" dur="400"/>
                                        <p:tgtEl>
                                          <p:spTgt spid="11"/>
                                        </p:tgtEl>
                                      </p:cBhvr>
                                    </p:animEffect>
                                  </p:childTnLst>
                                </p:cTn>
                              </p:par>
                            </p:childTnLst>
                          </p:cTn>
                        </p:par>
                        <p:par>
                          <p:cTn id="16" fill="hold">
                            <p:stCondLst>
                              <p:cond delay="2700"/>
                            </p:stCondLst>
                            <p:childTnLst>
                              <p:par>
                                <p:cTn id="17" presetID="21" presetClass="entr" presetSubtype="0" fill="hold"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heel(4)">
                                      <p:cBhvr>
                                        <p:cTn id="19" dur="400"/>
                                        <p:tgtEl>
                                          <p:spTgt spid="13"/>
                                        </p:tgtEl>
                                      </p:cBhvr>
                                    </p:animEffect>
                                  </p:childTnLst>
                                </p:cTn>
                              </p:par>
                            </p:childTnLst>
                          </p:cTn>
                        </p:par>
                        <p:par>
                          <p:cTn id="20" fill="hold">
                            <p:stCondLst>
                              <p:cond delay="3600"/>
                            </p:stCondLst>
                            <p:childTnLst>
                              <p:par>
                                <p:cTn id="21" presetID="22" presetClass="entr" presetSubtype="1"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P spid="13" grpId="0"/>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12192000" cy="38100"/>
            </a:xfrm>
            <a:prstGeom prst="rect">
              <a:avLst/>
            </a:prstGeom>
            <a:solidFill>
              <a:srgbClr val="F5C842"/>
            </a:solidFill>
            <a:ln>
              <a:noFill/>
            </a:ln>
          </p:spPr>
        </p:sp>
      </p:grpSp>
      <p:grpSp>
        <p:nvGrpSpPr>
          <p:cNvPr id="8" name="Group 8"/>
          <p:cNvGrpSpPr/>
          <p:nvPr/>
        </p:nvGrpSpPr>
        <p:grpSpPr>
          <a:xfrm>
            <a:off x="0" y="38100"/>
            <a:ext cx="12192000" cy="609600"/>
            <a:chOff x="0" y="38100"/>
            <a:chExt cx="12192000" cy="609600"/>
          </a:xfrm>
        </p:grpSpPr>
        <p:sp>
          <p:nvSpPr>
            <p:cNvPr id="5" name="Rectangle 5"/>
            <p:cNvSpPr/>
            <p:nvPr/>
          </p:nvSpPr>
          <p:spPr>
            <a:xfrm>
              <a:off x="0" y="38100"/>
              <a:ext cx="12192000" cy="609600"/>
            </a:xfrm>
            <a:prstGeom prst="rect">
              <a:avLst/>
            </a:prstGeom>
            <a:solidFill>
              <a:srgbClr val="131B30"/>
            </a:solidFill>
            <a:ln>
              <a:noFill/>
            </a:ln>
          </p:spPr>
        </p:sp>
        <p:sp>
          <p:nvSpPr>
            <p:cNvPr id="6" name="Rectangle 6"/>
            <p:cNvSpPr/>
            <p:nvPr/>
          </p:nvSpPr>
          <p:spPr>
            <a:xfrm>
              <a:off x="571500" y="152400"/>
              <a:ext cx="38100" cy="381000"/>
            </a:xfrm>
            <a:prstGeom prst="rect">
              <a:avLst/>
            </a:prstGeom>
            <a:solidFill>
              <a:srgbClr val="F5C842"/>
            </a:solidFill>
            <a:ln>
              <a:noFill/>
            </a:ln>
          </p:spPr>
        </p:sp>
        <p:sp>
          <p:nvSpPr>
            <p:cNvPr id="7" name="TextBox 7"/>
            <p:cNvSpPr txBox="1"/>
            <p:nvPr/>
          </p:nvSpPr>
          <p:spPr>
            <a:xfrm>
              <a:off x="737235" y="227648"/>
              <a:ext cx="2307262" cy="396240"/>
            </a:xfrm>
            <a:prstGeom prst="rect">
              <a:avLst/>
            </a:prstGeom>
            <a:noFill/>
            <a:ln>
              <a:noFill/>
            </a:ln>
          </p:spPr>
          <p:txBody>
            <a:bodyPr wrap="none" lIns="0" tIns="0" rIns="0" bIns="0" anchor="t" anchorCtr="0">
              <a:spAutoFit/>
            </a:bodyPr>
            <a:lstStyle/>
            <a:p>
              <a:pPr algn="l"/>
              <a:r>
                <a:rPr lang="zh-CN" sz="1950" b="1" dirty="0">
                  <a:solidFill>
                    <a:srgbClr val="E8EAF0"/>
                  </a:solidFill>
                  <a:latin typeface="Arial"/>
                  <a:ea typeface="Microsoft YaHei"/>
                  <a:cs typeface="Arial"/>
                </a:rPr>
                <a:t>Cost &amp; Liquidity</a:t>
              </a:r>
            </a:p>
          </p:txBody>
        </p:sp>
      </p:grpSp>
      <p:grpSp>
        <p:nvGrpSpPr>
          <p:cNvPr id="42" name="Group 42"/>
          <p:cNvGrpSpPr/>
          <p:nvPr/>
        </p:nvGrpSpPr>
        <p:grpSpPr>
          <a:xfrm>
            <a:off x="571500" y="838200"/>
            <a:ext cx="5314950" cy="5334000"/>
            <a:chOff x="571500" y="838200"/>
            <a:chExt cx="5314950" cy="5334000"/>
          </a:xfrm>
        </p:grpSpPr>
        <p:sp>
          <p:nvSpPr>
            <p:cNvPr id="9" name="Rectangle 9"/>
            <p:cNvSpPr/>
            <p:nvPr/>
          </p:nvSpPr>
          <p:spPr>
            <a:xfrm>
              <a:off x="571500" y="838200"/>
              <a:ext cx="5314950" cy="5334000"/>
            </a:xfrm>
            <a:prstGeom prst="roundRect">
              <a:avLst>
                <a:gd name="adj" fmla="val 717"/>
              </a:avLst>
            </a:prstGeom>
            <a:solidFill>
              <a:srgbClr val="131B30"/>
            </a:solidFill>
            <a:ln>
              <a:noFill/>
            </a:ln>
          </p:spPr>
        </p:sp>
        <p:sp>
          <p:nvSpPr>
            <p:cNvPr id="10" name="Rectangle 10"/>
            <p:cNvSpPr/>
            <p:nvPr/>
          </p:nvSpPr>
          <p:spPr>
            <a:xfrm>
              <a:off x="571500" y="838200"/>
              <a:ext cx="5314950" cy="38100"/>
            </a:xfrm>
            <a:prstGeom prst="rect">
              <a:avLst/>
            </a:prstGeom>
            <a:solidFill>
              <a:srgbClr val="F5C842"/>
            </a:solidFill>
            <a:ln>
              <a:noFill/>
            </a:ln>
          </p:spPr>
        </p:sp>
        <p:sp>
          <p:nvSpPr>
            <p:cNvPr id="11" name="TextBox 11"/>
            <p:cNvSpPr txBox="1"/>
            <p:nvPr/>
          </p:nvSpPr>
          <p:spPr>
            <a:xfrm>
              <a:off x="749618" y="1075849"/>
              <a:ext cx="1168583" cy="198120"/>
            </a:xfrm>
            <a:prstGeom prst="rect">
              <a:avLst/>
            </a:prstGeom>
            <a:noFill/>
            <a:ln>
              <a:noFill/>
            </a:ln>
          </p:spPr>
          <p:txBody>
            <a:bodyPr wrap="none" lIns="0" tIns="0" rIns="0" bIns="0" anchor="t" anchorCtr="0">
              <a:spAutoFit/>
            </a:bodyPr>
            <a:lstStyle/>
            <a:p>
              <a:pPr algn="l"/>
              <a:r>
                <a:rPr lang="zh-CN" sz="975" b="1" dirty="0">
                  <a:solidFill>
                    <a:srgbClr val="F5C842"/>
                  </a:solidFill>
                  <a:latin typeface="Arial"/>
                  <a:ea typeface="Microsoft YaHei"/>
                  <a:cs typeface="Arial"/>
                </a:rPr>
                <a:t>COST STRUCTURE</a:t>
              </a:r>
            </a:p>
          </p:txBody>
        </p:sp>
        <p:sp>
          <p:nvSpPr>
            <p:cNvPr id="12" name="TextBox 12"/>
            <p:cNvSpPr txBox="1"/>
            <p:nvPr/>
          </p:nvSpPr>
          <p:spPr>
            <a:xfrm>
              <a:off x="723900" y="1257300"/>
              <a:ext cx="1341358" cy="609600"/>
            </a:xfrm>
            <a:prstGeom prst="rect">
              <a:avLst/>
            </a:prstGeom>
            <a:noFill/>
            <a:ln>
              <a:noFill/>
            </a:ln>
          </p:spPr>
          <p:txBody>
            <a:bodyPr wrap="none" lIns="0" tIns="0" rIns="0" bIns="0" anchor="t" anchorCtr="0">
              <a:spAutoFit/>
            </a:bodyPr>
            <a:lstStyle/>
            <a:p>
              <a:pPr algn="l"/>
              <a:r>
                <a:rPr lang="zh-CN" sz="3000" b="1" dirty="0">
                  <a:solidFill>
                    <a:srgbClr val="F5C842"/>
                  </a:solidFill>
                  <a:latin typeface="Arial"/>
                  <a:ea typeface="Microsoft YaHei"/>
                  <a:cs typeface="Arial"/>
                </a:rPr>
                <a:t>0.35%</a:t>
              </a:r>
            </a:p>
          </p:txBody>
        </p:sp>
        <p:sp>
          <p:nvSpPr>
            <p:cNvPr id="13" name="TextBox 13"/>
            <p:cNvSpPr txBox="1"/>
            <p:nvPr/>
          </p:nvSpPr>
          <p:spPr>
            <a:xfrm>
              <a:off x="748665" y="1753552"/>
              <a:ext cx="2648998" cy="213360"/>
            </a:xfrm>
            <a:prstGeom prst="rect">
              <a:avLst/>
            </a:prstGeom>
            <a:noFill/>
            <a:ln>
              <a:noFill/>
            </a:ln>
          </p:spPr>
          <p:txBody>
            <a:bodyPr wrap="none" lIns="0" tIns="0" rIns="0" bIns="0" anchor="t" anchorCtr="0">
              <a:spAutoFit/>
            </a:bodyPr>
            <a:lstStyle/>
            <a:p>
              <a:pPr algn="l"/>
              <a:r>
                <a:rPr lang="zh-CN" sz="1050" dirty="0">
                  <a:solidFill>
                    <a:srgbClr val="8899BB"/>
                  </a:solidFill>
                  <a:latin typeface="Arial"/>
                  <a:ea typeface="Microsoft YaHei"/>
                  <a:cs typeface="Arial"/>
                </a:rPr>
                <a:t>Annual expense ratio · Same as SMH</a:t>
              </a:r>
            </a:p>
          </p:txBody>
        </p:sp>
        <p:sp>
          <p:nvSpPr>
            <p:cNvPr id="14" name="Rectangle 14"/>
            <p:cNvSpPr/>
            <p:nvPr/>
          </p:nvSpPr>
          <p:spPr>
            <a:xfrm>
              <a:off x="762000" y="2019300"/>
              <a:ext cx="4953000" cy="9525"/>
            </a:xfrm>
            <a:prstGeom prst="rect">
              <a:avLst/>
            </a:prstGeom>
            <a:solidFill>
              <a:srgbClr val="2A3A5C"/>
            </a:solidFill>
            <a:ln>
              <a:noFill/>
            </a:ln>
          </p:spPr>
        </p:sp>
        <p:sp>
          <p:nvSpPr>
            <p:cNvPr id="15" name="TextBox 15"/>
            <p:cNvSpPr txBox="1"/>
            <p:nvPr/>
          </p:nvSpPr>
          <p:spPr>
            <a:xfrm>
              <a:off x="749618" y="2180749"/>
              <a:ext cx="1833941"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Microsoft YaHei"/>
                  <a:cs typeface="Arial"/>
                </a:rPr>
                <a:t>SOXX vs SMH COMPARISON</a:t>
              </a:r>
            </a:p>
          </p:txBody>
        </p:sp>
        <p:sp>
          <p:nvSpPr>
            <p:cNvPr id="16" name="Rectangle 16"/>
            <p:cNvSpPr/>
            <p:nvPr/>
          </p:nvSpPr>
          <p:spPr>
            <a:xfrm>
              <a:off x="762000" y="2400300"/>
              <a:ext cx="4953000" cy="247650"/>
            </a:xfrm>
            <a:prstGeom prst="rect">
              <a:avLst/>
            </a:prstGeom>
            <a:solidFill>
              <a:srgbClr val="1A2540"/>
            </a:solidFill>
            <a:ln>
              <a:noFill/>
            </a:ln>
          </p:spPr>
        </p:sp>
        <p:sp>
          <p:nvSpPr>
            <p:cNvPr id="17" name="TextBox 17"/>
            <p:cNvSpPr txBox="1"/>
            <p:nvPr/>
          </p:nvSpPr>
          <p:spPr>
            <a:xfrm>
              <a:off x="845820" y="2474595"/>
              <a:ext cx="471416"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METRIC</a:t>
              </a:r>
            </a:p>
          </p:txBody>
        </p:sp>
        <p:sp>
          <p:nvSpPr>
            <p:cNvPr id="18" name="TextBox 18"/>
            <p:cNvSpPr txBox="1"/>
            <p:nvPr/>
          </p:nvSpPr>
          <p:spPr>
            <a:xfrm>
              <a:off x="2655570" y="2474595"/>
              <a:ext cx="354101"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SOXX</a:t>
              </a:r>
            </a:p>
          </p:txBody>
        </p:sp>
        <p:sp>
          <p:nvSpPr>
            <p:cNvPr id="19" name="TextBox 19"/>
            <p:cNvSpPr txBox="1"/>
            <p:nvPr/>
          </p:nvSpPr>
          <p:spPr>
            <a:xfrm>
              <a:off x="3989070" y="2474595"/>
              <a:ext cx="278192"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SMH</a:t>
              </a:r>
            </a:p>
          </p:txBody>
        </p:sp>
        <p:sp>
          <p:nvSpPr>
            <p:cNvPr id="20" name="Rectangle 20"/>
            <p:cNvSpPr/>
            <p:nvPr/>
          </p:nvSpPr>
          <p:spPr>
            <a:xfrm>
              <a:off x="762000" y="2647950"/>
              <a:ext cx="4953000" cy="247650"/>
            </a:xfrm>
            <a:prstGeom prst="rect">
              <a:avLst/>
            </a:prstGeom>
            <a:solidFill>
              <a:srgbClr val="131B30"/>
            </a:solidFill>
            <a:ln>
              <a:noFill/>
            </a:ln>
          </p:spPr>
        </p:sp>
        <p:sp>
          <p:nvSpPr>
            <p:cNvPr id="21" name="TextBox 21"/>
            <p:cNvSpPr txBox="1"/>
            <p:nvPr/>
          </p:nvSpPr>
          <p:spPr>
            <a:xfrm>
              <a:off x="844868" y="2714149"/>
              <a:ext cx="971717"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Expense Ratio</a:t>
              </a:r>
            </a:p>
          </p:txBody>
        </p:sp>
        <p:sp>
          <p:nvSpPr>
            <p:cNvPr id="22" name="TextBox 22"/>
            <p:cNvSpPr txBox="1"/>
            <p:nvPr/>
          </p:nvSpPr>
          <p:spPr>
            <a:xfrm>
              <a:off x="2654618" y="2714149"/>
              <a:ext cx="435941" cy="198120"/>
            </a:xfrm>
            <a:prstGeom prst="rect">
              <a:avLst/>
            </a:prstGeom>
            <a:noFill/>
            <a:ln>
              <a:noFill/>
            </a:ln>
          </p:spPr>
          <p:txBody>
            <a:bodyPr wrap="none" lIns="0" tIns="0" rIns="0" bIns="0" anchor="t" anchorCtr="0">
              <a:spAutoFit/>
            </a:bodyPr>
            <a:lstStyle/>
            <a:p>
              <a:pPr algn="l"/>
              <a:r>
                <a:rPr lang="zh-CN" sz="975" b="1" dirty="0">
                  <a:solidFill>
                    <a:srgbClr val="F5C842"/>
                  </a:solidFill>
                  <a:latin typeface="Arial"/>
                  <a:ea typeface="Microsoft YaHei"/>
                  <a:cs typeface="Arial"/>
                </a:rPr>
                <a:t>0.35%</a:t>
              </a:r>
            </a:p>
          </p:txBody>
        </p:sp>
        <p:sp>
          <p:nvSpPr>
            <p:cNvPr id="23" name="TextBox 23"/>
            <p:cNvSpPr txBox="1"/>
            <p:nvPr/>
          </p:nvSpPr>
          <p:spPr>
            <a:xfrm>
              <a:off x="3988118" y="2714149"/>
              <a:ext cx="416362"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0.35%</a:t>
              </a:r>
            </a:p>
          </p:txBody>
        </p:sp>
        <p:sp>
          <p:nvSpPr>
            <p:cNvPr id="24" name="Rectangle 24"/>
            <p:cNvSpPr/>
            <p:nvPr/>
          </p:nvSpPr>
          <p:spPr>
            <a:xfrm>
              <a:off x="762000" y="2895600"/>
              <a:ext cx="4953000" cy="247650"/>
            </a:xfrm>
            <a:prstGeom prst="rect">
              <a:avLst/>
            </a:prstGeom>
            <a:solidFill>
              <a:srgbClr val="0A0E1A"/>
            </a:solidFill>
            <a:ln>
              <a:noFill/>
            </a:ln>
          </p:spPr>
        </p:sp>
        <p:sp>
          <p:nvSpPr>
            <p:cNvPr id="25" name="TextBox 25"/>
            <p:cNvSpPr txBox="1"/>
            <p:nvPr/>
          </p:nvSpPr>
          <p:spPr>
            <a:xfrm>
              <a:off x="844868" y="2961799"/>
              <a:ext cx="288203"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AUM</a:t>
              </a:r>
            </a:p>
          </p:txBody>
        </p:sp>
        <p:sp>
          <p:nvSpPr>
            <p:cNvPr id="26" name="TextBox 26"/>
            <p:cNvSpPr txBox="1"/>
            <p:nvPr/>
          </p:nvSpPr>
          <p:spPr>
            <a:xfrm>
              <a:off x="2654618" y="2961799"/>
              <a:ext cx="494681"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$20.6B</a:t>
              </a:r>
            </a:p>
          </p:txBody>
        </p:sp>
        <p:sp>
          <p:nvSpPr>
            <p:cNvPr id="27" name="TextBox 27"/>
            <p:cNvSpPr txBox="1"/>
            <p:nvPr/>
          </p:nvSpPr>
          <p:spPr>
            <a:xfrm>
              <a:off x="3988118" y="2961799"/>
              <a:ext cx="416362"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∼$22B</a:t>
              </a:r>
            </a:p>
          </p:txBody>
        </p:sp>
        <p:sp>
          <p:nvSpPr>
            <p:cNvPr id="28" name="Rectangle 28"/>
            <p:cNvSpPr/>
            <p:nvPr/>
          </p:nvSpPr>
          <p:spPr>
            <a:xfrm>
              <a:off x="762000" y="3143250"/>
              <a:ext cx="4953000" cy="247650"/>
            </a:xfrm>
            <a:prstGeom prst="rect">
              <a:avLst/>
            </a:prstGeom>
            <a:solidFill>
              <a:srgbClr val="131B30"/>
            </a:solidFill>
            <a:ln>
              <a:noFill/>
            </a:ln>
          </p:spPr>
        </p:sp>
        <p:sp>
          <p:nvSpPr>
            <p:cNvPr id="29" name="TextBox 29"/>
            <p:cNvSpPr txBox="1"/>
            <p:nvPr/>
          </p:nvSpPr>
          <p:spPr>
            <a:xfrm>
              <a:off x="844868" y="3209449"/>
              <a:ext cx="843558"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NVDA Weight</a:t>
              </a:r>
            </a:p>
          </p:txBody>
        </p:sp>
        <p:sp>
          <p:nvSpPr>
            <p:cNvPr id="30" name="TextBox 30"/>
            <p:cNvSpPr txBox="1"/>
            <p:nvPr/>
          </p:nvSpPr>
          <p:spPr>
            <a:xfrm>
              <a:off x="2654618" y="3209449"/>
              <a:ext cx="1007316" cy="198120"/>
            </a:xfrm>
            <a:prstGeom prst="rect">
              <a:avLst/>
            </a:prstGeom>
            <a:noFill/>
            <a:ln>
              <a:noFill/>
            </a:ln>
          </p:spPr>
          <p:txBody>
            <a:bodyPr wrap="none" lIns="0" tIns="0" rIns="0" bIns="0" anchor="t" anchorCtr="0">
              <a:spAutoFit/>
            </a:bodyPr>
            <a:lstStyle/>
            <a:p>
              <a:pPr algn="l"/>
              <a:r>
                <a:rPr lang="zh-CN" sz="975" dirty="0">
                  <a:solidFill>
                    <a:srgbClr val="4CAF82"/>
                  </a:solidFill>
                  <a:latin typeface="Arial"/>
                  <a:ea typeface="Microsoft YaHei"/>
                  <a:cs typeface="Arial"/>
                </a:rPr>
                <a:t>8.4% (capped)</a:t>
              </a:r>
            </a:p>
          </p:txBody>
        </p:sp>
        <p:sp>
          <p:nvSpPr>
            <p:cNvPr id="31" name="TextBox 31"/>
            <p:cNvSpPr txBox="1"/>
            <p:nvPr/>
          </p:nvSpPr>
          <p:spPr>
            <a:xfrm>
              <a:off x="3988118" y="3209449"/>
              <a:ext cx="1477232" cy="198120"/>
            </a:xfrm>
            <a:prstGeom prst="rect">
              <a:avLst/>
            </a:prstGeom>
            <a:noFill/>
            <a:ln>
              <a:noFill/>
            </a:ln>
          </p:spPr>
          <p:txBody>
            <a:bodyPr wrap="none" lIns="0" tIns="0" rIns="0" bIns="0" anchor="t" anchorCtr="0">
              <a:spAutoFit/>
            </a:bodyPr>
            <a:lstStyle/>
            <a:p>
              <a:pPr algn="l"/>
              <a:r>
                <a:rPr lang="zh-CN" sz="975" dirty="0">
                  <a:solidFill>
                    <a:srgbClr val="E05C5C"/>
                  </a:solidFill>
                  <a:latin typeface="Arial"/>
                  <a:ea typeface="Microsoft YaHei"/>
                  <a:cs typeface="Arial"/>
                </a:rPr>
                <a:t>∼20% (concentrated)</a:t>
              </a:r>
            </a:p>
          </p:txBody>
        </p:sp>
        <p:sp>
          <p:nvSpPr>
            <p:cNvPr id="32" name="Rectangle 32"/>
            <p:cNvSpPr/>
            <p:nvPr/>
          </p:nvSpPr>
          <p:spPr>
            <a:xfrm>
              <a:off x="762000" y="3390900"/>
              <a:ext cx="4953000" cy="247650"/>
            </a:xfrm>
            <a:prstGeom prst="rect">
              <a:avLst/>
            </a:prstGeom>
            <a:solidFill>
              <a:srgbClr val="0A0E1A"/>
            </a:solidFill>
            <a:ln>
              <a:noFill/>
            </a:ln>
          </p:spPr>
        </p:sp>
        <p:sp>
          <p:nvSpPr>
            <p:cNvPr id="33" name="TextBox 33"/>
            <p:cNvSpPr txBox="1"/>
            <p:nvPr/>
          </p:nvSpPr>
          <p:spPr>
            <a:xfrm>
              <a:off x="844868" y="3457099"/>
              <a:ext cx="658439"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1Y Return</a:t>
              </a:r>
            </a:p>
          </p:txBody>
        </p:sp>
        <p:sp>
          <p:nvSpPr>
            <p:cNvPr id="34" name="TextBox 34"/>
            <p:cNvSpPr txBox="1"/>
            <p:nvPr/>
          </p:nvSpPr>
          <p:spPr>
            <a:xfrm>
              <a:off x="2654618" y="3457099"/>
              <a:ext cx="537400" cy="198120"/>
            </a:xfrm>
            <a:prstGeom prst="rect">
              <a:avLst/>
            </a:prstGeom>
            <a:noFill/>
            <a:ln>
              <a:noFill/>
            </a:ln>
          </p:spPr>
          <p:txBody>
            <a:bodyPr wrap="none" lIns="0" tIns="0" rIns="0" bIns="0" anchor="t" anchorCtr="0">
              <a:spAutoFit/>
            </a:bodyPr>
            <a:lstStyle/>
            <a:p>
              <a:pPr algn="l"/>
              <a:r>
                <a:rPr lang="zh-CN" sz="975" dirty="0">
                  <a:solidFill>
                    <a:srgbClr val="4CAF82"/>
                  </a:solidFill>
                  <a:latin typeface="Arial"/>
                  <a:ea typeface="Microsoft YaHei"/>
                  <a:cs typeface="Arial"/>
                </a:rPr>
                <a:t>+152.6%</a:t>
              </a:r>
            </a:p>
          </p:txBody>
        </p:sp>
        <p:sp>
          <p:nvSpPr>
            <p:cNvPr id="35" name="TextBox 35"/>
            <p:cNvSpPr txBox="1"/>
            <p:nvPr/>
          </p:nvSpPr>
          <p:spPr>
            <a:xfrm>
              <a:off x="3988118" y="3457099"/>
              <a:ext cx="537400"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+140.6%</a:t>
              </a:r>
            </a:p>
          </p:txBody>
        </p:sp>
        <p:sp>
          <p:nvSpPr>
            <p:cNvPr id="36" name="Rectangle 36"/>
            <p:cNvSpPr/>
            <p:nvPr/>
          </p:nvSpPr>
          <p:spPr>
            <a:xfrm>
              <a:off x="762000" y="3771900"/>
              <a:ext cx="4953000" cy="9525"/>
            </a:xfrm>
            <a:prstGeom prst="rect">
              <a:avLst/>
            </a:prstGeom>
            <a:solidFill>
              <a:srgbClr val="2A3A5C"/>
            </a:solidFill>
            <a:ln>
              <a:noFill/>
            </a:ln>
          </p:spPr>
        </p:sp>
        <p:sp>
          <p:nvSpPr>
            <p:cNvPr id="37" name="TextBox 37"/>
            <p:cNvSpPr txBox="1"/>
            <p:nvPr/>
          </p:nvSpPr>
          <p:spPr>
            <a:xfrm>
              <a:off x="749618" y="3933349"/>
              <a:ext cx="2275021"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Microsoft YaHei"/>
                  <a:cs typeface="Arial"/>
                </a:rPr>
                <a:t>ANNUAL COST — $5,000 POSITION</a:t>
              </a:r>
            </a:p>
          </p:txBody>
        </p:sp>
        <p:sp>
          <p:nvSpPr>
            <p:cNvPr id="38" name="Rectangle 38"/>
            <p:cNvSpPr/>
            <p:nvPr/>
          </p:nvSpPr>
          <p:spPr>
            <a:xfrm>
              <a:off x="762000" y="4152900"/>
              <a:ext cx="4953000" cy="647700"/>
            </a:xfrm>
            <a:prstGeom prst="roundRect">
              <a:avLst>
                <a:gd name="adj" fmla="val 5882"/>
              </a:avLst>
            </a:prstGeom>
            <a:solidFill>
              <a:srgbClr val="0A0E1A"/>
            </a:solidFill>
            <a:ln>
              <a:noFill/>
            </a:ln>
          </p:spPr>
        </p:sp>
        <p:sp>
          <p:nvSpPr>
            <p:cNvPr id="39" name="TextBox 39"/>
            <p:cNvSpPr txBox="1"/>
            <p:nvPr/>
          </p:nvSpPr>
          <p:spPr>
            <a:xfrm>
              <a:off x="940118" y="4276249"/>
              <a:ext cx="2716101"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Expense ratio: $5,000 × 0.35% = $17.50</a:t>
              </a:r>
            </a:p>
          </p:txBody>
        </p:sp>
        <p:sp>
          <p:nvSpPr>
            <p:cNvPr id="40" name="TextBox 40"/>
            <p:cNvSpPr txBox="1"/>
            <p:nvPr/>
          </p:nvSpPr>
          <p:spPr>
            <a:xfrm>
              <a:off x="940118" y="4466749"/>
              <a:ext cx="3164657"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Entry + exit spread (2 × 1.5bps × $5K) = $1.50</a:t>
              </a:r>
            </a:p>
          </p:txBody>
        </p:sp>
        <p:sp>
          <p:nvSpPr>
            <p:cNvPr id="41" name="TextBox 41"/>
            <p:cNvSpPr txBox="1"/>
            <p:nvPr/>
          </p:nvSpPr>
          <p:spPr>
            <a:xfrm>
              <a:off x="940118" y="4657249"/>
              <a:ext cx="2903000" cy="198120"/>
            </a:xfrm>
            <a:prstGeom prst="rect">
              <a:avLst/>
            </a:prstGeom>
            <a:noFill/>
            <a:ln>
              <a:noFill/>
            </a:ln>
          </p:spPr>
          <p:txBody>
            <a:bodyPr wrap="none" lIns="0" tIns="0" rIns="0" bIns="0" anchor="t" anchorCtr="0">
              <a:spAutoFit/>
            </a:bodyPr>
            <a:lstStyle/>
            <a:p>
              <a:pPr algn="l"/>
              <a:r>
                <a:rPr lang="zh-CN" sz="975" b="1" dirty="0">
                  <a:solidFill>
                    <a:srgbClr val="F5C842"/>
                  </a:solidFill>
                  <a:latin typeface="Arial"/>
                  <a:ea typeface="Microsoft YaHei"/>
                  <a:cs typeface="Arial"/>
                </a:rPr>
                <a:t>Total: ∼$19.00/year — negligible for DCA</a:t>
              </a:r>
            </a:p>
          </p:txBody>
        </p:sp>
      </p:grpSp>
      <p:grpSp>
        <p:nvGrpSpPr>
          <p:cNvPr id="44" name="Group 44"/>
          <p:cNvGrpSpPr/>
          <p:nvPr/>
        </p:nvGrpSpPr>
        <p:grpSpPr>
          <a:xfrm>
            <a:off x="6076950" y="838200"/>
            <a:ext cx="9525" cy="5334000"/>
            <a:chOff x="6076950" y="838200"/>
            <a:chExt cx="9525" cy="5334000"/>
          </a:xfrm>
        </p:grpSpPr>
        <p:sp>
          <p:nvSpPr>
            <p:cNvPr id="43" name="Rectangle 43"/>
            <p:cNvSpPr/>
            <p:nvPr/>
          </p:nvSpPr>
          <p:spPr>
            <a:xfrm>
              <a:off x="6076950" y="838200"/>
              <a:ext cx="9525" cy="5334000"/>
            </a:xfrm>
            <a:prstGeom prst="rect">
              <a:avLst/>
            </a:prstGeom>
            <a:solidFill>
              <a:srgbClr val="2A3A5C"/>
            </a:solidFill>
            <a:ln>
              <a:noFill/>
            </a:ln>
          </p:spPr>
        </p:sp>
      </p:grpSp>
      <p:grpSp>
        <p:nvGrpSpPr>
          <p:cNvPr id="76" name="Group 76"/>
          <p:cNvGrpSpPr/>
          <p:nvPr/>
        </p:nvGrpSpPr>
        <p:grpSpPr>
          <a:xfrm>
            <a:off x="6305550" y="838200"/>
            <a:ext cx="5314950" cy="5334000"/>
            <a:chOff x="6305550" y="838200"/>
            <a:chExt cx="5314950" cy="5334000"/>
          </a:xfrm>
        </p:grpSpPr>
        <p:sp>
          <p:nvSpPr>
            <p:cNvPr id="45" name="Rectangle 45"/>
            <p:cNvSpPr/>
            <p:nvPr/>
          </p:nvSpPr>
          <p:spPr>
            <a:xfrm>
              <a:off x="6305550" y="838200"/>
              <a:ext cx="5314950" cy="5334000"/>
            </a:xfrm>
            <a:prstGeom prst="roundRect">
              <a:avLst>
                <a:gd name="adj" fmla="val 717"/>
              </a:avLst>
            </a:prstGeom>
            <a:solidFill>
              <a:srgbClr val="131B30"/>
            </a:solidFill>
            <a:ln>
              <a:noFill/>
            </a:ln>
          </p:spPr>
        </p:sp>
        <p:sp>
          <p:nvSpPr>
            <p:cNvPr id="46" name="Rectangle 46"/>
            <p:cNvSpPr/>
            <p:nvPr/>
          </p:nvSpPr>
          <p:spPr>
            <a:xfrm>
              <a:off x="6305550" y="838200"/>
              <a:ext cx="5314950" cy="38100"/>
            </a:xfrm>
            <a:prstGeom prst="rect">
              <a:avLst/>
            </a:prstGeom>
            <a:solidFill>
              <a:srgbClr val="4CAF82"/>
            </a:solidFill>
            <a:ln>
              <a:noFill/>
            </a:ln>
          </p:spPr>
        </p:sp>
        <p:sp>
          <p:nvSpPr>
            <p:cNvPr id="47" name="TextBox 47"/>
            <p:cNvSpPr txBox="1"/>
            <p:nvPr/>
          </p:nvSpPr>
          <p:spPr>
            <a:xfrm>
              <a:off x="6483668" y="1075849"/>
              <a:ext cx="2088123" cy="198120"/>
            </a:xfrm>
            <a:prstGeom prst="rect">
              <a:avLst/>
            </a:prstGeom>
            <a:noFill/>
            <a:ln>
              <a:noFill/>
            </a:ln>
          </p:spPr>
          <p:txBody>
            <a:bodyPr wrap="none" lIns="0" tIns="0" rIns="0" bIns="0" anchor="t" anchorCtr="0">
              <a:spAutoFit/>
            </a:bodyPr>
            <a:lstStyle/>
            <a:p>
              <a:pPr algn="l"/>
              <a:r>
                <a:rPr lang="zh-CN" sz="975" b="1" dirty="0">
                  <a:solidFill>
                    <a:srgbClr val="4CAF82"/>
                  </a:solidFill>
                  <a:latin typeface="Arial"/>
                  <a:ea typeface="Microsoft YaHei"/>
                  <a:cs typeface="Arial"/>
                </a:rPr>
                <a:t>LIQUIDITY PROFILE — GRADE: A</a:t>
              </a:r>
            </a:p>
          </p:txBody>
        </p:sp>
        <p:sp>
          <p:nvSpPr>
            <p:cNvPr id="48" name="TextBox 48"/>
            <p:cNvSpPr txBox="1"/>
            <p:nvPr/>
          </p:nvSpPr>
          <p:spPr>
            <a:xfrm>
              <a:off x="6457950" y="1257300"/>
              <a:ext cx="1341358" cy="609600"/>
            </a:xfrm>
            <a:prstGeom prst="rect">
              <a:avLst/>
            </a:prstGeom>
            <a:noFill/>
            <a:ln>
              <a:noFill/>
            </a:ln>
          </p:spPr>
          <p:txBody>
            <a:bodyPr wrap="none" lIns="0" tIns="0" rIns="0" bIns="0" anchor="t" anchorCtr="0">
              <a:spAutoFit/>
            </a:bodyPr>
            <a:lstStyle/>
            <a:p>
              <a:pPr algn="l"/>
              <a:r>
                <a:rPr lang="zh-CN" sz="3000" b="1" dirty="0">
                  <a:solidFill>
                    <a:srgbClr val="F5C842"/>
                  </a:solidFill>
                  <a:latin typeface="Arial"/>
                  <a:ea typeface="Microsoft YaHei"/>
                  <a:cs typeface="Arial"/>
                </a:rPr>
                <a:t>$3.3B</a:t>
              </a:r>
            </a:p>
          </p:txBody>
        </p:sp>
        <p:sp>
          <p:nvSpPr>
            <p:cNvPr id="49" name="TextBox 49"/>
            <p:cNvSpPr txBox="1"/>
            <p:nvPr/>
          </p:nvSpPr>
          <p:spPr>
            <a:xfrm>
              <a:off x="6482715" y="1753552"/>
              <a:ext cx="2027920" cy="213360"/>
            </a:xfrm>
            <a:prstGeom prst="rect">
              <a:avLst/>
            </a:prstGeom>
            <a:noFill/>
            <a:ln>
              <a:noFill/>
            </a:ln>
          </p:spPr>
          <p:txBody>
            <a:bodyPr wrap="none" lIns="0" tIns="0" rIns="0" bIns="0" anchor="t" anchorCtr="0">
              <a:spAutoFit/>
            </a:bodyPr>
            <a:lstStyle/>
            <a:p>
              <a:pPr algn="l"/>
              <a:r>
                <a:rPr lang="zh-CN" sz="1050" dirty="0">
                  <a:solidFill>
                    <a:srgbClr val="8899BB"/>
                  </a:solidFill>
                  <a:latin typeface="Arial"/>
                  <a:ea typeface="Microsoft YaHei"/>
                  <a:cs typeface="Arial"/>
                </a:rPr>
                <a:t>Average daily dollar volume</a:t>
              </a:r>
            </a:p>
          </p:txBody>
        </p:sp>
        <p:sp>
          <p:nvSpPr>
            <p:cNvPr id="50" name="Rectangle 50"/>
            <p:cNvSpPr/>
            <p:nvPr/>
          </p:nvSpPr>
          <p:spPr>
            <a:xfrm>
              <a:off x="6496050" y="2019300"/>
              <a:ext cx="4953000" cy="9525"/>
            </a:xfrm>
            <a:prstGeom prst="rect">
              <a:avLst/>
            </a:prstGeom>
            <a:solidFill>
              <a:srgbClr val="2A3A5C"/>
            </a:solidFill>
            <a:ln>
              <a:noFill/>
            </a:ln>
          </p:spPr>
        </p:sp>
        <p:sp>
          <p:nvSpPr>
            <p:cNvPr id="51" name="Rectangle 51"/>
            <p:cNvSpPr/>
            <p:nvPr/>
          </p:nvSpPr>
          <p:spPr>
            <a:xfrm>
              <a:off x="6496050" y="2133600"/>
              <a:ext cx="4953000" cy="247650"/>
            </a:xfrm>
            <a:prstGeom prst="rect">
              <a:avLst/>
            </a:prstGeom>
            <a:solidFill>
              <a:srgbClr val="1A2540"/>
            </a:solidFill>
            <a:ln>
              <a:noFill/>
            </a:ln>
          </p:spPr>
        </p:sp>
        <p:sp>
          <p:nvSpPr>
            <p:cNvPr id="52" name="TextBox 52"/>
            <p:cNvSpPr txBox="1"/>
            <p:nvPr/>
          </p:nvSpPr>
          <p:spPr>
            <a:xfrm>
              <a:off x="6579870" y="2207895"/>
              <a:ext cx="471416"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METRIC</a:t>
              </a:r>
            </a:p>
          </p:txBody>
        </p:sp>
        <p:sp>
          <p:nvSpPr>
            <p:cNvPr id="53" name="TextBox 53"/>
            <p:cNvSpPr txBox="1"/>
            <p:nvPr/>
          </p:nvSpPr>
          <p:spPr>
            <a:xfrm>
              <a:off x="8751570" y="2207895"/>
              <a:ext cx="402407"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VALUE</a:t>
              </a:r>
            </a:p>
          </p:txBody>
        </p:sp>
        <p:sp>
          <p:nvSpPr>
            <p:cNvPr id="54" name="Rectangle 54"/>
            <p:cNvSpPr/>
            <p:nvPr/>
          </p:nvSpPr>
          <p:spPr>
            <a:xfrm>
              <a:off x="6496050" y="2381250"/>
              <a:ext cx="4953000" cy="247650"/>
            </a:xfrm>
            <a:prstGeom prst="rect">
              <a:avLst/>
            </a:prstGeom>
            <a:solidFill>
              <a:srgbClr val="131B30"/>
            </a:solidFill>
            <a:ln>
              <a:noFill/>
            </a:ln>
          </p:spPr>
        </p:sp>
        <p:sp>
          <p:nvSpPr>
            <p:cNvPr id="55" name="TextBox 55"/>
            <p:cNvSpPr txBox="1"/>
            <p:nvPr/>
          </p:nvSpPr>
          <p:spPr>
            <a:xfrm>
              <a:off x="6578918" y="2447449"/>
              <a:ext cx="1042916"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30d Avg Volume</a:t>
              </a:r>
            </a:p>
          </p:txBody>
        </p:sp>
        <p:sp>
          <p:nvSpPr>
            <p:cNvPr id="56" name="TextBox 56"/>
            <p:cNvSpPr txBox="1"/>
            <p:nvPr/>
          </p:nvSpPr>
          <p:spPr>
            <a:xfrm>
              <a:off x="8750618" y="2447449"/>
              <a:ext cx="1270754"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7.20M shares/day</a:t>
              </a:r>
            </a:p>
          </p:txBody>
        </p:sp>
        <p:sp>
          <p:nvSpPr>
            <p:cNvPr id="57" name="Rectangle 57"/>
            <p:cNvSpPr/>
            <p:nvPr/>
          </p:nvSpPr>
          <p:spPr>
            <a:xfrm>
              <a:off x="6496050" y="2628900"/>
              <a:ext cx="4953000" cy="247650"/>
            </a:xfrm>
            <a:prstGeom prst="rect">
              <a:avLst/>
            </a:prstGeom>
            <a:solidFill>
              <a:srgbClr val="0A0E1A"/>
            </a:solidFill>
            <a:ln>
              <a:noFill/>
            </a:ln>
          </p:spPr>
        </p:sp>
        <p:sp>
          <p:nvSpPr>
            <p:cNvPr id="58" name="TextBox 58"/>
            <p:cNvSpPr txBox="1"/>
            <p:nvPr/>
          </p:nvSpPr>
          <p:spPr>
            <a:xfrm>
              <a:off x="6578918" y="2695099"/>
              <a:ext cx="1050036"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Bid-Ask Spread</a:t>
              </a:r>
            </a:p>
          </p:txBody>
        </p:sp>
        <p:sp>
          <p:nvSpPr>
            <p:cNvPr id="59" name="TextBox 59"/>
            <p:cNvSpPr txBox="1"/>
            <p:nvPr/>
          </p:nvSpPr>
          <p:spPr>
            <a:xfrm>
              <a:off x="8750618" y="2695099"/>
              <a:ext cx="1334834" cy="198120"/>
            </a:xfrm>
            <a:prstGeom prst="rect">
              <a:avLst/>
            </a:prstGeom>
            <a:noFill/>
            <a:ln>
              <a:noFill/>
            </a:ln>
          </p:spPr>
          <p:txBody>
            <a:bodyPr wrap="none" lIns="0" tIns="0" rIns="0" bIns="0" anchor="t" anchorCtr="0">
              <a:spAutoFit/>
            </a:bodyPr>
            <a:lstStyle/>
            <a:p>
              <a:pPr algn="l"/>
              <a:r>
                <a:rPr lang="zh-CN" sz="975" dirty="0">
                  <a:solidFill>
                    <a:srgbClr val="4CAF82"/>
                  </a:solidFill>
                  <a:latin typeface="Arial"/>
                  <a:ea typeface="Microsoft YaHei"/>
                  <a:cs typeface="Arial"/>
                </a:rPr>
                <a:t>1–2 bps (excellent)</a:t>
              </a:r>
            </a:p>
          </p:txBody>
        </p:sp>
        <p:sp>
          <p:nvSpPr>
            <p:cNvPr id="60" name="Rectangle 60"/>
            <p:cNvSpPr/>
            <p:nvPr/>
          </p:nvSpPr>
          <p:spPr>
            <a:xfrm>
              <a:off x="6496050" y="2876550"/>
              <a:ext cx="4953000" cy="247650"/>
            </a:xfrm>
            <a:prstGeom prst="rect">
              <a:avLst/>
            </a:prstGeom>
            <a:solidFill>
              <a:srgbClr val="131B30"/>
            </a:solidFill>
            <a:ln>
              <a:noFill/>
            </a:ln>
          </p:spPr>
        </p:sp>
        <p:sp>
          <p:nvSpPr>
            <p:cNvPr id="61" name="TextBox 61"/>
            <p:cNvSpPr txBox="1"/>
            <p:nvPr/>
          </p:nvSpPr>
          <p:spPr>
            <a:xfrm>
              <a:off x="6578918" y="2942749"/>
              <a:ext cx="1363313"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$5K position impact</a:t>
              </a:r>
            </a:p>
          </p:txBody>
        </p:sp>
        <p:sp>
          <p:nvSpPr>
            <p:cNvPr id="62" name="TextBox 62"/>
            <p:cNvSpPr txBox="1"/>
            <p:nvPr/>
          </p:nvSpPr>
          <p:spPr>
            <a:xfrm>
              <a:off x="8750618" y="2942749"/>
              <a:ext cx="665559" cy="198120"/>
            </a:xfrm>
            <a:prstGeom prst="rect">
              <a:avLst/>
            </a:prstGeom>
            <a:noFill/>
            <a:ln>
              <a:noFill/>
            </a:ln>
          </p:spPr>
          <p:txBody>
            <a:bodyPr wrap="none" lIns="0" tIns="0" rIns="0" bIns="0" anchor="t" anchorCtr="0">
              <a:spAutoFit/>
            </a:bodyPr>
            <a:lstStyle/>
            <a:p>
              <a:pPr algn="l"/>
              <a:r>
                <a:rPr lang="zh-CN" sz="975" dirty="0">
                  <a:solidFill>
                    <a:srgbClr val="4CAF82"/>
                  </a:solidFill>
                  <a:latin typeface="Arial"/>
                  <a:ea typeface="Microsoft YaHei"/>
                  <a:cs typeface="Arial"/>
                </a:rPr>
                <a:t>Negligible</a:t>
              </a:r>
            </a:p>
          </p:txBody>
        </p:sp>
        <p:sp>
          <p:nvSpPr>
            <p:cNvPr id="63" name="Rectangle 63"/>
            <p:cNvSpPr/>
            <p:nvPr/>
          </p:nvSpPr>
          <p:spPr>
            <a:xfrm>
              <a:off x="6496050" y="3124200"/>
              <a:ext cx="4953000" cy="247650"/>
            </a:xfrm>
            <a:prstGeom prst="rect">
              <a:avLst/>
            </a:prstGeom>
            <a:solidFill>
              <a:srgbClr val="0A0E1A"/>
            </a:solidFill>
            <a:ln>
              <a:noFill/>
            </a:ln>
          </p:spPr>
        </p:sp>
        <p:sp>
          <p:nvSpPr>
            <p:cNvPr id="64" name="TextBox 64"/>
            <p:cNvSpPr txBox="1"/>
            <p:nvPr/>
          </p:nvSpPr>
          <p:spPr>
            <a:xfrm>
              <a:off x="6578918" y="3190399"/>
              <a:ext cx="1441633"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$50K position impact</a:t>
              </a:r>
            </a:p>
          </p:txBody>
        </p:sp>
        <p:sp>
          <p:nvSpPr>
            <p:cNvPr id="65" name="TextBox 65"/>
            <p:cNvSpPr txBox="1"/>
            <p:nvPr/>
          </p:nvSpPr>
          <p:spPr>
            <a:xfrm>
              <a:off x="8750618" y="3190399"/>
              <a:ext cx="665559" cy="198120"/>
            </a:xfrm>
            <a:prstGeom prst="rect">
              <a:avLst/>
            </a:prstGeom>
            <a:noFill/>
            <a:ln>
              <a:noFill/>
            </a:ln>
          </p:spPr>
          <p:txBody>
            <a:bodyPr wrap="none" lIns="0" tIns="0" rIns="0" bIns="0" anchor="t" anchorCtr="0">
              <a:spAutoFit/>
            </a:bodyPr>
            <a:lstStyle/>
            <a:p>
              <a:pPr algn="l"/>
              <a:r>
                <a:rPr lang="zh-CN" sz="975" dirty="0">
                  <a:solidFill>
                    <a:srgbClr val="4CAF82"/>
                  </a:solidFill>
                  <a:latin typeface="Arial"/>
                  <a:ea typeface="Microsoft YaHei"/>
                  <a:cs typeface="Arial"/>
                </a:rPr>
                <a:t>Negligible</a:t>
              </a:r>
            </a:p>
          </p:txBody>
        </p:sp>
        <p:sp>
          <p:nvSpPr>
            <p:cNvPr id="66" name="Rectangle 66"/>
            <p:cNvSpPr/>
            <p:nvPr/>
          </p:nvSpPr>
          <p:spPr>
            <a:xfrm>
              <a:off x="6496050" y="3371850"/>
              <a:ext cx="4953000" cy="247650"/>
            </a:xfrm>
            <a:prstGeom prst="rect">
              <a:avLst/>
            </a:prstGeom>
            <a:solidFill>
              <a:srgbClr val="131B30"/>
            </a:solidFill>
            <a:ln>
              <a:noFill/>
            </a:ln>
          </p:spPr>
        </p:sp>
        <p:sp>
          <p:nvSpPr>
            <p:cNvPr id="67" name="TextBox 67"/>
            <p:cNvSpPr txBox="1"/>
            <p:nvPr/>
          </p:nvSpPr>
          <p:spPr>
            <a:xfrm>
              <a:off x="6578918" y="3438049"/>
              <a:ext cx="1206675"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Options available</a:t>
              </a:r>
            </a:p>
          </p:txBody>
        </p:sp>
        <p:sp>
          <p:nvSpPr>
            <p:cNvPr id="68" name="TextBox 68"/>
            <p:cNvSpPr txBox="1"/>
            <p:nvPr/>
          </p:nvSpPr>
          <p:spPr>
            <a:xfrm>
              <a:off x="8750618" y="3438049"/>
              <a:ext cx="1185315" cy="198120"/>
            </a:xfrm>
            <a:prstGeom prst="rect">
              <a:avLst/>
            </a:prstGeom>
            <a:noFill/>
            <a:ln>
              <a:noFill/>
            </a:ln>
          </p:spPr>
          <p:txBody>
            <a:bodyPr wrap="none" lIns="0" tIns="0" rIns="0" bIns="0" anchor="t" anchorCtr="0">
              <a:spAutoFit/>
            </a:bodyPr>
            <a:lstStyle/>
            <a:p>
              <a:pPr algn="l"/>
              <a:r>
                <a:rPr lang="zh-CN" sz="975" dirty="0">
                  <a:solidFill>
                    <a:srgbClr val="4CAF82"/>
                  </a:solidFill>
                  <a:latin typeface="Arial"/>
                  <a:ea typeface="Microsoft YaHei"/>
                  <a:cs typeface="Arial"/>
                </a:rPr>
                <a:t>Yes — liquid chain</a:t>
              </a:r>
            </a:p>
          </p:txBody>
        </p:sp>
        <p:sp>
          <p:nvSpPr>
            <p:cNvPr id="69" name="Rectangle 69"/>
            <p:cNvSpPr/>
            <p:nvPr/>
          </p:nvSpPr>
          <p:spPr>
            <a:xfrm>
              <a:off x="6496050" y="3752850"/>
              <a:ext cx="4953000" cy="9525"/>
            </a:xfrm>
            <a:prstGeom prst="rect">
              <a:avLst/>
            </a:prstGeom>
            <a:solidFill>
              <a:srgbClr val="2A3A5C"/>
            </a:solidFill>
            <a:ln>
              <a:noFill/>
            </a:ln>
          </p:spPr>
        </p:sp>
        <p:sp>
          <p:nvSpPr>
            <p:cNvPr id="70" name="TextBox 70"/>
            <p:cNvSpPr txBox="1"/>
            <p:nvPr/>
          </p:nvSpPr>
          <p:spPr>
            <a:xfrm>
              <a:off x="6483668" y="3895249"/>
              <a:ext cx="563032"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Microsoft YaHei"/>
                  <a:cs typeface="Arial"/>
                </a:rPr>
                <a:t>VERDICT</a:t>
              </a:r>
            </a:p>
          </p:txBody>
        </p:sp>
        <p:sp>
          <p:nvSpPr>
            <p:cNvPr id="71" name="Rectangle 71"/>
            <p:cNvSpPr/>
            <p:nvPr/>
          </p:nvSpPr>
          <p:spPr>
            <a:xfrm>
              <a:off x="6496050" y="4114800"/>
              <a:ext cx="4953000" cy="647700"/>
            </a:xfrm>
            <a:prstGeom prst="roundRect">
              <a:avLst>
                <a:gd name="adj" fmla="val 5882"/>
              </a:avLst>
            </a:prstGeom>
            <a:solidFill>
              <a:srgbClr val="0A0E1A"/>
            </a:solidFill>
            <a:ln>
              <a:noFill/>
            </a:ln>
          </p:spPr>
        </p:sp>
        <p:sp>
          <p:nvSpPr>
            <p:cNvPr id="72" name="Rectangle 72"/>
            <p:cNvSpPr/>
            <p:nvPr/>
          </p:nvSpPr>
          <p:spPr>
            <a:xfrm>
              <a:off x="6496050" y="4114800"/>
              <a:ext cx="38100" cy="647700"/>
            </a:xfrm>
            <a:prstGeom prst="rect">
              <a:avLst/>
            </a:prstGeom>
            <a:solidFill>
              <a:srgbClr val="4CAF82"/>
            </a:solidFill>
            <a:ln>
              <a:noFill/>
            </a:ln>
          </p:spPr>
        </p:sp>
        <p:sp>
          <p:nvSpPr>
            <p:cNvPr id="73" name="TextBox 73"/>
            <p:cNvSpPr txBox="1"/>
            <p:nvPr/>
          </p:nvSpPr>
          <p:spPr>
            <a:xfrm>
              <a:off x="6654165" y="4230052"/>
              <a:ext cx="3391991" cy="213360"/>
            </a:xfrm>
            <a:prstGeom prst="rect">
              <a:avLst/>
            </a:prstGeom>
            <a:noFill/>
            <a:ln>
              <a:noFill/>
            </a:ln>
          </p:spPr>
          <p:txBody>
            <a:bodyPr wrap="none" lIns="0" tIns="0" rIns="0" bIns="0" anchor="t" anchorCtr="0">
              <a:spAutoFit/>
            </a:bodyPr>
            <a:lstStyle/>
            <a:p>
              <a:pPr algn="l"/>
              <a:r>
                <a:rPr lang="zh-CN" sz="1050" b="1" dirty="0">
                  <a:solidFill>
                    <a:srgbClr val="E8EAF0"/>
                  </a:solidFill>
                  <a:latin typeface="Arial"/>
                  <a:ea typeface="Microsoft YaHei"/>
                  <a:cs typeface="Arial"/>
                </a:rPr>
                <a:t>Among the most liquid semiconductor ETFs.</a:t>
              </a:r>
            </a:p>
          </p:txBody>
        </p:sp>
        <p:sp>
          <p:nvSpPr>
            <p:cNvPr id="74" name="TextBox 74"/>
            <p:cNvSpPr txBox="1"/>
            <p:nvPr/>
          </p:nvSpPr>
          <p:spPr>
            <a:xfrm>
              <a:off x="6655118" y="4447699"/>
              <a:ext cx="3129058"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No execution risk at any retail position size.</a:t>
              </a:r>
            </a:p>
          </p:txBody>
        </p:sp>
        <p:sp>
          <p:nvSpPr>
            <p:cNvPr id="75" name="TextBox 75"/>
            <p:cNvSpPr txBox="1"/>
            <p:nvPr/>
          </p:nvSpPr>
          <p:spPr>
            <a:xfrm>
              <a:off x="6655118" y="4619149"/>
              <a:ext cx="3655933"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DCA friendly — small tranches incur minimal slippage.</a:t>
              </a:r>
            </a:p>
          </p:txBody>
        </p:sp>
      </p:grpSp>
      <p:grpSp>
        <p:nvGrpSpPr>
          <p:cNvPr id="81" name="Group 81"/>
          <p:cNvGrpSpPr/>
          <p:nvPr/>
        </p:nvGrpSpPr>
        <p:grpSpPr>
          <a:xfrm>
            <a:off x="0" y="6324600"/>
            <a:ext cx="12192000" cy="533400"/>
            <a:chOff x="0" y="6324600"/>
            <a:chExt cx="12192000" cy="533400"/>
          </a:xfrm>
        </p:grpSpPr>
        <p:sp>
          <p:nvSpPr>
            <p:cNvPr id="77" name="Rectangle 77"/>
            <p:cNvSpPr/>
            <p:nvPr/>
          </p:nvSpPr>
          <p:spPr>
            <a:xfrm>
              <a:off x="0" y="6324600"/>
              <a:ext cx="12192000" cy="533400"/>
            </a:xfrm>
            <a:prstGeom prst="rect">
              <a:avLst/>
            </a:prstGeom>
            <a:solidFill>
              <a:srgbClr val="131B30"/>
            </a:solidFill>
            <a:ln>
              <a:noFill/>
            </a:ln>
          </p:spPr>
        </p:sp>
        <p:sp>
          <p:nvSpPr>
            <p:cNvPr id="78" name="Rectangle 78"/>
            <p:cNvSpPr/>
            <p:nvPr/>
          </p:nvSpPr>
          <p:spPr>
            <a:xfrm>
              <a:off x="0" y="6324600"/>
              <a:ext cx="12192000" cy="9525"/>
            </a:xfrm>
            <a:prstGeom prst="rect">
              <a:avLst/>
            </a:prstGeom>
            <a:solidFill>
              <a:srgbClr val="F5C842">
                <a:alpha val="35000"/>
              </a:srgbClr>
            </a:solidFill>
            <a:ln>
              <a:noFill/>
            </a:ln>
          </p:spPr>
        </p:sp>
        <p:sp>
          <p:nvSpPr>
            <p:cNvPr id="79" name="TextBox 79"/>
            <p:cNvSpPr txBox="1"/>
            <p:nvPr/>
          </p:nvSpPr>
          <p:spPr>
            <a:xfrm>
              <a:off x="749618" y="6533674"/>
              <a:ext cx="807958"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ETF Quality</a:t>
              </a:r>
            </a:p>
          </p:txBody>
        </p:sp>
        <p:sp>
          <p:nvSpPr>
            <p:cNvPr id="80" name="TextBox 80"/>
            <p:cNvSpPr txBox="1"/>
            <p:nvPr/>
          </p:nvSpPr>
          <p:spPr>
            <a:xfrm>
              <a:off x="11339298" y="6533674"/>
              <a:ext cx="103084" cy="198120"/>
            </a:xfrm>
            <a:prstGeom prst="rect">
              <a:avLst/>
            </a:prstGeom>
            <a:noFill/>
            <a:ln>
              <a:noFill/>
            </a:ln>
          </p:spPr>
          <p:txBody>
            <a:bodyPr wrap="none" lIns="0" tIns="0" rIns="0" bIns="0" anchor="t" anchorCtr="0">
              <a:spAutoFit/>
            </a:bodyPr>
            <a:lstStyle/>
            <a:p>
              <a:pPr algn="r"/>
              <a:r>
                <a:rPr lang="zh-CN" sz="975" dirty="0">
                  <a:solidFill>
                    <a:srgbClr val="8899BB"/>
                  </a:solidFill>
                  <a:latin typeface="Arial"/>
                  <a:ea typeface="Microsoft YaHei"/>
                  <a:cs typeface="Arial"/>
                </a:rPr>
                <a:t>6</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50" presetClass="entr" presetSubtype="0" fill="hold"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stretch(across)">
                                      <p:cBhvr>
                                        <p:cTn id="11" dur="400"/>
                                        <p:tgtEl>
                                          <p:spTgt spid="42"/>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fade">
                                      <p:cBhvr>
                                        <p:cTn id="15" dur="400"/>
                                        <p:tgtEl>
                                          <p:spTgt spid="44"/>
                                        </p:tgtEl>
                                      </p:cBhvr>
                                    </p:animEffect>
                                  </p:childTnLst>
                                </p:cTn>
                              </p:par>
                            </p:childTnLst>
                          </p:cTn>
                        </p:par>
                        <p:par>
                          <p:cTn id="16" fill="hold">
                            <p:stCondLst>
                              <p:cond delay="2700"/>
                            </p:stCondLst>
                            <p:childTnLst>
                              <p:par>
                                <p:cTn id="17" presetID="19" presetClass="entr" presetSubtype="0" fill="hold" nodeType="afterEffect">
                                  <p:stCondLst>
                                    <p:cond delay="0"/>
                                  </p:stCondLst>
                                  <p:childTnLst>
                                    <p:set>
                                      <p:cBhvr>
                                        <p:cTn id="18" dur="1" fill="hold">
                                          <p:stCondLst>
                                            <p:cond delay="0"/>
                                          </p:stCondLst>
                                        </p:cTn>
                                        <p:tgtEl>
                                          <p:spTgt spid="76"/>
                                        </p:tgtEl>
                                        <p:attrNameLst>
                                          <p:attrName>style.visibility</p:attrName>
                                        </p:attrNameLst>
                                      </p:cBhvr>
                                      <p:to>
                                        <p:strVal val="visible"/>
                                      </p:to>
                                    </p:set>
                                    <p:animEffect transition="in" filter="wheel(1)">
                                      <p:cBhvr>
                                        <p:cTn id="19" dur="400"/>
                                        <p:tgtEl>
                                          <p:spTgt spid="76"/>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81"/>
                                        </p:tgtEl>
                                        <p:attrNameLst>
                                          <p:attrName>style.visibility</p:attrName>
                                        </p:attrNameLst>
                                      </p:cBhvr>
                                      <p:to>
                                        <p:strVal val="visible"/>
                                      </p:to>
                                    </p:set>
                                    <p:animEffect transition="in" filter="image">
                                      <p:cBhvr>
                                        <p:cTn id="23" dur="4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2" grpId="0"/>
      <p:bldP spid="44" grpId="0"/>
      <p:bldP spid="76" grpId="0"/>
      <p:bldP spid="8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12192000" cy="38100"/>
            </a:xfrm>
            <a:prstGeom prst="rect">
              <a:avLst/>
            </a:prstGeom>
            <a:solidFill>
              <a:srgbClr val="F5C842"/>
            </a:solidFill>
            <a:ln>
              <a:noFill/>
            </a:ln>
          </p:spPr>
        </p:sp>
      </p:grpSp>
      <p:grpSp>
        <p:nvGrpSpPr>
          <p:cNvPr id="8" name="Group 8"/>
          <p:cNvGrpSpPr/>
          <p:nvPr/>
        </p:nvGrpSpPr>
        <p:grpSpPr>
          <a:xfrm>
            <a:off x="0" y="38100"/>
            <a:ext cx="12192000" cy="609600"/>
            <a:chOff x="0" y="38100"/>
            <a:chExt cx="12192000" cy="609600"/>
          </a:xfrm>
        </p:grpSpPr>
        <p:sp>
          <p:nvSpPr>
            <p:cNvPr id="5" name="Rectangle 5"/>
            <p:cNvSpPr/>
            <p:nvPr/>
          </p:nvSpPr>
          <p:spPr>
            <a:xfrm>
              <a:off x="0" y="38100"/>
              <a:ext cx="12192000" cy="609600"/>
            </a:xfrm>
            <a:prstGeom prst="rect">
              <a:avLst/>
            </a:prstGeom>
            <a:solidFill>
              <a:srgbClr val="131B30"/>
            </a:solidFill>
            <a:ln>
              <a:noFill/>
            </a:ln>
          </p:spPr>
        </p:sp>
        <p:sp>
          <p:nvSpPr>
            <p:cNvPr id="6" name="Rectangle 6"/>
            <p:cNvSpPr/>
            <p:nvPr/>
          </p:nvSpPr>
          <p:spPr>
            <a:xfrm>
              <a:off x="571500" y="152400"/>
              <a:ext cx="38100" cy="381000"/>
            </a:xfrm>
            <a:prstGeom prst="rect">
              <a:avLst/>
            </a:prstGeom>
            <a:solidFill>
              <a:srgbClr val="F5C842"/>
            </a:solidFill>
            <a:ln>
              <a:noFill/>
            </a:ln>
          </p:spPr>
        </p:sp>
        <p:sp>
          <p:nvSpPr>
            <p:cNvPr id="7" name="TextBox 7"/>
            <p:cNvSpPr txBox="1"/>
            <p:nvPr/>
          </p:nvSpPr>
          <p:spPr>
            <a:xfrm>
              <a:off x="737235" y="227648"/>
              <a:ext cx="3951968" cy="396240"/>
            </a:xfrm>
            <a:prstGeom prst="rect">
              <a:avLst/>
            </a:prstGeom>
            <a:noFill/>
            <a:ln>
              <a:noFill/>
            </a:ln>
          </p:spPr>
          <p:txBody>
            <a:bodyPr wrap="none" lIns="0" tIns="0" rIns="0" bIns="0" anchor="t" anchorCtr="0">
              <a:spAutoFit/>
            </a:bodyPr>
            <a:lstStyle/>
            <a:p>
              <a:pPr algn="l"/>
              <a:r>
                <a:rPr lang="zh-CN" sz="1950" b="1" dirty="0">
                  <a:solidFill>
                    <a:srgbClr val="E8EAF0"/>
                  </a:solidFill>
                  <a:latin typeface="Arial"/>
                  <a:ea typeface="Microsoft YaHei"/>
                  <a:cs typeface="Arial"/>
                </a:rPr>
                <a:t>Alternatives &amp; Substitutes</a:t>
              </a:r>
            </a:p>
          </p:txBody>
        </p:sp>
      </p:grpSp>
      <p:grpSp>
        <p:nvGrpSpPr>
          <p:cNvPr id="11" name="Group 11"/>
          <p:cNvGrpSpPr/>
          <p:nvPr/>
        </p:nvGrpSpPr>
        <p:grpSpPr>
          <a:xfrm>
            <a:off x="571500" y="885349"/>
            <a:ext cx="11049000" cy="198120"/>
            <a:chOff x="571500" y="885349"/>
            <a:chExt cx="11049000" cy="198120"/>
          </a:xfrm>
        </p:grpSpPr>
        <p:sp>
          <p:nvSpPr>
            <p:cNvPr id="9" name="TextBox 9"/>
            <p:cNvSpPr txBox="1"/>
            <p:nvPr/>
          </p:nvSpPr>
          <p:spPr>
            <a:xfrm>
              <a:off x="749618" y="885349"/>
              <a:ext cx="2357257"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Microsoft YaHei"/>
                  <a:cs typeface="Arial"/>
                </a:rPr>
                <a:t>SEMICONDUCTOR ETF COMPARISON</a:t>
              </a:r>
            </a:p>
          </p:txBody>
        </p:sp>
        <p:sp>
          <p:nvSpPr>
            <p:cNvPr id="10" name="Rectangle 10"/>
            <p:cNvSpPr/>
            <p:nvPr/>
          </p:nvSpPr>
          <p:spPr>
            <a:xfrm>
              <a:off x="571500" y="1066800"/>
              <a:ext cx="11049000" cy="9525"/>
            </a:xfrm>
            <a:prstGeom prst="rect">
              <a:avLst/>
            </a:prstGeom>
            <a:solidFill>
              <a:srgbClr val="2A3A5C"/>
            </a:solidFill>
            <a:ln>
              <a:noFill/>
            </a:ln>
          </p:spPr>
        </p:sp>
      </p:grpSp>
      <p:grpSp>
        <p:nvGrpSpPr>
          <p:cNvPr id="21" name="Group 21"/>
          <p:cNvGrpSpPr/>
          <p:nvPr/>
        </p:nvGrpSpPr>
        <p:grpSpPr>
          <a:xfrm>
            <a:off x="571500" y="1104900"/>
            <a:ext cx="11049000" cy="266700"/>
            <a:chOff x="571500" y="1104900"/>
            <a:chExt cx="11049000" cy="266700"/>
          </a:xfrm>
        </p:grpSpPr>
        <p:sp>
          <p:nvSpPr>
            <p:cNvPr id="12" name="Rectangle 12"/>
            <p:cNvSpPr/>
            <p:nvPr/>
          </p:nvSpPr>
          <p:spPr>
            <a:xfrm>
              <a:off x="571500" y="1104900"/>
              <a:ext cx="11049000" cy="266700"/>
            </a:xfrm>
            <a:prstGeom prst="rect">
              <a:avLst/>
            </a:prstGeom>
            <a:solidFill>
              <a:srgbClr val="1A2540"/>
            </a:solidFill>
            <a:ln>
              <a:noFill/>
            </a:ln>
          </p:spPr>
        </p:sp>
        <p:sp>
          <p:nvSpPr>
            <p:cNvPr id="13" name="TextBox 13"/>
            <p:cNvSpPr txBox="1"/>
            <p:nvPr/>
          </p:nvSpPr>
          <p:spPr>
            <a:xfrm>
              <a:off x="750570" y="1188720"/>
              <a:ext cx="443813"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TICKER</a:t>
              </a:r>
            </a:p>
          </p:txBody>
        </p:sp>
        <p:sp>
          <p:nvSpPr>
            <p:cNvPr id="14" name="TextBox 14"/>
            <p:cNvSpPr txBox="1"/>
            <p:nvPr/>
          </p:nvSpPr>
          <p:spPr>
            <a:xfrm>
              <a:off x="1703070" y="1188720"/>
              <a:ext cx="623235"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ETF NAME</a:t>
              </a:r>
            </a:p>
          </p:txBody>
        </p:sp>
        <p:sp>
          <p:nvSpPr>
            <p:cNvPr id="15" name="TextBox 15"/>
            <p:cNvSpPr txBox="1"/>
            <p:nvPr/>
          </p:nvSpPr>
          <p:spPr>
            <a:xfrm>
              <a:off x="4179570" y="1188720"/>
              <a:ext cx="664640"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EXP RATIO</a:t>
              </a:r>
            </a:p>
          </p:txBody>
        </p:sp>
        <p:sp>
          <p:nvSpPr>
            <p:cNvPr id="16" name="TextBox 16"/>
            <p:cNvSpPr txBox="1"/>
            <p:nvPr/>
          </p:nvSpPr>
          <p:spPr>
            <a:xfrm>
              <a:off x="5322570" y="1188720"/>
              <a:ext cx="547326"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30d VOL</a:t>
              </a:r>
            </a:p>
          </p:txBody>
        </p:sp>
        <p:sp>
          <p:nvSpPr>
            <p:cNvPr id="17" name="TextBox 17"/>
            <p:cNvSpPr txBox="1"/>
            <p:nvPr/>
          </p:nvSpPr>
          <p:spPr>
            <a:xfrm>
              <a:off x="6275070" y="1188720"/>
              <a:ext cx="278192"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AUM</a:t>
              </a:r>
            </a:p>
          </p:txBody>
        </p:sp>
        <p:sp>
          <p:nvSpPr>
            <p:cNvPr id="18" name="TextBox 18"/>
            <p:cNvSpPr txBox="1"/>
            <p:nvPr/>
          </p:nvSpPr>
          <p:spPr>
            <a:xfrm>
              <a:off x="7418070" y="1188720"/>
              <a:ext cx="637037"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1Y RETURN</a:t>
              </a:r>
            </a:p>
          </p:txBody>
        </p:sp>
        <p:sp>
          <p:nvSpPr>
            <p:cNvPr id="19" name="TextBox 19"/>
            <p:cNvSpPr txBox="1"/>
            <p:nvPr/>
          </p:nvSpPr>
          <p:spPr>
            <a:xfrm>
              <a:off x="8561070" y="1188720"/>
              <a:ext cx="547326"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NVDA WT</a:t>
              </a:r>
            </a:p>
          </p:txBody>
        </p:sp>
        <p:sp>
          <p:nvSpPr>
            <p:cNvPr id="20" name="TextBox 20"/>
            <p:cNvSpPr txBox="1"/>
            <p:nvPr/>
          </p:nvSpPr>
          <p:spPr>
            <a:xfrm>
              <a:off x="9704070" y="1188720"/>
              <a:ext cx="519722"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VERDICT</a:t>
              </a:r>
            </a:p>
          </p:txBody>
        </p:sp>
      </p:grpSp>
      <p:grpSp>
        <p:nvGrpSpPr>
          <p:cNvPr id="32" name="Group 32"/>
          <p:cNvGrpSpPr/>
          <p:nvPr/>
        </p:nvGrpSpPr>
        <p:grpSpPr>
          <a:xfrm>
            <a:off x="571500" y="1371600"/>
            <a:ext cx="11049000" cy="304800"/>
            <a:chOff x="571500" y="1371600"/>
            <a:chExt cx="11049000" cy="304800"/>
          </a:xfrm>
        </p:grpSpPr>
        <p:sp>
          <p:nvSpPr>
            <p:cNvPr id="22" name="Rectangle 22"/>
            <p:cNvSpPr/>
            <p:nvPr/>
          </p:nvSpPr>
          <p:spPr>
            <a:xfrm>
              <a:off x="571500" y="1371600"/>
              <a:ext cx="11049000" cy="304800"/>
            </a:xfrm>
            <a:prstGeom prst="rect">
              <a:avLst/>
            </a:prstGeom>
            <a:solidFill>
              <a:srgbClr val="1A2A44"/>
            </a:solidFill>
            <a:ln>
              <a:noFill/>
            </a:ln>
          </p:spPr>
        </p:sp>
        <p:sp>
          <p:nvSpPr>
            <p:cNvPr id="23" name="Rectangle 23"/>
            <p:cNvSpPr/>
            <p:nvPr/>
          </p:nvSpPr>
          <p:spPr>
            <a:xfrm>
              <a:off x="571500" y="1371600"/>
              <a:ext cx="38100" cy="304800"/>
            </a:xfrm>
            <a:prstGeom prst="rect">
              <a:avLst/>
            </a:prstGeom>
            <a:solidFill>
              <a:srgbClr val="F5C842"/>
            </a:solidFill>
            <a:ln>
              <a:noFill/>
            </a:ln>
          </p:spPr>
        </p:sp>
        <p:sp>
          <p:nvSpPr>
            <p:cNvPr id="24" name="TextBox 24"/>
            <p:cNvSpPr txBox="1"/>
            <p:nvPr/>
          </p:nvSpPr>
          <p:spPr>
            <a:xfrm>
              <a:off x="749618" y="1466374"/>
              <a:ext cx="383610" cy="198120"/>
            </a:xfrm>
            <a:prstGeom prst="rect">
              <a:avLst/>
            </a:prstGeom>
            <a:noFill/>
            <a:ln>
              <a:noFill/>
            </a:ln>
          </p:spPr>
          <p:txBody>
            <a:bodyPr wrap="none" lIns="0" tIns="0" rIns="0" bIns="0" anchor="t" anchorCtr="0">
              <a:spAutoFit/>
            </a:bodyPr>
            <a:lstStyle/>
            <a:p>
              <a:pPr algn="l"/>
              <a:r>
                <a:rPr lang="zh-CN" sz="975" b="1" dirty="0">
                  <a:solidFill>
                    <a:srgbClr val="F5C842"/>
                  </a:solidFill>
                  <a:latin typeface="Arial"/>
                  <a:ea typeface="Microsoft YaHei"/>
                  <a:cs typeface="Arial"/>
                </a:rPr>
                <a:t>SOXX</a:t>
              </a:r>
            </a:p>
          </p:txBody>
        </p:sp>
        <p:sp>
          <p:nvSpPr>
            <p:cNvPr id="25" name="TextBox 25"/>
            <p:cNvSpPr txBox="1"/>
            <p:nvPr/>
          </p:nvSpPr>
          <p:spPr>
            <a:xfrm>
              <a:off x="1702118" y="1466374"/>
              <a:ext cx="1868829"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iShares Semiconductor ETF</a:t>
              </a:r>
            </a:p>
          </p:txBody>
        </p:sp>
        <p:sp>
          <p:nvSpPr>
            <p:cNvPr id="26" name="TextBox 26"/>
            <p:cNvSpPr txBox="1"/>
            <p:nvPr/>
          </p:nvSpPr>
          <p:spPr>
            <a:xfrm>
              <a:off x="4178618" y="1466374"/>
              <a:ext cx="416362" cy="198120"/>
            </a:xfrm>
            <a:prstGeom prst="rect">
              <a:avLst/>
            </a:prstGeom>
            <a:noFill/>
            <a:ln>
              <a:noFill/>
            </a:ln>
          </p:spPr>
          <p:txBody>
            <a:bodyPr wrap="none" lIns="0" tIns="0" rIns="0" bIns="0" anchor="t" anchorCtr="0">
              <a:spAutoFit/>
            </a:bodyPr>
            <a:lstStyle/>
            <a:p>
              <a:pPr algn="l"/>
              <a:r>
                <a:rPr lang="zh-CN" sz="975" dirty="0">
                  <a:solidFill>
                    <a:srgbClr val="4CAF82"/>
                  </a:solidFill>
                  <a:latin typeface="Arial"/>
                  <a:ea typeface="Microsoft YaHei"/>
                  <a:cs typeface="Arial"/>
                </a:rPr>
                <a:t>0.35%</a:t>
              </a:r>
            </a:p>
          </p:txBody>
        </p:sp>
        <p:sp>
          <p:nvSpPr>
            <p:cNvPr id="27" name="TextBox 27"/>
            <p:cNvSpPr txBox="1"/>
            <p:nvPr/>
          </p:nvSpPr>
          <p:spPr>
            <a:xfrm>
              <a:off x="5321618" y="1466374"/>
              <a:ext cx="444841"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7.20M</a:t>
              </a:r>
            </a:p>
          </p:txBody>
        </p:sp>
        <p:sp>
          <p:nvSpPr>
            <p:cNvPr id="28" name="TextBox 28"/>
            <p:cNvSpPr txBox="1"/>
            <p:nvPr/>
          </p:nvSpPr>
          <p:spPr>
            <a:xfrm>
              <a:off x="6274118" y="1466374"/>
              <a:ext cx="494681"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$20.6B</a:t>
              </a:r>
            </a:p>
          </p:txBody>
        </p:sp>
        <p:sp>
          <p:nvSpPr>
            <p:cNvPr id="29" name="TextBox 29"/>
            <p:cNvSpPr txBox="1"/>
            <p:nvPr/>
          </p:nvSpPr>
          <p:spPr>
            <a:xfrm>
              <a:off x="7417118" y="1466374"/>
              <a:ext cx="537400" cy="198120"/>
            </a:xfrm>
            <a:prstGeom prst="rect">
              <a:avLst/>
            </a:prstGeom>
            <a:noFill/>
            <a:ln>
              <a:noFill/>
            </a:ln>
          </p:spPr>
          <p:txBody>
            <a:bodyPr wrap="none" lIns="0" tIns="0" rIns="0" bIns="0" anchor="t" anchorCtr="0">
              <a:spAutoFit/>
            </a:bodyPr>
            <a:lstStyle/>
            <a:p>
              <a:pPr algn="l"/>
              <a:r>
                <a:rPr lang="zh-CN" sz="975" dirty="0">
                  <a:solidFill>
                    <a:srgbClr val="4CAF82"/>
                  </a:solidFill>
                  <a:latin typeface="Arial"/>
                  <a:ea typeface="Microsoft YaHei"/>
                  <a:cs typeface="Arial"/>
                </a:rPr>
                <a:t>+152.6%</a:t>
              </a:r>
            </a:p>
          </p:txBody>
        </p:sp>
        <p:sp>
          <p:nvSpPr>
            <p:cNvPr id="30" name="TextBox 30"/>
            <p:cNvSpPr txBox="1"/>
            <p:nvPr/>
          </p:nvSpPr>
          <p:spPr>
            <a:xfrm>
              <a:off x="8560118" y="1466374"/>
              <a:ext cx="338042" cy="198120"/>
            </a:xfrm>
            <a:prstGeom prst="rect">
              <a:avLst/>
            </a:prstGeom>
            <a:noFill/>
            <a:ln>
              <a:noFill/>
            </a:ln>
          </p:spPr>
          <p:txBody>
            <a:bodyPr wrap="none" lIns="0" tIns="0" rIns="0" bIns="0" anchor="t" anchorCtr="0">
              <a:spAutoFit/>
            </a:bodyPr>
            <a:lstStyle/>
            <a:p>
              <a:pPr algn="l"/>
              <a:r>
                <a:rPr lang="zh-CN" sz="975" dirty="0">
                  <a:solidFill>
                    <a:srgbClr val="4CAF82"/>
                  </a:solidFill>
                  <a:latin typeface="Arial"/>
                  <a:ea typeface="Microsoft YaHei"/>
                  <a:cs typeface="Arial"/>
                </a:rPr>
                <a:t>8.4%</a:t>
              </a:r>
            </a:p>
          </p:txBody>
        </p:sp>
        <p:sp>
          <p:nvSpPr>
            <p:cNvPr id="31" name="TextBox 31"/>
            <p:cNvSpPr txBox="1"/>
            <p:nvPr/>
          </p:nvSpPr>
          <p:spPr>
            <a:xfrm>
              <a:off x="9704070" y="1474470"/>
              <a:ext cx="1057989" cy="182880"/>
            </a:xfrm>
            <a:prstGeom prst="rect">
              <a:avLst/>
            </a:prstGeom>
            <a:noFill/>
            <a:ln>
              <a:noFill/>
            </a:ln>
          </p:spPr>
          <p:txBody>
            <a:bodyPr wrap="none" lIns="0" tIns="0" rIns="0" bIns="0" anchor="t" anchorCtr="0">
              <a:spAutoFit/>
            </a:bodyPr>
            <a:lstStyle/>
            <a:p>
              <a:pPr algn="l"/>
              <a:r>
                <a:rPr lang="zh-CN" sz="900" b="1" dirty="0">
                  <a:solidFill>
                    <a:srgbClr val="F5C842"/>
                  </a:solidFill>
                  <a:latin typeface="Arial"/>
                  <a:ea typeface="Microsoft YaHei"/>
                  <a:cs typeface="Arial"/>
                </a:rPr>
                <a:t>✅ RECOMMENDED</a:t>
              </a:r>
            </a:p>
          </p:txBody>
        </p:sp>
      </p:grpSp>
      <p:grpSp>
        <p:nvGrpSpPr>
          <p:cNvPr id="42" name="Group 42"/>
          <p:cNvGrpSpPr/>
          <p:nvPr/>
        </p:nvGrpSpPr>
        <p:grpSpPr>
          <a:xfrm>
            <a:off x="571500" y="1676400"/>
            <a:ext cx="11049000" cy="285750"/>
            <a:chOff x="571500" y="1676400"/>
            <a:chExt cx="11049000" cy="285750"/>
          </a:xfrm>
        </p:grpSpPr>
        <p:sp>
          <p:nvSpPr>
            <p:cNvPr id="33" name="Rectangle 33"/>
            <p:cNvSpPr/>
            <p:nvPr/>
          </p:nvSpPr>
          <p:spPr>
            <a:xfrm>
              <a:off x="571500" y="1676400"/>
              <a:ext cx="11049000" cy="285750"/>
            </a:xfrm>
            <a:prstGeom prst="rect">
              <a:avLst/>
            </a:prstGeom>
            <a:solidFill>
              <a:srgbClr val="131B30"/>
            </a:solidFill>
            <a:ln>
              <a:noFill/>
            </a:ln>
          </p:spPr>
        </p:sp>
        <p:sp>
          <p:nvSpPr>
            <p:cNvPr id="34" name="TextBox 34"/>
            <p:cNvSpPr txBox="1"/>
            <p:nvPr/>
          </p:nvSpPr>
          <p:spPr>
            <a:xfrm>
              <a:off x="749618" y="1761649"/>
              <a:ext cx="288203"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SMH</a:t>
              </a:r>
            </a:p>
          </p:txBody>
        </p:sp>
        <p:sp>
          <p:nvSpPr>
            <p:cNvPr id="35" name="TextBox 35"/>
            <p:cNvSpPr txBox="1"/>
            <p:nvPr/>
          </p:nvSpPr>
          <p:spPr>
            <a:xfrm>
              <a:off x="1702118" y="1761649"/>
              <a:ext cx="1826109"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VanEck Semiconductor ETF</a:t>
              </a:r>
            </a:p>
          </p:txBody>
        </p:sp>
        <p:sp>
          <p:nvSpPr>
            <p:cNvPr id="36" name="TextBox 36"/>
            <p:cNvSpPr txBox="1"/>
            <p:nvPr/>
          </p:nvSpPr>
          <p:spPr>
            <a:xfrm>
              <a:off x="4178618" y="1761649"/>
              <a:ext cx="416362"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0.35%</a:t>
              </a:r>
            </a:p>
          </p:txBody>
        </p:sp>
        <p:sp>
          <p:nvSpPr>
            <p:cNvPr id="37" name="TextBox 37"/>
            <p:cNvSpPr txBox="1"/>
            <p:nvPr/>
          </p:nvSpPr>
          <p:spPr>
            <a:xfrm>
              <a:off x="5321618" y="1761649"/>
              <a:ext cx="409242"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9.17M</a:t>
              </a:r>
            </a:p>
          </p:txBody>
        </p:sp>
        <p:sp>
          <p:nvSpPr>
            <p:cNvPr id="38" name="TextBox 38"/>
            <p:cNvSpPr txBox="1"/>
            <p:nvPr/>
          </p:nvSpPr>
          <p:spPr>
            <a:xfrm>
              <a:off x="6274118" y="1761649"/>
              <a:ext cx="416362"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∼$22B</a:t>
              </a:r>
            </a:p>
          </p:txBody>
        </p:sp>
        <p:sp>
          <p:nvSpPr>
            <p:cNvPr id="39" name="TextBox 39"/>
            <p:cNvSpPr txBox="1"/>
            <p:nvPr/>
          </p:nvSpPr>
          <p:spPr>
            <a:xfrm>
              <a:off x="7417118" y="1761649"/>
              <a:ext cx="537400"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+140.6%</a:t>
              </a:r>
            </a:p>
          </p:txBody>
        </p:sp>
        <p:sp>
          <p:nvSpPr>
            <p:cNvPr id="40" name="TextBox 40"/>
            <p:cNvSpPr txBox="1"/>
            <p:nvPr/>
          </p:nvSpPr>
          <p:spPr>
            <a:xfrm>
              <a:off x="8560118" y="1761649"/>
              <a:ext cx="338042" cy="198120"/>
            </a:xfrm>
            <a:prstGeom prst="rect">
              <a:avLst/>
            </a:prstGeom>
            <a:noFill/>
            <a:ln>
              <a:noFill/>
            </a:ln>
          </p:spPr>
          <p:txBody>
            <a:bodyPr wrap="none" lIns="0" tIns="0" rIns="0" bIns="0" anchor="t" anchorCtr="0">
              <a:spAutoFit/>
            </a:bodyPr>
            <a:lstStyle/>
            <a:p>
              <a:pPr algn="l"/>
              <a:r>
                <a:rPr lang="zh-CN" sz="975" dirty="0">
                  <a:solidFill>
                    <a:srgbClr val="E05C5C"/>
                  </a:solidFill>
                  <a:latin typeface="Arial"/>
                  <a:ea typeface="Microsoft YaHei"/>
                  <a:cs typeface="Arial"/>
                </a:rPr>
                <a:t>∼20%</a:t>
              </a:r>
            </a:p>
          </p:txBody>
        </p:sp>
        <p:sp>
          <p:nvSpPr>
            <p:cNvPr id="41" name="TextBox 41"/>
            <p:cNvSpPr txBox="1"/>
            <p:nvPr/>
          </p:nvSpPr>
          <p:spPr>
            <a:xfrm>
              <a:off x="9704070" y="1769745"/>
              <a:ext cx="752380" cy="182880"/>
            </a:xfrm>
            <a:prstGeom prst="rect">
              <a:avLst/>
            </a:prstGeom>
            <a:noFill/>
            <a:ln>
              <a:noFill/>
            </a:ln>
          </p:spPr>
          <p:txBody>
            <a:bodyPr wrap="none" lIns="0" tIns="0" rIns="0" bIns="0" anchor="t" anchorCtr="0">
              <a:spAutoFit/>
            </a:bodyPr>
            <a:lstStyle/>
            <a:p>
              <a:pPr algn="l"/>
              <a:r>
                <a:rPr lang="zh-CN" sz="900" dirty="0">
                  <a:solidFill>
                    <a:srgbClr val="8899BB"/>
                  </a:solidFill>
                  <a:latin typeface="Arial"/>
                  <a:ea typeface="Microsoft YaHei"/>
                  <a:cs typeface="Arial"/>
                </a:rPr>
                <a:t>Alternative</a:t>
              </a:r>
            </a:p>
          </p:txBody>
        </p:sp>
      </p:grpSp>
      <p:sp>
        <p:nvSpPr>
          <p:cNvPr id="43" name="Rectangle 43"/>
          <p:cNvSpPr/>
          <p:nvPr/>
        </p:nvSpPr>
        <p:spPr>
          <a:xfrm>
            <a:off x="571500" y="2114550"/>
            <a:ext cx="11049000" cy="9525"/>
          </a:xfrm>
          <a:prstGeom prst="rect">
            <a:avLst/>
          </a:prstGeom>
          <a:solidFill>
            <a:srgbClr val="2A3A5C"/>
          </a:solidFill>
          <a:ln>
            <a:noFill/>
          </a:ln>
        </p:spPr>
      </p:sp>
      <p:grpSp>
        <p:nvGrpSpPr>
          <p:cNvPr id="45" name="Group 45"/>
          <p:cNvGrpSpPr/>
          <p:nvPr/>
        </p:nvGrpSpPr>
        <p:grpSpPr>
          <a:xfrm>
            <a:off x="749618" y="2314099"/>
            <a:ext cx="1430241" cy="198120"/>
            <a:chOff x="749618" y="2314099"/>
            <a:chExt cx="1430241" cy="198120"/>
          </a:xfrm>
        </p:grpSpPr>
        <p:sp>
          <p:nvSpPr>
            <p:cNvPr id="44" name="TextBox 44"/>
            <p:cNvSpPr txBox="1"/>
            <p:nvPr/>
          </p:nvSpPr>
          <p:spPr>
            <a:xfrm>
              <a:off x="749618" y="2314099"/>
              <a:ext cx="1430241"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Microsoft YaHei"/>
                  <a:cs typeface="Arial"/>
                </a:rPr>
                <a:t>WHY SOXX OVER SMH</a:t>
              </a:r>
            </a:p>
          </p:txBody>
        </p:sp>
      </p:grpSp>
      <p:grpSp>
        <p:nvGrpSpPr>
          <p:cNvPr id="50" name="Group 50"/>
          <p:cNvGrpSpPr/>
          <p:nvPr/>
        </p:nvGrpSpPr>
        <p:grpSpPr>
          <a:xfrm>
            <a:off x="571500" y="2533650"/>
            <a:ext cx="14713316" cy="647700"/>
            <a:chOff x="571500" y="2533650"/>
            <a:chExt cx="14713316" cy="647700"/>
          </a:xfrm>
        </p:grpSpPr>
        <p:sp>
          <p:nvSpPr>
            <p:cNvPr id="46" name="Rectangle 46"/>
            <p:cNvSpPr/>
            <p:nvPr/>
          </p:nvSpPr>
          <p:spPr>
            <a:xfrm>
              <a:off x="571500" y="2533650"/>
              <a:ext cx="11049000" cy="647700"/>
            </a:xfrm>
            <a:prstGeom prst="roundRect">
              <a:avLst>
                <a:gd name="adj" fmla="val 5882"/>
              </a:avLst>
            </a:prstGeom>
            <a:solidFill>
              <a:srgbClr val="131B30"/>
            </a:solidFill>
            <a:ln>
              <a:noFill/>
            </a:ln>
          </p:spPr>
        </p:sp>
        <p:sp>
          <p:nvSpPr>
            <p:cNvPr id="47" name="Rectangle 47"/>
            <p:cNvSpPr/>
            <p:nvPr/>
          </p:nvSpPr>
          <p:spPr>
            <a:xfrm>
              <a:off x="571500" y="2533650"/>
              <a:ext cx="47625" cy="647700"/>
            </a:xfrm>
            <a:prstGeom prst="rect">
              <a:avLst/>
            </a:prstGeom>
            <a:solidFill>
              <a:srgbClr val="4CAF82"/>
            </a:solidFill>
            <a:ln>
              <a:noFill/>
            </a:ln>
          </p:spPr>
        </p:sp>
        <p:sp>
          <p:nvSpPr>
            <p:cNvPr id="48" name="TextBox 48"/>
            <p:cNvSpPr txBox="1"/>
            <p:nvPr/>
          </p:nvSpPr>
          <p:spPr>
            <a:xfrm>
              <a:off x="748665" y="2648902"/>
              <a:ext cx="3126307" cy="213360"/>
            </a:xfrm>
            <a:prstGeom prst="rect">
              <a:avLst/>
            </a:prstGeom>
            <a:noFill/>
            <a:ln>
              <a:noFill/>
            </a:ln>
          </p:spPr>
          <p:txBody>
            <a:bodyPr wrap="none" lIns="0" tIns="0" rIns="0" bIns="0" anchor="t" anchorCtr="0">
              <a:spAutoFit/>
            </a:bodyPr>
            <a:lstStyle/>
            <a:p>
              <a:pPr algn="l"/>
              <a:r>
                <a:rPr lang="zh-CN" sz="1050" b="1" dirty="0">
                  <a:solidFill>
                    <a:srgbClr val="4CAF82"/>
                  </a:solidFill>
                  <a:latin typeface="Arial"/>
                  <a:ea typeface="Microsoft YaHei"/>
                  <a:cs typeface="Arial"/>
                </a:rPr>
                <a:t>Better Diversification at Identical Cost</a:t>
              </a:r>
            </a:p>
          </p:txBody>
        </p:sp>
        <p:sp>
          <p:nvSpPr>
            <p:cNvPr id="49" name="TextBox 49"/>
            <p:cNvSpPr txBox="1"/>
            <p:nvPr/>
          </p:nvSpPr>
          <p:spPr>
            <a:xfrm>
              <a:off x="749618" y="2885599"/>
              <a:ext cx="14535198"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NVDA capped at 8.4% in SOXX vs ∼20% in SMH. Same 0.35% expense ratio. SOXX reduces single-stock concentration risk while maintaining full AI supercycle exposure. Better 1Y performance (+152.6% vs +140.6%).</a:t>
              </a:r>
            </a:p>
          </p:txBody>
        </p:sp>
      </p:grpSp>
      <p:grpSp>
        <p:nvGrpSpPr>
          <p:cNvPr id="55" name="Group 55"/>
          <p:cNvGrpSpPr/>
          <p:nvPr/>
        </p:nvGrpSpPr>
        <p:grpSpPr>
          <a:xfrm>
            <a:off x="571500" y="3295650"/>
            <a:ext cx="16913376" cy="647700"/>
            <a:chOff x="571500" y="3295650"/>
            <a:chExt cx="16913376" cy="647700"/>
          </a:xfrm>
        </p:grpSpPr>
        <p:sp>
          <p:nvSpPr>
            <p:cNvPr id="51" name="Rectangle 51"/>
            <p:cNvSpPr/>
            <p:nvPr/>
          </p:nvSpPr>
          <p:spPr>
            <a:xfrm>
              <a:off x="571500" y="3295650"/>
              <a:ext cx="11049000" cy="647700"/>
            </a:xfrm>
            <a:prstGeom prst="roundRect">
              <a:avLst>
                <a:gd name="adj" fmla="val 5882"/>
              </a:avLst>
            </a:prstGeom>
            <a:solidFill>
              <a:srgbClr val="0A0E1A"/>
            </a:solidFill>
            <a:ln>
              <a:noFill/>
            </a:ln>
          </p:spPr>
        </p:sp>
        <p:sp>
          <p:nvSpPr>
            <p:cNvPr id="52" name="Rectangle 52"/>
            <p:cNvSpPr/>
            <p:nvPr/>
          </p:nvSpPr>
          <p:spPr>
            <a:xfrm>
              <a:off x="571500" y="3295650"/>
              <a:ext cx="47625" cy="647700"/>
            </a:xfrm>
            <a:prstGeom prst="rect">
              <a:avLst/>
            </a:prstGeom>
            <a:solidFill>
              <a:srgbClr val="4A90D9"/>
            </a:solidFill>
            <a:ln>
              <a:noFill/>
            </a:ln>
          </p:spPr>
        </p:sp>
        <p:sp>
          <p:nvSpPr>
            <p:cNvPr id="53" name="TextBox 53"/>
            <p:cNvSpPr txBox="1"/>
            <p:nvPr/>
          </p:nvSpPr>
          <p:spPr>
            <a:xfrm>
              <a:off x="748665" y="3410902"/>
              <a:ext cx="2192391" cy="213360"/>
            </a:xfrm>
            <a:prstGeom prst="rect">
              <a:avLst/>
            </a:prstGeom>
            <a:noFill/>
            <a:ln>
              <a:noFill/>
            </a:ln>
          </p:spPr>
          <p:txBody>
            <a:bodyPr wrap="none" lIns="0" tIns="0" rIns="0" bIns="0" anchor="t" anchorCtr="0">
              <a:spAutoFit/>
            </a:bodyPr>
            <a:lstStyle/>
            <a:p>
              <a:pPr algn="l"/>
              <a:r>
                <a:rPr lang="zh-CN" sz="1050" b="1" dirty="0">
                  <a:solidFill>
                    <a:srgbClr val="4A90D9"/>
                  </a:solidFill>
                  <a:latin typeface="Arial"/>
                  <a:ea typeface="Microsoft YaHei"/>
                  <a:cs typeface="Arial"/>
                </a:rPr>
                <a:t>When to Choose SMH Instead</a:t>
              </a:r>
            </a:p>
          </p:txBody>
        </p:sp>
        <p:sp>
          <p:nvSpPr>
            <p:cNvPr id="54" name="TextBox 54"/>
            <p:cNvSpPr txBox="1"/>
            <p:nvPr/>
          </p:nvSpPr>
          <p:spPr>
            <a:xfrm>
              <a:off x="749618" y="3647599"/>
              <a:ext cx="16735258"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Prefer SMH only if you specifically want outsized NVDA beta. But if that is your intent, buying NVDA directly gives cleaner exposure. SMH’s higher volume (9.17M vs 7.20M) makes it marginally better for very large institutional block trades.</a:t>
              </a:r>
            </a:p>
          </p:txBody>
        </p:sp>
      </p:grpSp>
      <p:grpSp>
        <p:nvGrpSpPr>
          <p:cNvPr id="60" name="Group 60"/>
          <p:cNvGrpSpPr/>
          <p:nvPr/>
        </p:nvGrpSpPr>
        <p:grpSpPr>
          <a:xfrm>
            <a:off x="571500" y="4057650"/>
            <a:ext cx="14656356" cy="647700"/>
            <a:chOff x="571500" y="4057650"/>
            <a:chExt cx="14656356" cy="647700"/>
          </a:xfrm>
        </p:grpSpPr>
        <p:sp>
          <p:nvSpPr>
            <p:cNvPr id="56" name="Rectangle 56"/>
            <p:cNvSpPr/>
            <p:nvPr/>
          </p:nvSpPr>
          <p:spPr>
            <a:xfrm>
              <a:off x="571500" y="4057650"/>
              <a:ext cx="11049000" cy="647700"/>
            </a:xfrm>
            <a:prstGeom prst="roundRect">
              <a:avLst>
                <a:gd name="adj" fmla="val 5882"/>
              </a:avLst>
            </a:prstGeom>
            <a:solidFill>
              <a:srgbClr val="131B30"/>
            </a:solidFill>
            <a:ln>
              <a:noFill/>
            </a:ln>
          </p:spPr>
        </p:sp>
        <p:sp>
          <p:nvSpPr>
            <p:cNvPr id="57" name="Rectangle 57"/>
            <p:cNvSpPr/>
            <p:nvPr/>
          </p:nvSpPr>
          <p:spPr>
            <a:xfrm>
              <a:off x="571500" y="4057650"/>
              <a:ext cx="47625" cy="647700"/>
            </a:xfrm>
            <a:prstGeom prst="rect">
              <a:avLst/>
            </a:prstGeom>
            <a:solidFill>
              <a:srgbClr val="8899BB"/>
            </a:solidFill>
            <a:ln>
              <a:noFill/>
            </a:ln>
          </p:spPr>
        </p:sp>
        <p:sp>
          <p:nvSpPr>
            <p:cNvPr id="58" name="TextBox 58"/>
            <p:cNvSpPr txBox="1"/>
            <p:nvPr/>
          </p:nvSpPr>
          <p:spPr>
            <a:xfrm>
              <a:off x="748665" y="4172902"/>
              <a:ext cx="2184340" cy="213360"/>
            </a:xfrm>
            <a:prstGeom prst="rect">
              <a:avLst/>
            </a:prstGeom>
            <a:noFill/>
            <a:ln>
              <a:noFill/>
            </a:ln>
          </p:spPr>
          <p:txBody>
            <a:bodyPr wrap="none" lIns="0" tIns="0" rIns="0" bIns="0" anchor="t" anchorCtr="0">
              <a:spAutoFit/>
            </a:bodyPr>
            <a:lstStyle/>
            <a:p>
              <a:pPr algn="l"/>
              <a:r>
                <a:rPr lang="zh-CN" sz="1050" b="1" dirty="0">
                  <a:solidFill>
                    <a:srgbClr val="E8EAF0"/>
                  </a:solidFill>
                  <a:latin typeface="Arial"/>
                  <a:ea typeface="Microsoft YaHei"/>
                  <a:cs typeface="Arial"/>
                </a:rPr>
                <a:t>Individual Stock Alternative</a:t>
              </a:r>
            </a:p>
          </p:txBody>
        </p:sp>
        <p:sp>
          <p:nvSpPr>
            <p:cNvPr id="59" name="TextBox 59"/>
            <p:cNvSpPr txBox="1"/>
            <p:nvPr/>
          </p:nvSpPr>
          <p:spPr>
            <a:xfrm>
              <a:off x="749618" y="4409599"/>
              <a:ext cx="14478238"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NVDA + MU + AMAT as a 3-stock basket gives higher alpha potential but concentrated single-name risk and requires active monitoring. SOXX is the preferred instrument for passive AI memory sector exposure.</a:t>
              </a:r>
            </a:p>
          </p:txBody>
        </p:sp>
      </p:grpSp>
      <p:grpSp>
        <p:nvGrpSpPr>
          <p:cNvPr id="66" name="Group 66"/>
          <p:cNvGrpSpPr/>
          <p:nvPr/>
        </p:nvGrpSpPr>
        <p:grpSpPr>
          <a:xfrm>
            <a:off x="571500" y="4857750"/>
            <a:ext cx="11049000" cy="588169"/>
            <a:chOff x="571500" y="4857750"/>
            <a:chExt cx="11049000" cy="588169"/>
          </a:xfrm>
        </p:grpSpPr>
        <p:sp>
          <p:nvSpPr>
            <p:cNvPr id="61" name="Rectangle 61"/>
            <p:cNvSpPr/>
            <p:nvPr/>
          </p:nvSpPr>
          <p:spPr>
            <a:xfrm>
              <a:off x="571500" y="4857750"/>
              <a:ext cx="11049000" cy="9525"/>
            </a:xfrm>
            <a:prstGeom prst="rect">
              <a:avLst/>
            </a:prstGeom>
            <a:solidFill>
              <a:srgbClr val="2A3A5C"/>
            </a:solidFill>
            <a:ln>
              <a:noFill/>
            </a:ln>
          </p:spPr>
        </p:sp>
        <p:sp>
          <p:nvSpPr>
            <p:cNvPr id="62" name="Rectangle 62"/>
            <p:cNvSpPr/>
            <p:nvPr/>
          </p:nvSpPr>
          <p:spPr>
            <a:xfrm>
              <a:off x="571500" y="4972050"/>
              <a:ext cx="11049000" cy="457200"/>
            </a:xfrm>
            <a:prstGeom prst="roundRect">
              <a:avLst>
                <a:gd name="adj" fmla="val 8333"/>
              </a:avLst>
            </a:prstGeom>
            <a:solidFill>
              <a:srgbClr val="131B30"/>
            </a:solidFill>
            <a:ln>
              <a:noFill/>
            </a:ln>
          </p:spPr>
        </p:sp>
        <p:sp>
          <p:nvSpPr>
            <p:cNvPr id="63" name="Rectangle 63"/>
            <p:cNvSpPr/>
            <p:nvPr/>
          </p:nvSpPr>
          <p:spPr>
            <a:xfrm>
              <a:off x="571500" y="4972050"/>
              <a:ext cx="47625" cy="457200"/>
            </a:xfrm>
            <a:prstGeom prst="rect">
              <a:avLst/>
            </a:prstGeom>
            <a:solidFill>
              <a:srgbClr val="F5C842"/>
            </a:solidFill>
            <a:ln>
              <a:noFill/>
            </a:ln>
          </p:spPr>
        </p:sp>
        <p:sp>
          <p:nvSpPr>
            <p:cNvPr id="64" name="TextBox 64"/>
            <p:cNvSpPr txBox="1"/>
            <p:nvPr/>
          </p:nvSpPr>
          <p:spPr>
            <a:xfrm>
              <a:off x="748665" y="5068252"/>
              <a:ext cx="3810643" cy="213360"/>
            </a:xfrm>
            <a:prstGeom prst="rect">
              <a:avLst/>
            </a:prstGeom>
            <a:noFill/>
            <a:ln>
              <a:noFill/>
            </a:ln>
          </p:spPr>
          <p:txBody>
            <a:bodyPr wrap="none" lIns="0" tIns="0" rIns="0" bIns="0" anchor="t" anchorCtr="0">
              <a:spAutoFit/>
            </a:bodyPr>
            <a:lstStyle/>
            <a:p>
              <a:pPr algn="l"/>
              <a:r>
                <a:rPr lang="zh-CN" sz="1050" b="1" dirty="0">
                  <a:solidFill>
                    <a:srgbClr val="F5C842"/>
                  </a:solidFill>
                  <a:latin typeface="Arial"/>
                  <a:ea typeface="Microsoft YaHei"/>
                  <a:cs typeface="Arial"/>
                </a:rPr>
                <a:t>SOXX is the correct instrument for this thesis.</a:t>
              </a:r>
            </a:p>
          </p:txBody>
        </p:sp>
        <p:sp>
          <p:nvSpPr>
            <p:cNvPr id="65" name="TextBox 65"/>
            <p:cNvSpPr txBox="1"/>
            <p:nvPr/>
          </p:nvSpPr>
          <p:spPr>
            <a:xfrm>
              <a:off x="749618" y="5247799"/>
              <a:ext cx="9423082"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Same cost as SMH, better diversification, superior recent performance, institutional-grade liquidity — no reason to use a substitute.</a:t>
              </a:r>
            </a:p>
          </p:txBody>
        </p:sp>
      </p:grpSp>
      <p:grpSp>
        <p:nvGrpSpPr>
          <p:cNvPr id="71" name="Group 71"/>
          <p:cNvGrpSpPr/>
          <p:nvPr/>
        </p:nvGrpSpPr>
        <p:grpSpPr>
          <a:xfrm>
            <a:off x="0" y="6324600"/>
            <a:ext cx="12192000" cy="533400"/>
            <a:chOff x="0" y="6324600"/>
            <a:chExt cx="12192000" cy="533400"/>
          </a:xfrm>
        </p:grpSpPr>
        <p:sp>
          <p:nvSpPr>
            <p:cNvPr id="67" name="Rectangle 67"/>
            <p:cNvSpPr/>
            <p:nvPr/>
          </p:nvSpPr>
          <p:spPr>
            <a:xfrm>
              <a:off x="0" y="6324600"/>
              <a:ext cx="12192000" cy="533400"/>
            </a:xfrm>
            <a:prstGeom prst="rect">
              <a:avLst/>
            </a:prstGeom>
            <a:solidFill>
              <a:srgbClr val="131B30"/>
            </a:solidFill>
            <a:ln>
              <a:noFill/>
            </a:ln>
          </p:spPr>
        </p:sp>
        <p:sp>
          <p:nvSpPr>
            <p:cNvPr id="68" name="Rectangle 68"/>
            <p:cNvSpPr/>
            <p:nvPr/>
          </p:nvSpPr>
          <p:spPr>
            <a:xfrm>
              <a:off x="0" y="6324600"/>
              <a:ext cx="12192000" cy="9525"/>
            </a:xfrm>
            <a:prstGeom prst="rect">
              <a:avLst/>
            </a:prstGeom>
            <a:solidFill>
              <a:srgbClr val="F5C842">
                <a:alpha val="35000"/>
              </a:srgbClr>
            </a:solidFill>
            <a:ln>
              <a:noFill/>
            </a:ln>
          </p:spPr>
        </p:sp>
        <p:sp>
          <p:nvSpPr>
            <p:cNvPr id="69" name="TextBox 69"/>
            <p:cNvSpPr txBox="1"/>
            <p:nvPr/>
          </p:nvSpPr>
          <p:spPr>
            <a:xfrm>
              <a:off x="749618" y="6533674"/>
              <a:ext cx="807958"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ETF Quality</a:t>
              </a:r>
            </a:p>
          </p:txBody>
        </p:sp>
        <p:sp>
          <p:nvSpPr>
            <p:cNvPr id="70" name="TextBox 70"/>
            <p:cNvSpPr txBox="1"/>
            <p:nvPr/>
          </p:nvSpPr>
          <p:spPr>
            <a:xfrm>
              <a:off x="11339298" y="6533674"/>
              <a:ext cx="103084" cy="198120"/>
            </a:xfrm>
            <a:prstGeom prst="rect">
              <a:avLst/>
            </a:prstGeom>
            <a:noFill/>
            <a:ln>
              <a:noFill/>
            </a:ln>
          </p:spPr>
          <p:txBody>
            <a:bodyPr wrap="none" lIns="0" tIns="0" rIns="0" bIns="0" anchor="t" anchorCtr="0">
              <a:spAutoFit/>
            </a:bodyPr>
            <a:lstStyle/>
            <a:p>
              <a:pPr algn="r"/>
              <a:r>
                <a:rPr lang="zh-CN" sz="975" dirty="0">
                  <a:solidFill>
                    <a:srgbClr val="8899BB"/>
                  </a:solidFill>
                  <a:latin typeface="Arial"/>
                  <a:ea typeface="Microsoft YaHei"/>
                  <a:cs typeface="Arial"/>
                </a:rPr>
                <a:t>7</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3" presetClass="entr" presetSubtype="1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blinds(horizontal)">
                                      <p:cBhvr>
                                        <p:cTn id="11" dur="400"/>
                                        <p:tgtEl>
                                          <p:spTgt spid="11"/>
                                        </p:tgtEl>
                                      </p:cBhvr>
                                    </p:animEffect>
                                  </p:childTnLst>
                                </p:cTn>
                              </p:par>
                            </p:childTnLst>
                          </p:cTn>
                        </p:par>
                        <p:par>
                          <p:cTn id="12" fill="hold">
                            <p:stCondLst>
                              <p:cond delay="1800"/>
                            </p:stCondLst>
                            <p:childTnLst>
                              <p:par>
                                <p:cTn id="13" presetID="5" presetClass="entr" presetSubtype="6" fill="hold"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checkerboard(across)">
                                      <p:cBhvr>
                                        <p:cTn id="15" dur="400"/>
                                        <p:tgtEl>
                                          <p:spTgt spid="32"/>
                                        </p:tgtEl>
                                      </p:cBhvr>
                                    </p:animEffect>
                                  </p:childTnLst>
                                </p:cTn>
                              </p:par>
                            </p:childTnLst>
                          </p:cTn>
                        </p:par>
                        <p:par>
                          <p:cTn id="16" fill="hold">
                            <p:stCondLst>
                              <p:cond delay="2700"/>
                            </p:stCondLst>
                            <p:childTnLst>
                              <p:par>
                                <p:cTn id="17" presetID="9" presetClass="entr" presetSubtype="0" fill="hold" nodeType="after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dissolve">
                                      <p:cBhvr>
                                        <p:cTn id="19" dur="400"/>
                                        <p:tgtEl>
                                          <p:spTgt spid="42"/>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45"/>
                                        </p:tgtEl>
                                        <p:attrNameLst>
                                          <p:attrName>style.visibility</p:attrName>
                                        </p:attrNameLst>
                                      </p:cBhvr>
                                      <p:to>
                                        <p:strVal val="visible"/>
                                      </p:to>
                                    </p:set>
                                    <p:animEffect transition="in" filter="slide(fromBottom)">
                                      <p:cBhvr>
                                        <p:cTn id="23" dur="400"/>
                                        <p:tgtEl>
                                          <p:spTgt spid="45"/>
                                        </p:tgtEl>
                                      </p:cBhvr>
                                    </p:animEffect>
                                  </p:childTnLst>
                                </p:cTn>
                              </p:par>
                            </p:childTnLst>
                          </p:cTn>
                        </p:par>
                        <p:par>
                          <p:cTn id="24" fill="hold">
                            <p:stCondLst>
                              <p:cond delay="4500"/>
                            </p:stCondLst>
                            <p:childTnLst>
                              <p:par>
                                <p:cTn id="25" presetID="42" presetClass="entr" presetSubtype="8" fill="hold" nodeType="afterEffect">
                                  <p:stCondLst>
                                    <p:cond delay="0"/>
                                  </p:stCondLst>
                                  <p:childTnLst>
                                    <p:set>
                                      <p:cBhvr>
                                        <p:cTn id="26" dur="1" fill="hold">
                                          <p:stCondLst>
                                            <p:cond delay="0"/>
                                          </p:stCondLst>
                                        </p:cTn>
                                        <p:tgtEl>
                                          <p:spTgt spid="50"/>
                                        </p:tgtEl>
                                        <p:attrNameLst>
                                          <p:attrName>style.visibility</p:attrName>
                                        </p:attrNameLst>
                                      </p:cBhvr>
                                      <p:to>
                                        <p:strVal val="visible"/>
                                      </p:to>
                                    </p:set>
                                    <p:animEffect transition="in" filter="slide(fromLeft)">
                                      <p:cBhvr>
                                        <p:cTn id="27" dur="400"/>
                                        <p:tgtEl>
                                          <p:spTgt spid="50"/>
                                        </p:tgtEl>
                                      </p:cBhvr>
                                    </p:animEffect>
                                  </p:childTnLst>
                                </p:cTn>
                              </p:par>
                            </p:childTnLst>
                          </p:cTn>
                        </p:par>
                        <p:par>
                          <p:cTn id="28" fill="hold">
                            <p:stCondLst>
                              <p:cond delay="5400"/>
                            </p:stCondLst>
                            <p:childTnLst>
                              <p:par>
                                <p:cTn id="29" presetID="14" presetClass="entr" presetSubtype="10" fill="hold" nodeType="afterEffect">
                                  <p:stCondLst>
                                    <p:cond delay="0"/>
                                  </p:stCondLst>
                                  <p:childTnLst>
                                    <p:set>
                                      <p:cBhvr>
                                        <p:cTn id="30" dur="1" fill="hold">
                                          <p:stCondLst>
                                            <p:cond delay="0"/>
                                          </p:stCondLst>
                                        </p:cTn>
                                        <p:tgtEl>
                                          <p:spTgt spid="55"/>
                                        </p:tgtEl>
                                        <p:attrNameLst>
                                          <p:attrName>style.visibility</p:attrName>
                                        </p:attrNameLst>
                                      </p:cBhvr>
                                      <p:to>
                                        <p:strVal val="visible"/>
                                      </p:to>
                                    </p:set>
                                    <p:animEffect transition="in" filter="randombar(horizontal)">
                                      <p:cBhvr>
                                        <p:cTn id="31" dur="400"/>
                                        <p:tgtEl>
                                          <p:spTgt spid="55"/>
                                        </p:tgtEl>
                                      </p:cBhvr>
                                    </p:animEffect>
                                  </p:childTnLst>
                                </p:cTn>
                              </p:par>
                            </p:childTnLst>
                          </p:cTn>
                        </p:par>
                        <p:par>
                          <p:cTn id="32" fill="hold">
                            <p:stCondLst>
                              <p:cond delay="6300"/>
                            </p:stCondLst>
                            <p:childTnLst>
                              <p:par>
                                <p:cTn id="33" presetID="4" presetClass="entr" presetSubtype="0" fill="hold" nodeType="afterEffect">
                                  <p:stCondLst>
                                    <p:cond delay="0"/>
                                  </p:stCondLst>
                                  <p:childTnLst>
                                    <p:set>
                                      <p:cBhvr>
                                        <p:cTn id="34" dur="1" fill="hold">
                                          <p:stCondLst>
                                            <p:cond delay="0"/>
                                          </p:stCondLst>
                                        </p:cTn>
                                        <p:tgtEl>
                                          <p:spTgt spid="60"/>
                                        </p:tgtEl>
                                        <p:attrNameLst>
                                          <p:attrName>style.visibility</p:attrName>
                                        </p:attrNameLst>
                                      </p:cBhvr>
                                      <p:to>
                                        <p:strVal val="visible"/>
                                      </p:to>
                                    </p:set>
                                    <p:animEffect transition="in" filter="box(in)">
                                      <p:cBhvr>
                                        <p:cTn id="35" dur="400"/>
                                        <p:tgtEl>
                                          <p:spTgt spid="60"/>
                                        </p:tgtEl>
                                      </p:cBhvr>
                                    </p:animEffect>
                                  </p:childTnLst>
                                </p:cTn>
                              </p:par>
                            </p:childTnLst>
                          </p:cTn>
                        </p:par>
                        <p:par>
                          <p:cTn id="36" fill="hold">
                            <p:stCondLst>
                              <p:cond delay="7200"/>
                            </p:stCondLst>
                            <p:childTnLst>
                              <p:par>
                                <p:cTn id="37" presetID="16" presetClass="entr" presetSubtype="21" fill="hold" nodeType="afterEffect">
                                  <p:stCondLst>
                                    <p:cond delay="0"/>
                                  </p:stCondLst>
                                  <p:childTnLst>
                                    <p:set>
                                      <p:cBhvr>
                                        <p:cTn id="38" dur="1" fill="hold">
                                          <p:stCondLst>
                                            <p:cond delay="0"/>
                                          </p:stCondLst>
                                        </p:cTn>
                                        <p:tgtEl>
                                          <p:spTgt spid="66"/>
                                        </p:tgtEl>
                                        <p:attrNameLst>
                                          <p:attrName>style.visibility</p:attrName>
                                        </p:attrNameLst>
                                      </p:cBhvr>
                                      <p:to>
                                        <p:strVal val="visible"/>
                                      </p:to>
                                    </p:set>
                                    <p:animEffect transition="in" filter="barn(inVertical)">
                                      <p:cBhvr>
                                        <p:cTn id="39" dur="400"/>
                                        <p:tgtEl>
                                          <p:spTgt spid="66"/>
                                        </p:tgtEl>
                                      </p:cBhvr>
                                    </p:animEffect>
                                  </p:childTnLst>
                                </p:cTn>
                              </p:par>
                            </p:childTnLst>
                          </p:cTn>
                        </p:par>
                        <p:par>
                          <p:cTn id="40" fill="hold">
                            <p:stCondLst>
                              <p:cond delay="8100"/>
                            </p:stCondLst>
                            <p:childTnLst>
                              <p:par>
                                <p:cTn id="41" presetID="18" presetClass="entr" presetSubtype="12" fill="hold" nodeType="afterEffect">
                                  <p:stCondLst>
                                    <p:cond delay="0"/>
                                  </p:stCondLst>
                                  <p:childTnLst>
                                    <p:set>
                                      <p:cBhvr>
                                        <p:cTn id="42" dur="1" fill="hold">
                                          <p:stCondLst>
                                            <p:cond delay="0"/>
                                          </p:stCondLst>
                                        </p:cTn>
                                        <p:tgtEl>
                                          <p:spTgt spid="71"/>
                                        </p:tgtEl>
                                        <p:attrNameLst>
                                          <p:attrName>style.visibility</p:attrName>
                                        </p:attrNameLst>
                                      </p:cBhvr>
                                      <p:to>
                                        <p:strVal val="visible"/>
                                      </p:to>
                                    </p:set>
                                    <p:animEffect transition="in" filter="strips(downRight)">
                                      <p:cBhvr>
                                        <p:cTn id="43" dur="4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32" grpId="0"/>
      <p:bldP spid="42" grpId="0"/>
      <p:bldP spid="45" grpId="0"/>
      <p:bldP spid="50" grpId="0"/>
      <p:bldP spid="55" grpId="0"/>
      <p:bldP spid="60" grpId="0"/>
      <p:bldP spid="66" grpId="0"/>
      <p:bldP spid="7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12192000" cy="38100"/>
            </a:xfrm>
            <a:prstGeom prst="rect">
              <a:avLst/>
            </a:prstGeom>
            <a:solidFill>
              <a:srgbClr val="F5C842"/>
            </a:solidFill>
            <a:ln>
              <a:noFill/>
            </a:ln>
          </p:spPr>
        </p:sp>
      </p:grpSp>
      <p:sp>
        <p:nvSpPr>
          <p:cNvPr id="5" name="TextBox 5"/>
          <p:cNvSpPr txBox="1"/>
          <p:nvPr/>
        </p:nvSpPr>
        <p:spPr>
          <a:xfrm>
            <a:off x="4951619" y="3067050"/>
            <a:ext cx="3431762" cy="4267200"/>
          </a:xfrm>
          <a:prstGeom prst="rect">
            <a:avLst/>
          </a:prstGeom>
          <a:noFill/>
          <a:ln>
            <a:noFill/>
          </a:ln>
        </p:spPr>
        <p:txBody>
          <a:bodyPr wrap="none" lIns="0" tIns="0" rIns="0" bIns="0" anchor="t" anchorCtr="0">
            <a:spAutoFit/>
          </a:bodyPr>
          <a:lstStyle/>
          <a:p>
            <a:pPr algn="ctr"/>
            <a:r>
              <a:rPr lang="zh-CN" sz="21000" b="1" dirty="0">
                <a:solidFill>
                  <a:srgbClr val="0F1628"/>
                </a:solidFill>
                <a:latin typeface="Arial"/>
                <a:ea typeface="Microsoft YaHei"/>
                <a:cs typeface="Arial"/>
              </a:rPr>
              <a:t>III</a:t>
            </a:r>
          </a:p>
        </p:txBody>
      </p:sp>
      <p:grpSp>
        <p:nvGrpSpPr>
          <p:cNvPr id="7" name="Group 7"/>
          <p:cNvGrpSpPr/>
          <p:nvPr/>
        </p:nvGrpSpPr>
        <p:grpSpPr>
          <a:xfrm>
            <a:off x="0" y="38100"/>
            <a:ext cx="38100" cy="6781800"/>
            <a:chOff x="0" y="38100"/>
            <a:chExt cx="38100" cy="6781800"/>
          </a:xfrm>
        </p:grpSpPr>
        <p:sp>
          <p:nvSpPr>
            <p:cNvPr id="6" name="Rectangle 6"/>
            <p:cNvSpPr/>
            <p:nvPr/>
          </p:nvSpPr>
          <p:spPr>
            <a:xfrm>
              <a:off x="0" y="38100"/>
              <a:ext cx="38100" cy="6781800"/>
            </a:xfrm>
            <a:prstGeom prst="rect">
              <a:avLst/>
            </a:prstGeom>
            <a:solidFill>
              <a:srgbClr val="E05C5C"/>
            </a:solidFill>
            <a:ln>
              <a:noFill/>
            </a:ln>
          </p:spPr>
        </p:sp>
      </p:grpSp>
      <p:grpSp>
        <p:nvGrpSpPr>
          <p:cNvPr id="9" name="Group 9"/>
          <p:cNvGrpSpPr/>
          <p:nvPr/>
        </p:nvGrpSpPr>
        <p:grpSpPr>
          <a:xfrm>
            <a:off x="749618" y="2656999"/>
            <a:ext cx="779834" cy="198120"/>
            <a:chOff x="749618" y="2656999"/>
            <a:chExt cx="779834" cy="198120"/>
          </a:xfrm>
        </p:grpSpPr>
        <p:sp>
          <p:nvSpPr>
            <p:cNvPr id="8" name="TextBox 8"/>
            <p:cNvSpPr txBox="1"/>
            <p:nvPr/>
          </p:nvSpPr>
          <p:spPr>
            <a:xfrm>
              <a:off x="749618" y="2656999"/>
              <a:ext cx="779834" cy="198120"/>
            </a:xfrm>
            <a:prstGeom prst="rect">
              <a:avLst/>
            </a:prstGeom>
            <a:noFill/>
            <a:ln>
              <a:noFill/>
            </a:ln>
          </p:spPr>
          <p:txBody>
            <a:bodyPr wrap="none" lIns="0" tIns="0" rIns="0" bIns="0" anchor="t" anchorCtr="0">
              <a:spAutoFit/>
            </a:bodyPr>
            <a:lstStyle/>
            <a:p>
              <a:pPr algn="l"/>
              <a:r>
                <a:rPr lang="zh-CN" sz="975" b="1" dirty="0">
                  <a:solidFill>
                    <a:srgbClr val="E05C5C"/>
                  </a:solidFill>
                  <a:latin typeface="Arial"/>
                  <a:ea typeface="Microsoft YaHei"/>
                  <a:cs typeface="Arial"/>
                </a:rPr>
                <a:t>CHAPTER III</a:t>
              </a:r>
            </a:p>
          </p:txBody>
        </p:sp>
      </p:grpSp>
      <p:grpSp>
        <p:nvGrpSpPr>
          <p:cNvPr id="11" name="Group 11"/>
          <p:cNvGrpSpPr/>
          <p:nvPr/>
        </p:nvGrpSpPr>
        <p:grpSpPr>
          <a:xfrm>
            <a:off x="712470" y="3007995"/>
            <a:ext cx="4614524" cy="792480"/>
            <a:chOff x="712470" y="3007995"/>
            <a:chExt cx="4614524" cy="792480"/>
          </a:xfrm>
        </p:grpSpPr>
        <p:sp>
          <p:nvSpPr>
            <p:cNvPr id="10" name="TextBox 10"/>
            <p:cNvSpPr txBox="1"/>
            <p:nvPr/>
          </p:nvSpPr>
          <p:spPr>
            <a:xfrm>
              <a:off x="712470" y="3007995"/>
              <a:ext cx="4614524" cy="792480"/>
            </a:xfrm>
            <a:prstGeom prst="rect">
              <a:avLst/>
            </a:prstGeom>
            <a:noFill/>
            <a:ln>
              <a:noFill/>
            </a:ln>
          </p:spPr>
          <p:txBody>
            <a:bodyPr wrap="none" lIns="0" tIns="0" rIns="0" bIns="0" anchor="t" anchorCtr="0">
              <a:spAutoFit/>
            </a:bodyPr>
            <a:lstStyle/>
            <a:p>
              <a:pPr algn="l"/>
              <a:r>
                <a:rPr lang="zh-CN" sz="3900" b="1" dirty="0">
                  <a:solidFill>
                    <a:srgbClr val="E8EAF0"/>
                  </a:solidFill>
                  <a:latin typeface="Arial"/>
                  <a:ea typeface="Microsoft YaHei"/>
                  <a:cs typeface="Arial"/>
                </a:rPr>
                <a:t>Risk &amp; Technical</a:t>
              </a:r>
            </a:p>
          </p:txBody>
        </p:sp>
      </p:grpSp>
      <p:grpSp>
        <p:nvGrpSpPr>
          <p:cNvPr id="13" name="Group 13"/>
          <p:cNvGrpSpPr/>
          <p:nvPr/>
        </p:nvGrpSpPr>
        <p:grpSpPr>
          <a:xfrm>
            <a:off x="762000" y="3657600"/>
            <a:ext cx="4572000" cy="19050"/>
            <a:chOff x="762000" y="3657600"/>
            <a:chExt cx="4572000" cy="19050"/>
          </a:xfrm>
        </p:grpSpPr>
        <p:sp>
          <p:nvSpPr>
            <p:cNvPr id="12" name="Rectangle 12"/>
            <p:cNvSpPr/>
            <p:nvPr/>
          </p:nvSpPr>
          <p:spPr>
            <a:xfrm>
              <a:off x="762000" y="3657600"/>
              <a:ext cx="4572000" cy="19050"/>
            </a:xfrm>
            <a:prstGeom prst="rect">
              <a:avLst/>
            </a:prstGeom>
            <a:solidFill>
              <a:srgbClr val="E05C5C"/>
            </a:solidFill>
            <a:ln>
              <a:noFill/>
            </a:ln>
          </p:spPr>
        </p:sp>
      </p:grpSp>
      <p:grpSp>
        <p:nvGrpSpPr>
          <p:cNvPr id="15" name="Group 15"/>
          <p:cNvGrpSpPr/>
          <p:nvPr/>
        </p:nvGrpSpPr>
        <p:grpSpPr>
          <a:xfrm>
            <a:off x="742950" y="3838575"/>
            <a:ext cx="2535555" cy="304800"/>
            <a:chOff x="742950" y="3838575"/>
            <a:chExt cx="2535555" cy="304800"/>
          </a:xfrm>
        </p:grpSpPr>
        <p:sp>
          <p:nvSpPr>
            <p:cNvPr id="14" name="TextBox 14"/>
            <p:cNvSpPr txBox="1"/>
            <p:nvPr/>
          </p:nvSpPr>
          <p:spPr>
            <a:xfrm>
              <a:off x="742950" y="3838575"/>
              <a:ext cx="2535555" cy="304800"/>
            </a:xfrm>
            <a:prstGeom prst="rect">
              <a:avLst/>
            </a:prstGeom>
            <a:noFill/>
            <a:ln>
              <a:noFill/>
            </a:ln>
          </p:spPr>
          <p:txBody>
            <a:bodyPr wrap="none" lIns="0" tIns="0" rIns="0" bIns="0" anchor="t" anchorCtr="0">
              <a:spAutoFit/>
            </a:bodyPr>
            <a:lstStyle/>
            <a:p>
              <a:pPr algn="l"/>
              <a:r>
                <a:rPr lang="zh-CN" sz="1500" dirty="0">
                  <a:solidFill>
                    <a:srgbClr val="8899BB"/>
                  </a:solidFill>
                  <a:latin typeface="Arial"/>
                  <a:ea typeface="Microsoft YaHei"/>
                  <a:cs typeface="Arial"/>
                </a:rPr>
                <a:t>Key Risks &amp; Chart Setup</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20"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edge">
                                      <p:cBhvr>
                                        <p:cTn id="11" dur="400"/>
                                        <p:tgtEl>
                                          <p:spTgt spid="9"/>
                                        </p:tgtEl>
                                      </p:cBhvr>
                                    </p:animEffect>
                                  </p:childTnLst>
                                </p:cTn>
                              </p:par>
                            </p:childTnLst>
                          </p:cTn>
                        </p:par>
                        <p:par>
                          <p:cTn id="12" fill="hold">
                            <p:stCondLst>
                              <p:cond delay="1800"/>
                            </p:stCondLst>
                            <p:childTnLst>
                              <p:par>
                                <p:cTn id="13" presetID="21"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heel(4)">
                                      <p:cBhvr>
                                        <p:cTn id="15" dur="400"/>
                                        <p:tgtEl>
                                          <p:spTgt spid="11"/>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400"/>
                                        <p:tgtEl>
                                          <p:spTgt spid="13"/>
                                        </p:tgtEl>
                                      </p:cBhvr>
                                    </p:animEffect>
                                  </p:childTnLst>
                                </p:cTn>
                              </p:par>
                            </p:childTnLst>
                          </p:cTn>
                        </p:par>
                        <p:par>
                          <p:cTn id="20" fill="hold">
                            <p:stCondLst>
                              <p:cond delay="3600"/>
                            </p:stCondLst>
                            <p:childTnLst>
                              <p:par>
                                <p:cTn id="21" presetID="50" presetClass="entr" presetSubtype="0"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stretch(across)">
                                      <p:cBhvr>
                                        <p:cTn id="23"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P spid="13" grpId="0"/>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12192000" cy="38100"/>
            </a:xfrm>
            <a:prstGeom prst="rect">
              <a:avLst/>
            </a:prstGeom>
            <a:solidFill>
              <a:srgbClr val="F5C842"/>
            </a:solidFill>
            <a:ln>
              <a:noFill/>
            </a:ln>
          </p:spPr>
        </p:sp>
      </p:grpSp>
      <p:grpSp>
        <p:nvGrpSpPr>
          <p:cNvPr id="8" name="Group 8"/>
          <p:cNvGrpSpPr/>
          <p:nvPr/>
        </p:nvGrpSpPr>
        <p:grpSpPr>
          <a:xfrm>
            <a:off x="0" y="38100"/>
            <a:ext cx="12192000" cy="609600"/>
            <a:chOff x="0" y="38100"/>
            <a:chExt cx="12192000" cy="609600"/>
          </a:xfrm>
        </p:grpSpPr>
        <p:sp>
          <p:nvSpPr>
            <p:cNvPr id="5" name="Rectangle 5"/>
            <p:cNvSpPr/>
            <p:nvPr/>
          </p:nvSpPr>
          <p:spPr>
            <a:xfrm>
              <a:off x="0" y="38100"/>
              <a:ext cx="12192000" cy="609600"/>
            </a:xfrm>
            <a:prstGeom prst="rect">
              <a:avLst/>
            </a:prstGeom>
            <a:solidFill>
              <a:srgbClr val="131B30"/>
            </a:solidFill>
            <a:ln>
              <a:noFill/>
            </a:ln>
          </p:spPr>
        </p:sp>
        <p:sp>
          <p:nvSpPr>
            <p:cNvPr id="6" name="Rectangle 6"/>
            <p:cNvSpPr/>
            <p:nvPr/>
          </p:nvSpPr>
          <p:spPr>
            <a:xfrm>
              <a:off x="571500" y="152400"/>
              <a:ext cx="38100" cy="381000"/>
            </a:xfrm>
            <a:prstGeom prst="rect">
              <a:avLst/>
            </a:prstGeom>
            <a:solidFill>
              <a:srgbClr val="E05C5C"/>
            </a:solidFill>
            <a:ln>
              <a:noFill/>
            </a:ln>
          </p:spPr>
        </p:sp>
        <p:sp>
          <p:nvSpPr>
            <p:cNvPr id="7" name="TextBox 7"/>
            <p:cNvSpPr txBox="1"/>
            <p:nvPr/>
          </p:nvSpPr>
          <p:spPr>
            <a:xfrm>
              <a:off x="737235" y="227648"/>
              <a:ext cx="1380246" cy="396240"/>
            </a:xfrm>
            <a:prstGeom prst="rect">
              <a:avLst/>
            </a:prstGeom>
            <a:noFill/>
            <a:ln>
              <a:noFill/>
            </a:ln>
          </p:spPr>
          <p:txBody>
            <a:bodyPr wrap="none" lIns="0" tIns="0" rIns="0" bIns="0" anchor="t" anchorCtr="0">
              <a:spAutoFit/>
            </a:bodyPr>
            <a:lstStyle/>
            <a:p>
              <a:pPr algn="l"/>
              <a:r>
                <a:rPr lang="zh-CN" sz="1950" b="1" dirty="0">
                  <a:solidFill>
                    <a:srgbClr val="E8EAF0"/>
                  </a:solidFill>
                  <a:latin typeface="Arial"/>
                  <a:ea typeface="Microsoft YaHei"/>
                  <a:cs typeface="Arial"/>
                </a:rPr>
                <a:t>Key Risks</a:t>
              </a:r>
            </a:p>
          </p:txBody>
        </p:sp>
      </p:grpSp>
      <p:sp>
        <p:nvSpPr>
          <p:cNvPr id="9" name="Rectangle 9"/>
          <p:cNvSpPr/>
          <p:nvPr/>
        </p:nvSpPr>
        <p:spPr>
          <a:xfrm>
            <a:off x="571500" y="800100"/>
            <a:ext cx="11049000" cy="762000"/>
          </a:xfrm>
          <a:prstGeom prst="roundRect">
            <a:avLst>
              <a:gd name="adj" fmla="val 5000"/>
            </a:avLst>
          </a:prstGeom>
          <a:solidFill>
            <a:srgbClr val="131B30"/>
          </a:solidFill>
          <a:ln>
            <a:noFill/>
          </a:ln>
        </p:spPr>
      </p:sp>
      <p:sp>
        <p:nvSpPr>
          <p:cNvPr id="10" name="Rectangle 10"/>
          <p:cNvSpPr/>
          <p:nvPr/>
        </p:nvSpPr>
        <p:spPr>
          <a:xfrm>
            <a:off x="571500" y="800100"/>
            <a:ext cx="57150" cy="762000"/>
          </a:xfrm>
          <a:prstGeom prst="rect">
            <a:avLst/>
          </a:prstGeom>
          <a:solidFill>
            <a:srgbClr val="E05C5C"/>
          </a:solidFill>
          <a:ln>
            <a:noFill/>
          </a:ln>
        </p:spPr>
      </p:sp>
      <p:sp>
        <p:nvSpPr>
          <p:cNvPr id="11" name="TextBox 11"/>
          <p:cNvSpPr txBox="1"/>
          <p:nvPr/>
        </p:nvSpPr>
        <p:spPr>
          <a:xfrm>
            <a:off x="785812" y="926306"/>
            <a:ext cx="2176468" cy="228600"/>
          </a:xfrm>
          <a:prstGeom prst="rect">
            <a:avLst/>
          </a:prstGeom>
          <a:noFill/>
          <a:ln>
            <a:noFill/>
          </a:ln>
        </p:spPr>
        <p:txBody>
          <a:bodyPr wrap="none" lIns="0" tIns="0" rIns="0" bIns="0" anchor="t" anchorCtr="0">
            <a:spAutoFit/>
          </a:bodyPr>
          <a:lstStyle/>
          <a:p>
            <a:pPr algn="l"/>
            <a:r>
              <a:rPr lang="zh-CN" sz="1125" b="1" dirty="0">
                <a:solidFill>
                  <a:srgbClr val="E05C5C"/>
                </a:solidFill>
                <a:latin typeface="Arial"/>
                <a:ea typeface="Microsoft YaHei"/>
                <a:cs typeface="Arial"/>
              </a:rPr>
              <a:t>Risk 1 — AI CapEx Slowdown</a:t>
            </a:r>
          </a:p>
        </p:txBody>
      </p:sp>
      <p:sp>
        <p:nvSpPr>
          <p:cNvPr id="12" name="TextBox 12"/>
          <p:cNvSpPr txBox="1"/>
          <p:nvPr/>
        </p:nvSpPr>
        <p:spPr>
          <a:xfrm>
            <a:off x="787718" y="1190149"/>
            <a:ext cx="8960287"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Hyperscaler CapEx guidance cuts or data center order delays trigger broad semiconductor selloff. Every top holding is exposed.</a:t>
            </a:r>
          </a:p>
        </p:txBody>
      </p:sp>
      <p:sp>
        <p:nvSpPr>
          <p:cNvPr id="13" name="TextBox 13"/>
          <p:cNvSpPr txBox="1"/>
          <p:nvPr/>
        </p:nvSpPr>
        <p:spPr>
          <a:xfrm>
            <a:off x="787718" y="1371124"/>
            <a:ext cx="6681907"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Probability: 25% · Impact: Critical · Tell: Watch Alphabet/MSFT/AMZN CapEx guidance quarterly.</a:t>
            </a:r>
          </a:p>
        </p:txBody>
      </p:sp>
      <p:sp>
        <p:nvSpPr>
          <p:cNvPr id="14" name="Rectangle 14"/>
          <p:cNvSpPr/>
          <p:nvPr/>
        </p:nvSpPr>
        <p:spPr>
          <a:xfrm>
            <a:off x="571500" y="1676400"/>
            <a:ext cx="11049000" cy="762000"/>
          </a:xfrm>
          <a:prstGeom prst="roundRect">
            <a:avLst>
              <a:gd name="adj" fmla="val 5000"/>
            </a:avLst>
          </a:prstGeom>
          <a:solidFill>
            <a:srgbClr val="131B30"/>
          </a:solidFill>
          <a:ln>
            <a:noFill/>
          </a:ln>
        </p:spPr>
      </p:sp>
      <p:sp>
        <p:nvSpPr>
          <p:cNvPr id="15" name="Rectangle 15"/>
          <p:cNvSpPr/>
          <p:nvPr/>
        </p:nvSpPr>
        <p:spPr>
          <a:xfrm>
            <a:off x="571500" y="1676400"/>
            <a:ext cx="57150" cy="762000"/>
          </a:xfrm>
          <a:prstGeom prst="rect">
            <a:avLst/>
          </a:prstGeom>
          <a:solidFill>
            <a:srgbClr val="E05C5C"/>
          </a:solidFill>
          <a:ln>
            <a:noFill/>
          </a:ln>
        </p:spPr>
      </p:sp>
      <p:sp>
        <p:nvSpPr>
          <p:cNvPr id="16" name="TextBox 16"/>
          <p:cNvSpPr txBox="1"/>
          <p:nvPr/>
        </p:nvSpPr>
        <p:spPr>
          <a:xfrm>
            <a:off x="785812" y="1802606"/>
            <a:ext cx="3634276" cy="228600"/>
          </a:xfrm>
          <a:prstGeom prst="rect">
            <a:avLst/>
          </a:prstGeom>
          <a:noFill/>
          <a:ln>
            <a:noFill/>
          </a:ln>
        </p:spPr>
        <p:txBody>
          <a:bodyPr wrap="none" lIns="0" tIns="0" rIns="0" bIns="0" anchor="t" anchorCtr="0">
            <a:spAutoFit/>
          </a:bodyPr>
          <a:lstStyle/>
          <a:p>
            <a:pPr algn="l"/>
            <a:r>
              <a:rPr lang="zh-CN" sz="1125" b="1" dirty="0">
                <a:solidFill>
                  <a:srgbClr val="E05C5C"/>
                </a:solidFill>
                <a:latin typeface="Arial"/>
                <a:ea typeface="Microsoft YaHei"/>
                <a:cs typeface="Arial"/>
              </a:rPr>
              <a:t>Risk 2 — China/US Export Control Escalation</a:t>
            </a:r>
          </a:p>
        </p:txBody>
      </p:sp>
      <p:sp>
        <p:nvSpPr>
          <p:cNvPr id="17" name="TextBox 17"/>
          <p:cNvSpPr txBox="1"/>
          <p:nvPr/>
        </p:nvSpPr>
        <p:spPr>
          <a:xfrm>
            <a:off x="787718" y="2066449"/>
            <a:ext cx="7942135"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New entity list additions target AMAT and KLAC China revenue, immediately compressing equipment maker margins.</a:t>
            </a:r>
          </a:p>
        </p:txBody>
      </p:sp>
      <p:sp>
        <p:nvSpPr>
          <p:cNvPr id="18" name="TextBox 18"/>
          <p:cNvSpPr txBox="1"/>
          <p:nvPr/>
        </p:nvSpPr>
        <p:spPr>
          <a:xfrm>
            <a:off x="787718" y="2247424"/>
            <a:ext cx="7052143"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Probability: 30% · Impact: High · Tell: Entity list announcements; AMAT/KLAC China revenue guidance.</a:t>
            </a:r>
          </a:p>
        </p:txBody>
      </p:sp>
      <p:sp>
        <p:nvSpPr>
          <p:cNvPr id="19" name="Rectangle 19"/>
          <p:cNvSpPr/>
          <p:nvPr/>
        </p:nvSpPr>
        <p:spPr>
          <a:xfrm>
            <a:off x="571500" y="2552700"/>
            <a:ext cx="11049000" cy="762000"/>
          </a:xfrm>
          <a:prstGeom prst="roundRect">
            <a:avLst>
              <a:gd name="adj" fmla="val 5000"/>
            </a:avLst>
          </a:prstGeom>
          <a:solidFill>
            <a:srgbClr val="131B30"/>
          </a:solidFill>
          <a:ln>
            <a:noFill/>
          </a:ln>
        </p:spPr>
      </p:sp>
      <p:sp>
        <p:nvSpPr>
          <p:cNvPr id="20" name="Rectangle 20"/>
          <p:cNvSpPr/>
          <p:nvPr/>
        </p:nvSpPr>
        <p:spPr>
          <a:xfrm>
            <a:off x="571500" y="2552700"/>
            <a:ext cx="57150" cy="762000"/>
          </a:xfrm>
          <a:prstGeom prst="rect">
            <a:avLst/>
          </a:prstGeom>
          <a:solidFill>
            <a:srgbClr val="F0A030"/>
          </a:solidFill>
          <a:ln>
            <a:noFill/>
          </a:ln>
        </p:spPr>
      </p:sp>
      <p:sp>
        <p:nvSpPr>
          <p:cNvPr id="21" name="TextBox 21"/>
          <p:cNvSpPr txBox="1"/>
          <p:nvPr/>
        </p:nvSpPr>
        <p:spPr>
          <a:xfrm>
            <a:off x="785812" y="2678906"/>
            <a:ext cx="4781544" cy="228600"/>
          </a:xfrm>
          <a:prstGeom prst="rect">
            <a:avLst/>
          </a:prstGeom>
          <a:noFill/>
          <a:ln>
            <a:noFill/>
          </a:ln>
        </p:spPr>
        <p:txBody>
          <a:bodyPr wrap="none" lIns="0" tIns="0" rIns="0" bIns="0" anchor="t" anchorCtr="0">
            <a:spAutoFit/>
          </a:bodyPr>
          <a:lstStyle/>
          <a:p>
            <a:pPr algn="l"/>
            <a:r>
              <a:rPr lang="zh-CN" sz="1125" b="1" dirty="0">
                <a:solidFill>
                  <a:srgbClr val="F0A030"/>
                </a:solidFill>
                <a:latin typeface="Arial"/>
                <a:ea typeface="Microsoft YaHei"/>
                <a:cs typeface="Arial"/>
              </a:rPr>
              <a:t>Risk 3 — Memory Cycle Reversal (Most Underappreciated)</a:t>
            </a:r>
          </a:p>
        </p:txBody>
      </p:sp>
      <p:sp>
        <p:nvSpPr>
          <p:cNvPr id="22" name="TextBox 22"/>
          <p:cNvSpPr txBox="1"/>
          <p:nvPr/>
        </p:nvSpPr>
        <p:spPr>
          <a:xfrm>
            <a:off x="787718" y="2942749"/>
            <a:ext cx="8725329"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HBM pricing tightly linked to AI server build rates. MU (7% weight) can swing -40% in one quarter if hyperscalers delay CapEx.</a:t>
            </a:r>
          </a:p>
        </p:txBody>
      </p:sp>
      <p:sp>
        <p:nvSpPr>
          <p:cNvPr id="23" name="TextBox 23"/>
          <p:cNvSpPr txBox="1"/>
          <p:nvPr/>
        </p:nvSpPr>
        <p:spPr>
          <a:xfrm>
            <a:off x="787718" y="3123724"/>
            <a:ext cx="6105192"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Probability: 20% · Impact: High · Tell: DRAM spot price; MU quarterly revenue guidance.</a:t>
            </a:r>
          </a:p>
        </p:txBody>
      </p:sp>
      <p:sp>
        <p:nvSpPr>
          <p:cNvPr id="24" name="Rectangle 24"/>
          <p:cNvSpPr/>
          <p:nvPr/>
        </p:nvSpPr>
        <p:spPr>
          <a:xfrm>
            <a:off x="571500" y="3429000"/>
            <a:ext cx="5429250" cy="685800"/>
          </a:xfrm>
          <a:prstGeom prst="roundRect">
            <a:avLst>
              <a:gd name="adj" fmla="val 5556"/>
            </a:avLst>
          </a:prstGeom>
          <a:solidFill>
            <a:srgbClr val="131B30"/>
          </a:solidFill>
          <a:ln>
            <a:noFill/>
          </a:ln>
        </p:spPr>
      </p:sp>
      <p:sp>
        <p:nvSpPr>
          <p:cNvPr id="25" name="Rectangle 25"/>
          <p:cNvSpPr/>
          <p:nvPr/>
        </p:nvSpPr>
        <p:spPr>
          <a:xfrm>
            <a:off x="571500" y="3429000"/>
            <a:ext cx="38100" cy="685800"/>
          </a:xfrm>
          <a:prstGeom prst="rect">
            <a:avLst/>
          </a:prstGeom>
          <a:solidFill>
            <a:srgbClr val="8899BB"/>
          </a:solidFill>
          <a:ln>
            <a:noFill/>
          </a:ln>
        </p:spPr>
      </p:sp>
      <p:sp>
        <p:nvSpPr>
          <p:cNvPr id="26" name="TextBox 26"/>
          <p:cNvSpPr txBox="1"/>
          <p:nvPr/>
        </p:nvSpPr>
        <p:spPr>
          <a:xfrm>
            <a:off x="749618" y="3552349"/>
            <a:ext cx="1848893" cy="198120"/>
          </a:xfrm>
          <a:prstGeom prst="rect">
            <a:avLst/>
          </a:prstGeom>
          <a:noFill/>
          <a:ln>
            <a:noFill/>
          </a:ln>
        </p:spPr>
        <p:txBody>
          <a:bodyPr wrap="none" lIns="0" tIns="0" rIns="0" bIns="0" anchor="t" anchorCtr="0">
            <a:spAutoFit/>
          </a:bodyPr>
          <a:lstStyle/>
          <a:p>
            <a:pPr algn="l"/>
            <a:r>
              <a:rPr lang="zh-CN" sz="975" b="1" dirty="0">
                <a:solidFill>
                  <a:srgbClr val="8899BB"/>
                </a:solidFill>
                <a:latin typeface="Arial"/>
                <a:ea typeface="Microsoft YaHei"/>
                <a:cs typeface="Arial"/>
              </a:rPr>
              <a:t>Taiwan Geopolitical Shock</a:t>
            </a:r>
          </a:p>
        </p:txBody>
      </p:sp>
      <p:sp>
        <p:nvSpPr>
          <p:cNvPr id="27" name="TextBox 27"/>
          <p:cNvSpPr txBox="1"/>
          <p:nvPr/>
        </p:nvSpPr>
        <p:spPr>
          <a:xfrm>
            <a:off x="749618" y="3761899"/>
            <a:ext cx="3833932"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Supply chain disruption risk; indirect via fabless model</a:t>
            </a:r>
          </a:p>
        </p:txBody>
      </p:sp>
      <p:sp>
        <p:nvSpPr>
          <p:cNvPr id="28" name="TextBox 28"/>
          <p:cNvSpPr txBox="1"/>
          <p:nvPr/>
        </p:nvSpPr>
        <p:spPr>
          <a:xfrm>
            <a:off x="749618" y="3933349"/>
            <a:ext cx="2367224"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Probability: 10% · Impact: Critical</a:t>
            </a:r>
          </a:p>
        </p:txBody>
      </p:sp>
      <p:sp>
        <p:nvSpPr>
          <p:cNvPr id="29" name="Rectangle 29"/>
          <p:cNvSpPr/>
          <p:nvPr/>
        </p:nvSpPr>
        <p:spPr>
          <a:xfrm>
            <a:off x="6191250" y="3429000"/>
            <a:ext cx="5429250" cy="685800"/>
          </a:xfrm>
          <a:prstGeom prst="roundRect">
            <a:avLst>
              <a:gd name="adj" fmla="val 5556"/>
            </a:avLst>
          </a:prstGeom>
          <a:solidFill>
            <a:srgbClr val="131B30"/>
          </a:solidFill>
          <a:ln>
            <a:noFill/>
          </a:ln>
        </p:spPr>
      </p:sp>
      <p:sp>
        <p:nvSpPr>
          <p:cNvPr id="30" name="Rectangle 30"/>
          <p:cNvSpPr/>
          <p:nvPr/>
        </p:nvSpPr>
        <p:spPr>
          <a:xfrm>
            <a:off x="6191250" y="3429000"/>
            <a:ext cx="38100" cy="685800"/>
          </a:xfrm>
          <a:prstGeom prst="rect">
            <a:avLst/>
          </a:prstGeom>
          <a:solidFill>
            <a:srgbClr val="8899BB"/>
          </a:solidFill>
          <a:ln>
            <a:noFill/>
          </a:ln>
        </p:spPr>
      </p:sp>
      <p:sp>
        <p:nvSpPr>
          <p:cNvPr id="31" name="TextBox 31"/>
          <p:cNvSpPr txBox="1"/>
          <p:nvPr/>
        </p:nvSpPr>
        <p:spPr>
          <a:xfrm>
            <a:off x="6369368" y="3552349"/>
            <a:ext cx="2364732" cy="198120"/>
          </a:xfrm>
          <a:prstGeom prst="rect">
            <a:avLst/>
          </a:prstGeom>
          <a:noFill/>
          <a:ln>
            <a:noFill/>
          </a:ln>
        </p:spPr>
        <p:txBody>
          <a:bodyPr wrap="none" lIns="0" tIns="0" rIns="0" bIns="0" anchor="t" anchorCtr="0">
            <a:spAutoFit/>
          </a:bodyPr>
          <a:lstStyle/>
          <a:p>
            <a:pPr algn="l"/>
            <a:r>
              <a:rPr lang="zh-CN" sz="975" b="1" dirty="0">
                <a:solidFill>
                  <a:srgbClr val="8899BB"/>
                </a:solidFill>
                <a:latin typeface="Arial"/>
                <a:ea typeface="Microsoft YaHei"/>
                <a:cs typeface="Arial"/>
              </a:rPr>
              <a:t>Top-Holding Blowup (NVDA/AVGO)</a:t>
            </a:r>
          </a:p>
        </p:txBody>
      </p:sp>
      <p:sp>
        <p:nvSpPr>
          <p:cNvPr id="32" name="TextBox 32"/>
          <p:cNvSpPr txBox="1"/>
          <p:nvPr/>
        </p:nvSpPr>
        <p:spPr>
          <a:xfrm>
            <a:off x="6369368" y="3761899"/>
            <a:ext cx="4068889"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Earnings guidance cut &gt;15% triggers next-day -10%+ selloff</a:t>
            </a:r>
          </a:p>
        </p:txBody>
      </p:sp>
      <p:sp>
        <p:nvSpPr>
          <p:cNvPr id="33" name="TextBox 33"/>
          <p:cNvSpPr txBox="1"/>
          <p:nvPr/>
        </p:nvSpPr>
        <p:spPr>
          <a:xfrm>
            <a:off x="6369368" y="3933349"/>
            <a:ext cx="2374344"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Probability: 20% · Impact: Medium</a:t>
            </a:r>
          </a:p>
        </p:txBody>
      </p:sp>
      <p:sp>
        <p:nvSpPr>
          <p:cNvPr id="34" name="Rectangle 34"/>
          <p:cNvSpPr/>
          <p:nvPr/>
        </p:nvSpPr>
        <p:spPr>
          <a:xfrm>
            <a:off x="571500" y="4229100"/>
            <a:ext cx="11049000" cy="609600"/>
          </a:xfrm>
          <a:prstGeom prst="roundRect">
            <a:avLst>
              <a:gd name="adj" fmla="val 6250"/>
            </a:avLst>
          </a:prstGeom>
          <a:solidFill>
            <a:srgbClr val="0A0E1A"/>
          </a:solidFill>
          <a:ln>
            <a:noFill/>
          </a:ln>
        </p:spPr>
      </p:sp>
      <p:sp>
        <p:nvSpPr>
          <p:cNvPr id="35" name="Rectangle 35"/>
          <p:cNvSpPr/>
          <p:nvPr/>
        </p:nvSpPr>
        <p:spPr>
          <a:xfrm>
            <a:off x="571500" y="4229100"/>
            <a:ext cx="38100" cy="609600"/>
          </a:xfrm>
          <a:prstGeom prst="rect">
            <a:avLst/>
          </a:prstGeom>
          <a:solidFill>
            <a:srgbClr val="4A90D9"/>
          </a:solidFill>
          <a:ln>
            <a:noFill/>
          </a:ln>
        </p:spPr>
      </p:sp>
      <p:sp>
        <p:nvSpPr>
          <p:cNvPr id="36" name="TextBox 36"/>
          <p:cNvSpPr txBox="1"/>
          <p:nvPr/>
        </p:nvSpPr>
        <p:spPr>
          <a:xfrm>
            <a:off x="749618" y="4333399"/>
            <a:ext cx="1377909"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Microsoft YaHei"/>
                <a:cs typeface="Arial"/>
              </a:rPr>
              <a:t>TECHNICAL CONTEXT</a:t>
            </a:r>
          </a:p>
        </p:txBody>
      </p:sp>
      <p:sp>
        <p:nvSpPr>
          <p:cNvPr id="37" name="TextBox 37"/>
          <p:cNvSpPr txBox="1"/>
          <p:nvPr/>
        </p:nvSpPr>
        <p:spPr>
          <a:xfrm>
            <a:off x="749618" y="4533424"/>
            <a:ext cx="8817888"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Stage 2 confirmed (8/8 trend template) · Price $461.44 is +25.5% above MA50 ($367.61) · No base — parabolic run from $182 low</a:t>
            </a:r>
          </a:p>
        </p:txBody>
      </p:sp>
      <p:sp>
        <p:nvSpPr>
          <p:cNvPr id="38" name="TextBox 38"/>
          <p:cNvSpPr txBox="1"/>
          <p:nvPr/>
        </p:nvSpPr>
        <p:spPr>
          <a:xfrm>
            <a:off x="749618" y="4695349"/>
            <a:ext cx="8732449"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SEPA Verdict: WATCH — All conditions pass but current extension makes new entry high-risk · DCA zone: $355–$380 (MA50 ±3%)</a:t>
            </a:r>
          </a:p>
        </p:txBody>
      </p:sp>
      <p:grpSp>
        <p:nvGrpSpPr>
          <p:cNvPr id="43" name="Group 43"/>
          <p:cNvGrpSpPr/>
          <p:nvPr/>
        </p:nvGrpSpPr>
        <p:grpSpPr>
          <a:xfrm>
            <a:off x="0" y="6324600"/>
            <a:ext cx="12192000" cy="533400"/>
            <a:chOff x="0" y="6324600"/>
            <a:chExt cx="12192000" cy="533400"/>
          </a:xfrm>
        </p:grpSpPr>
        <p:sp>
          <p:nvSpPr>
            <p:cNvPr id="39" name="Rectangle 39"/>
            <p:cNvSpPr/>
            <p:nvPr/>
          </p:nvSpPr>
          <p:spPr>
            <a:xfrm>
              <a:off x="0" y="6324600"/>
              <a:ext cx="12192000" cy="533400"/>
            </a:xfrm>
            <a:prstGeom prst="rect">
              <a:avLst/>
            </a:prstGeom>
            <a:solidFill>
              <a:srgbClr val="131B30"/>
            </a:solidFill>
            <a:ln>
              <a:noFill/>
            </a:ln>
          </p:spPr>
        </p:sp>
        <p:sp>
          <p:nvSpPr>
            <p:cNvPr id="40" name="Rectangle 40"/>
            <p:cNvSpPr/>
            <p:nvPr/>
          </p:nvSpPr>
          <p:spPr>
            <a:xfrm>
              <a:off x="0" y="6324600"/>
              <a:ext cx="12192000" cy="9525"/>
            </a:xfrm>
            <a:prstGeom prst="rect">
              <a:avLst/>
            </a:prstGeom>
            <a:solidFill>
              <a:srgbClr val="F5C842">
                <a:alpha val="35000"/>
              </a:srgbClr>
            </a:solidFill>
            <a:ln>
              <a:noFill/>
            </a:ln>
          </p:spPr>
        </p:sp>
        <p:sp>
          <p:nvSpPr>
            <p:cNvPr id="41" name="TextBox 41"/>
            <p:cNvSpPr txBox="1"/>
            <p:nvPr/>
          </p:nvSpPr>
          <p:spPr>
            <a:xfrm>
              <a:off x="749618" y="6533674"/>
              <a:ext cx="1099876"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Risk &amp; Technical</a:t>
              </a:r>
            </a:p>
          </p:txBody>
        </p:sp>
        <p:sp>
          <p:nvSpPr>
            <p:cNvPr id="42" name="TextBox 42"/>
            <p:cNvSpPr txBox="1"/>
            <p:nvPr/>
          </p:nvSpPr>
          <p:spPr>
            <a:xfrm>
              <a:off x="11339298" y="6533674"/>
              <a:ext cx="103084" cy="198120"/>
            </a:xfrm>
            <a:prstGeom prst="rect">
              <a:avLst/>
            </a:prstGeom>
            <a:noFill/>
            <a:ln>
              <a:noFill/>
            </a:ln>
          </p:spPr>
          <p:txBody>
            <a:bodyPr wrap="none" lIns="0" tIns="0" rIns="0" bIns="0" anchor="t" anchorCtr="0">
              <a:spAutoFit/>
            </a:bodyPr>
            <a:lstStyle/>
            <a:p>
              <a:pPr algn="r"/>
              <a:r>
                <a:rPr lang="zh-CN" sz="975" dirty="0">
                  <a:solidFill>
                    <a:srgbClr val="8899BB"/>
                  </a:solidFill>
                  <a:latin typeface="Arial"/>
                  <a:ea typeface="Microsoft YaHei"/>
                  <a:cs typeface="Arial"/>
                </a:rPr>
                <a:t>9</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fade">
                                      <p:cBhvr>
                                        <p:cTn id="11"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12192000" cy="38100"/>
            </a:xfrm>
            <a:prstGeom prst="rect">
              <a:avLst/>
            </a:prstGeom>
            <a:solidFill>
              <a:srgbClr val="F5C842"/>
            </a:solidFill>
            <a:ln>
              <a:noFill/>
            </a:ln>
          </p:spPr>
        </p:sp>
      </p:grpSp>
      <p:sp>
        <p:nvSpPr>
          <p:cNvPr id="5" name="TextBox 5"/>
          <p:cNvSpPr txBox="1"/>
          <p:nvPr/>
        </p:nvSpPr>
        <p:spPr>
          <a:xfrm>
            <a:off x="5032129" y="3067050"/>
            <a:ext cx="3270742" cy="4267200"/>
          </a:xfrm>
          <a:prstGeom prst="rect">
            <a:avLst/>
          </a:prstGeom>
          <a:noFill/>
          <a:ln>
            <a:noFill/>
          </a:ln>
        </p:spPr>
        <p:txBody>
          <a:bodyPr wrap="none" lIns="0" tIns="0" rIns="0" bIns="0" anchor="t" anchorCtr="0">
            <a:spAutoFit/>
          </a:bodyPr>
          <a:lstStyle/>
          <a:p>
            <a:pPr algn="ctr"/>
            <a:r>
              <a:rPr lang="zh-CN" sz="21000" b="1" dirty="0">
                <a:solidFill>
                  <a:srgbClr val="0F1628"/>
                </a:solidFill>
                <a:latin typeface="Arial"/>
                <a:ea typeface="Microsoft YaHei"/>
                <a:cs typeface="Arial"/>
              </a:rPr>
              <a:t>IV</a:t>
            </a:r>
          </a:p>
        </p:txBody>
      </p:sp>
      <p:grpSp>
        <p:nvGrpSpPr>
          <p:cNvPr id="7" name="Group 7"/>
          <p:cNvGrpSpPr/>
          <p:nvPr/>
        </p:nvGrpSpPr>
        <p:grpSpPr>
          <a:xfrm>
            <a:off x="0" y="38100"/>
            <a:ext cx="38100" cy="6781800"/>
            <a:chOff x="0" y="38100"/>
            <a:chExt cx="38100" cy="6781800"/>
          </a:xfrm>
        </p:grpSpPr>
        <p:sp>
          <p:nvSpPr>
            <p:cNvPr id="6" name="Rectangle 6"/>
            <p:cNvSpPr/>
            <p:nvPr/>
          </p:nvSpPr>
          <p:spPr>
            <a:xfrm>
              <a:off x="0" y="38100"/>
              <a:ext cx="38100" cy="6781800"/>
            </a:xfrm>
            <a:prstGeom prst="rect">
              <a:avLst/>
            </a:prstGeom>
            <a:solidFill>
              <a:srgbClr val="F5C842"/>
            </a:solidFill>
            <a:ln>
              <a:noFill/>
            </a:ln>
          </p:spPr>
        </p:sp>
      </p:grpSp>
      <p:grpSp>
        <p:nvGrpSpPr>
          <p:cNvPr id="9" name="Group 9"/>
          <p:cNvGrpSpPr/>
          <p:nvPr/>
        </p:nvGrpSpPr>
        <p:grpSpPr>
          <a:xfrm>
            <a:off x="749618" y="2656999"/>
            <a:ext cx="772358" cy="198120"/>
            <a:chOff x="749618" y="2656999"/>
            <a:chExt cx="772358" cy="198120"/>
          </a:xfrm>
        </p:grpSpPr>
        <p:sp>
          <p:nvSpPr>
            <p:cNvPr id="8" name="TextBox 8"/>
            <p:cNvSpPr txBox="1"/>
            <p:nvPr/>
          </p:nvSpPr>
          <p:spPr>
            <a:xfrm>
              <a:off x="749618" y="2656999"/>
              <a:ext cx="772358" cy="198120"/>
            </a:xfrm>
            <a:prstGeom prst="rect">
              <a:avLst/>
            </a:prstGeom>
            <a:noFill/>
            <a:ln>
              <a:noFill/>
            </a:ln>
          </p:spPr>
          <p:txBody>
            <a:bodyPr wrap="none" lIns="0" tIns="0" rIns="0" bIns="0" anchor="t" anchorCtr="0">
              <a:spAutoFit/>
            </a:bodyPr>
            <a:lstStyle/>
            <a:p>
              <a:pPr algn="l"/>
              <a:r>
                <a:rPr lang="zh-CN" sz="975" b="1" dirty="0">
                  <a:solidFill>
                    <a:srgbClr val="F5C842"/>
                  </a:solidFill>
                  <a:latin typeface="Arial"/>
                  <a:ea typeface="Microsoft YaHei"/>
                  <a:cs typeface="Arial"/>
                </a:rPr>
                <a:t>CHAPTER IV</a:t>
              </a:r>
            </a:p>
          </p:txBody>
        </p:sp>
      </p:grpSp>
      <p:grpSp>
        <p:nvGrpSpPr>
          <p:cNvPr id="11" name="Group 11"/>
          <p:cNvGrpSpPr/>
          <p:nvPr/>
        </p:nvGrpSpPr>
        <p:grpSpPr>
          <a:xfrm>
            <a:off x="712470" y="3007995"/>
            <a:ext cx="5242503" cy="792480"/>
            <a:chOff x="712470" y="3007995"/>
            <a:chExt cx="5242503" cy="792480"/>
          </a:xfrm>
        </p:grpSpPr>
        <p:sp>
          <p:nvSpPr>
            <p:cNvPr id="10" name="TextBox 10"/>
            <p:cNvSpPr txBox="1"/>
            <p:nvPr/>
          </p:nvSpPr>
          <p:spPr>
            <a:xfrm>
              <a:off x="712470" y="3007995"/>
              <a:ext cx="5242503" cy="792480"/>
            </a:xfrm>
            <a:prstGeom prst="rect">
              <a:avLst/>
            </a:prstGeom>
            <a:noFill/>
            <a:ln>
              <a:noFill/>
            </a:ln>
          </p:spPr>
          <p:txBody>
            <a:bodyPr wrap="none" lIns="0" tIns="0" rIns="0" bIns="0" anchor="t" anchorCtr="0">
              <a:spAutoFit/>
            </a:bodyPr>
            <a:lstStyle/>
            <a:p>
              <a:pPr algn="l"/>
              <a:r>
                <a:rPr lang="zh-CN" sz="3900" b="1" dirty="0">
                  <a:solidFill>
                    <a:srgbClr val="E8EAF0"/>
                  </a:solidFill>
                  <a:latin typeface="Arial"/>
                  <a:ea typeface="Microsoft YaHei"/>
                  <a:cs typeface="Arial"/>
                </a:rPr>
                <a:t>Scenarios &amp; Entry</a:t>
              </a:r>
            </a:p>
          </p:txBody>
        </p:sp>
      </p:grpSp>
      <p:grpSp>
        <p:nvGrpSpPr>
          <p:cNvPr id="13" name="Group 13"/>
          <p:cNvGrpSpPr/>
          <p:nvPr/>
        </p:nvGrpSpPr>
        <p:grpSpPr>
          <a:xfrm>
            <a:off x="762000" y="3657600"/>
            <a:ext cx="4572000" cy="19050"/>
            <a:chOff x="762000" y="3657600"/>
            <a:chExt cx="4572000" cy="19050"/>
          </a:xfrm>
        </p:grpSpPr>
        <p:sp>
          <p:nvSpPr>
            <p:cNvPr id="12" name="Rectangle 12"/>
            <p:cNvSpPr/>
            <p:nvPr/>
          </p:nvSpPr>
          <p:spPr>
            <a:xfrm>
              <a:off x="762000" y="3657600"/>
              <a:ext cx="4572000" cy="19050"/>
            </a:xfrm>
            <a:prstGeom prst="rect">
              <a:avLst/>
            </a:prstGeom>
            <a:solidFill>
              <a:srgbClr val="F5C842"/>
            </a:solidFill>
            <a:ln>
              <a:noFill/>
            </a:ln>
          </p:spPr>
        </p:sp>
      </p:grpSp>
      <p:grpSp>
        <p:nvGrpSpPr>
          <p:cNvPr id="15" name="Group 15"/>
          <p:cNvGrpSpPr/>
          <p:nvPr/>
        </p:nvGrpSpPr>
        <p:grpSpPr>
          <a:xfrm>
            <a:off x="742950" y="3838575"/>
            <a:ext cx="2656046" cy="304800"/>
            <a:chOff x="742950" y="3838575"/>
            <a:chExt cx="2656046" cy="304800"/>
          </a:xfrm>
        </p:grpSpPr>
        <p:sp>
          <p:nvSpPr>
            <p:cNvPr id="14" name="TextBox 14"/>
            <p:cNvSpPr txBox="1"/>
            <p:nvPr/>
          </p:nvSpPr>
          <p:spPr>
            <a:xfrm>
              <a:off x="742950" y="3838575"/>
              <a:ext cx="2656046" cy="304800"/>
            </a:xfrm>
            <a:prstGeom prst="rect">
              <a:avLst/>
            </a:prstGeom>
            <a:noFill/>
            <a:ln>
              <a:noFill/>
            </a:ln>
          </p:spPr>
          <p:txBody>
            <a:bodyPr wrap="none" lIns="0" tIns="0" rIns="0" bIns="0" anchor="t" anchorCtr="0">
              <a:spAutoFit/>
            </a:bodyPr>
            <a:lstStyle/>
            <a:p>
              <a:pPr algn="l"/>
              <a:r>
                <a:rPr lang="zh-CN" sz="1500" dirty="0">
                  <a:solidFill>
                    <a:srgbClr val="8899BB"/>
                  </a:solidFill>
                  <a:latin typeface="Arial"/>
                  <a:ea typeface="Microsoft YaHei"/>
                  <a:cs typeface="Arial"/>
                </a:rPr>
                <a:t>Valuation &amp; DCA Strategy</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19"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heel(1)">
                                      <p:cBhvr>
                                        <p:cTn id="11" dur="400"/>
                                        <p:tgtEl>
                                          <p:spTgt spid="9"/>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image">
                                      <p:cBhvr>
                                        <p:cTn id="15" dur="400"/>
                                        <p:tgtEl>
                                          <p:spTgt spid="11"/>
                                        </p:tgtEl>
                                      </p:cBhvr>
                                    </p:animEffect>
                                  </p:childTnLst>
                                </p:cTn>
                              </p:par>
                            </p:childTnLst>
                          </p:cTn>
                        </p:par>
                        <p:par>
                          <p:cTn id="16" fill="hold">
                            <p:stCondLst>
                              <p:cond delay="2700"/>
                            </p:stCondLst>
                            <p:childTnLst>
                              <p:par>
                                <p:cTn id="17" presetID="3" presetClass="entr" presetSubtype="10" fill="hold"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blinds(horizontal)">
                                      <p:cBhvr>
                                        <p:cTn id="19" dur="400"/>
                                        <p:tgtEl>
                                          <p:spTgt spid="13"/>
                                        </p:tgtEl>
                                      </p:cBhvr>
                                    </p:animEffect>
                                  </p:childTnLst>
                                </p:cTn>
                              </p:par>
                            </p:childTnLst>
                          </p:cTn>
                        </p:par>
                        <p:par>
                          <p:cTn id="20" fill="hold">
                            <p:stCondLst>
                              <p:cond delay="3600"/>
                            </p:stCondLst>
                            <p:childTnLst>
                              <p:par>
                                <p:cTn id="21" presetID="5" presetClass="entr" presetSubtype="6"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heckerboard(across)">
                                      <p:cBhvr>
                                        <p:cTn id="23"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P spid="13"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12192000" cy="38100"/>
            </a:xfrm>
            <a:prstGeom prst="rect">
              <a:avLst/>
            </a:prstGeom>
            <a:solidFill>
              <a:srgbClr val="F5C842"/>
            </a:solidFill>
            <a:ln>
              <a:noFill/>
            </a:ln>
          </p:spPr>
        </p:sp>
      </p:grpSp>
      <p:grpSp>
        <p:nvGrpSpPr>
          <p:cNvPr id="11" name="Group 11"/>
          <p:cNvGrpSpPr/>
          <p:nvPr/>
        </p:nvGrpSpPr>
        <p:grpSpPr>
          <a:xfrm>
            <a:off x="0" y="38100"/>
            <a:ext cx="12192000" cy="609600"/>
            <a:chOff x="0" y="38100"/>
            <a:chExt cx="12192000" cy="609600"/>
          </a:xfrm>
        </p:grpSpPr>
        <p:sp>
          <p:nvSpPr>
            <p:cNvPr id="5" name="Rectangle 5"/>
            <p:cNvSpPr/>
            <p:nvPr/>
          </p:nvSpPr>
          <p:spPr>
            <a:xfrm>
              <a:off x="0" y="38100"/>
              <a:ext cx="12192000" cy="609600"/>
            </a:xfrm>
            <a:prstGeom prst="rect">
              <a:avLst/>
            </a:prstGeom>
            <a:solidFill>
              <a:srgbClr val="131B30"/>
            </a:solidFill>
            <a:ln>
              <a:noFill/>
            </a:ln>
          </p:spPr>
        </p:sp>
        <p:sp>
          <p:nvSpPr>
            <p:cNvPr id="6" name="Rectangle 6"/>
            <p:cNvSpPr/>
            <p:nvPr/>
          </p:nvSpPr>
          <p:spPr>
            <a:xfrm>
              <a:off x="571500" y="152400"/>
              <a:ext cx="38100" cy="381000"/>
            </a:xfrm>
            <a:prstGeom prst="rect">
              <a:avLst/>
            </a:prstGeom>
            <a:solidFill>
              <a:srgbClr val="F5C842"/>
            </a:solidFill>
            <a:ln>
              <a:noFill/>
            </a:ln>
          </p:spPr>
        </p:sp>
        <p:sp>
          <p:nvSpPr>
            <p:cNvPr id="7" name="TextBox 7"/>
            <p:cNvSpPr txBox="1"/>
            <p:nvPr/>
          </p:nvSpPr>
          <p:spPr>
            <a:xfrm>
              <a:off x="737235" y="227648"/>
              <a:ext cx="2725915" cy="396240"/>
            </a:xfrm>
            <a:prstGeom prst="rect">
              <a:avLst/>
            </a:prstGeom>
            <a:noFill/>
            <a:ln>
              <a:noFill/>
            </a:ln>
          </p:spPr>
          <p:txBody>
            <a:bodyPr wrap="none" lIns="0" tIns="0" rIns="0" bIns="0" anchor="t" anchorCtr="0">
              <a:spAutoFit/>
            </a:bodyPr>
            <a:lstStyle/>
            <a:p>
              <a:pPr algn="l"/>
              <a:r>
                <a:rPr lang="zh-CN" sz="1950" b="1" dirty="0">
                  <a:solidFill>
                    <a:srgbClr val="E8EAF0"/>
                  </a:solidFill>
                  <a:latin typeface="Arial"/>
                  <a:ea typeface="Microsoft YaHei"/>
                  <a:cs typeface="Arial"/>
                </a:rPr>
                <a:t>ETF Valuation &amp; Fit</a:t>
              </a:r>
            </a:p>
          </p:txBody>
        </p:sp>
        <p:sp>
          <p:nvSpPr>
            <p:cNvPr id="8" name="Rectangle 8"/>
            <p:cNvSpPr/>
            <p:nvPr/>
          </p:nvSpPr>
          <p:spPr>
            <a:xfrm>
              <a:off x="9715500" y="190500"/>
              <a:ext cx="1905000" cy="304800"/>
            </a:xfrm>
            <a:prstGeom prst="roundRect">
              <a:avLst>
                <a:gd name="adj" fmla="val 50000"/>
              </a:avLst>
            </a:prstGeom>
            <a:solidFill>
              <a:srgbClr val="F0A030">
                <a:alpha val="20000"/>
              </a:srgbClr>
            </a:solidFill>
            <a:ln>
              <a:noFill/>
            </a:ln>
          </p:spPr>
        </p:sp>
        <p:sp>
          <p:nvSpPr>
            <p:cNvPr id="9" name="Rectangle 9"/>
            <p:cNvSpPr/>
            <p:nvPr/>
          </p:nvSpPr>
          <p:spPr>
            <a:xfrm>
              <a:off x="9715500" y="190500"/>
              <a:ext cx="1905000" cy="304800"/>
            </a:xfrm>
            <a:prstGeom prst="roundRect">
              <a:avLst>
                <a:gd name="adj" fmla="val 50000"/>
              </a:avLst>
            </a:prstGeom>
            <a:noFill/>
            <a:ln w="9525">
              <a:solidFill>
                <a:srgbClr val="F0A030"/>
              </a:solidFill>
            </a:ln>
          </p:spPr>
        </p:sp>
        <p:sp>
          <p:nvSpPr>
            <p:cNvPr id="10" name="TextBox 10"/>
            <p:cNvSpPr txBox="1"/>
            <p:nvPr/>
          </p:nvSpPr>
          <p:spPr>
            <a:xfrm>
              <a:off x="9904376" y="293370"/>
              <a:ext cx="1527248" cy="182880"/>
            </a:xfrm>
            <a:prstGeom prst="rect">
              <a:avLst/>
            </a:prstGeom>
            <a:noFill/>
            <a:ln>
              <a:noFill/>
            </a:ln>
          </p:spPr>
          <p:txBody>
            <a:bodyPr wrap="none" lIns="0" tIns="0" rIns="0" bIns="0" anchor="t" anchorCtr="0">
              <a:spAutoFit/>
            </a:bodyPr>
            <a:lstStyle/>
            <a:p>
              <a:pPr algn="ctr"/>
              <a:r>
                <a:rPr lang="zh-CN" sz="900" b="1" dirty="0">
                  <a:solidFill>
                    <a:srgbClr val="F0A030"/>
                  </a:solidFill>
                  <a:latin typeface="Arial"/>
                  <a:ea typeface="Microsoft YaHei"/>
                  <a:cs typeface="Arial"/>
                </a:rPr>
                <a:t>OVEREXTENDED — WATCH</a:t>
              </a:r>
            </a:p>
          </p:txBody>
        </p:sp>
      </p:grpSp>
      <p:grpSp>
        <p:nvGrpSpPr>
          <p:cNvPr id="14" name="Group 14"/>
          <p:cNvGrpSpPr/>
          <p:nvPr/>
        </p:nvGrpSpPr>
        <p:grpSpPr>
          <a:xfrm>
            <a:off x="571500" y="885349"/>
            <a:ext cx="11049000" cy="198120"/>
            <a:chOff x="571500" y="885349"/>
            <a:chExt cx="11049000" cy="198120"/>
          </a:xfrm>
        </p:grpSpPr>
        <p:sp>
          <p:nvSpPr>
            <p:cNvPr id="12" name="TextBox 12"/>
            <p:cNvSpPr txBox="1"/>
            <p:nvPr/>
          </p:nvSpPr>
          <p:spPr>
            <a:xfrm>
              <a:off x="749618" y="885349"/>
              <a:ext cx="1415289"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Microsoft YaHei"/>
                  <a:cs typeface="Arial"/>
                </a:rPr>
                <a:t>KEY METRICS — SOXX</a:t>
              </a:r>
            </a:p>
          </p:txBody>
        </p:sp>
        <p:sp>
          <p:nvSpPr>
            <p:cNvPr id="13" name="Rectangle 13"/>
            <p:cNvSpPr/>
            <p:nvPr/>
          </p:nvSpPr>
          <p:spPr>
            <a:xfrm>
              <a:off x="571500" y="1066800"/>
              <a:ext cx="11049000" cy="9525"/>
            </a:xfrm>
            <a:prstGeom prst="rect">
              <a:avLst/>
            </a:prstGeom>
            <a:solidFill>
              <a:srgbClr val="2A3A5C"/>
            </a:solidFill>
            <a:ln>
              <a:noFill/>
            </a:ln>
          </p:spPr>
        </p:sp>
      </p:grpSp>
      <p:grpSp>
        <p:nvGrpSpPr>
          <p:cNvPr id="20" name="Group 20"/>
          <p:cNvGrpSpPr/>
          <p:nvPr/>
        </p:nvGrpSpPr>
        <p:grpSpPr>
          <a:xfrm>
            <a:off x="571500" y="1104900"/>
            <a:ext cx="11049000" cy="266700"/>
            <a:chOff x="571500" y="1104900"/>
            <a:chExt cx="11049000" cy="266700"/>
          </a:xfrm>
        </p:grpSpPr>
        <p:sp>
          <p:nvSpPr>
            <p:cNvPr id="15" name="Rectangle 15"/>
            <p:cNvSpPr/>
            <p:nvPr/>
          </p:nvSpPr>
          <p:spPr>
            <a:xfrm>
              <a:off x="571500" y="1104900"/>
              <a:ext cx="11049000" cy="266700"/>
            </a:xfrm>
            <a:prstGeom prst="rect">
              <a:avLst/>
            </a:prstGeom>
            <a:solidFill>
              <a:srgbClr val="1A2540"/>
            </a:solidFill>
            <a:ln>
              <a:noFill/>
            </a:ln>
          </p:spPr>
        </p:sp>
        <p:sp>
          <p:nvSpPr>
            <p:cNvPr id="16" name="TextBox 16"/>
            <p:cNvSpPr txBox="1"/>
            <p:nvPr/>
          </p:nvSpPr>
          <p:spPr>
            <a:xfrm>
              <a:off x="750570" y="1188720"/>
              <a:ext cx="471416"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METRIC</a:t>
              </a:r>
            </a:p>
          </p:txBody>
        </p:sp>
        <p:sp>
          <p:nvSpPr>
            <p:cNvPr id="17" name="TextBox 17"/>
            <p:cNvSpPr txBox="1"/>
            <p:nvPr/>
          </p:nvSpPr>
          <p:spPr>
            <a:xfrm>
              <a:off x="3227070" y="1188720"/>
              <a:ext cx="402407"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VALUE</a:t>
              </a:r>
            </a:p>
          </p:txBody>
        </p:sp>
        <p:sp>
          <p:nvSpPr>
            <p:cNvPr id="18" name="TextBox 18"/>
            <p:cNvSpPr txBox="1"/>
            <p:nvPr/>
          </p:nvSpPr>
          <p:spPr>
            <a:xfrm>
              <a:off x="4941570" y="1188720"/>
              <a:ext cx="968278"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VS PEER (SMH)</a:t>
              </a:r>
            </a:p>
          </p:txBody>
        </p:sp>
        <p:sp>
          <p:nvSpPr>
            <p:cNvPr id="19" name="TextBox 19"/>
            <p:cNvSpPr txBox="1"/>
            <p:nvPr/>
          </p:nvSpPr>
          <p:spPr>
            <a:xfrm>
              <a:off x="7418070" y="1188720"/>
              <a:ext cx="326498"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READ</a:t>
              </a:r>
            </a:p>
          </p:txBody>
        </p:sp>
      </p:grpSp>
      <p:grpSp>
        <p:nvGrpSpPr>
          <p:cNvPr id="26" name="Group 26"/>
          <p:cNvGrpSpPr/>
          <p:nvPr/>
        </p:nvGrpSpPr>
        <p:grpSpPr>
          <a:xfrm>
            <a:off x="571500" y="1371600"/>
            <a:ext cx="11049000" cy="264319"/>
            <a:chOff x="571500" y="1371600"/>
            <a:chExt cx="11049000" cy="264319"/>
          </a:xfrm>
        </p:grpSpPr>
        <p:sp>
          <p:nvSpPr>
            <p:cNvPr id="21" name="Rectangle 21"/>
            <p:cNvSpPr/>
            <p:nvPr/>
          </p:nvSpPr>
          <p:spPr>
            <a:xfrm>
              <a:off x="571500" y="1371600"/>
              <a:ext cx="11049000" cy="247650"/>
            </a:xfrm>
            <a:prstGeom prst="rect">
              <a:avLst/>
            </a:prstGeom>
            <a:solidFill>
              <a:srgbClr val="131B30"/>
            </a:solidFill>
            <a:ln>
              <a:noFill/>
            </a:ln>
          </p:spPr>
        </p:sp>
        <p:sp>
          <p:nvSpPr>
            <p:cNvPr id="22" name="TextBox 22"/>
            <p:cNvSpPr txBox="1"/>
            <p:nvPr/>
          </p:nvSpPr>
          <p:spPr>
            <a:xfrm>
              <a:off x="749618" y="1437799"/>
              <a:ext cx="971717"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Expense Ratio</a:t>
              </a:r>
            </a:p>
          </p:txBody>
        </p:sp>
        <p:sp>
          <p:nvSpPr>
            <p:cNvPr id="23" name="TextBox 23"/>
            <p:cNvSpPr txBox="1"/>
            <p:nvPr/>
          </p:nvSpPr>
          <p:spPr>
            <a:xfrm>
              <a:off x="3226118" y="1437799"/>
              <a:ext cx="435941" cy="198120"/>
            </a:xfrm>
            <a:prstGeom prst="rect">
              <a:avLst/>
            </a:prstGeom>
            <a:noFill/>
            <a:ln>
              <a:noFill/>
            </a:ln>
          </p:spPr>
          <p:txBody>
            <a:bodyPr wrap="none" lIns="0" tIns="0" rIns="0" bIns="0" anchor="t" anchorCtr="0">
              <a:spAutoFit/>
            </a:bodyPr>
            <a:lstStyle/>
            <a:p>
              <a:pPr algn="l"/>
              <a:r>
                <a:rPr lang="zh-CN" sz="975" b="1" dirty="0">
                  <a:solidFill>
                    <a:srgbClr val="4CAF82"/>
                  </a:solidFill>
                  <a:latin typeface="Arial"/>
                  <a:ea typeface="Microsoft YaHei"/>
                  <a:cs typeface="Arial"/>
                </a:rPr>
                <a:t>0.35%</a:t>
              </a:r>
            </a:p>
          </p:txBody>
        </p:sp>
        <p:sp>
          <p:nvSpPr>
            <p:cNvPr id="24" name="TextBox 24"/>
            <p:cNvSpPr txBox="1"/>
            <p:nvPr/>
          </p:nvSpPr>
          <p:spPr>
            <a:xfrm>
              <a:off x="4940618" y="1437799"/>
              <a:ext cx="1000196"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 SMH (0.35%)</a:t>
              </a:r>
            </a:p>
          </p:txBody>
        </p:sp>
        <p:sp>
          <p:nvSpPr>
            <p:cNvPr id="25" name="TextBox 25"/>
            <p:cNvSpPr txBox="1"/>
            <p:nvPr/>
          </p:nvSpPr>
          <p:spPr>
            <a:xfrm>
              <a:off x="7417118" y="1437799"/>
              <a:ext cx="2004108" cy="198120"/>
            </a:xfrm>
            <a:prstGeom prst="rect">
              <a:avLst/>
            </a:prstGeom>
            <a:noFill/>
            <a:ln>
              <a:noFill/>
            </a:ln>
          </p:spPr>
          <p:txBody>
            <a:bodyPr wrap="none" lIns="0" tIns="0" rIns="0" bIns="0" anchor="t" anchorCtr="0">
              <a:spAutoFit/>
            </a:bodyPr>
            <a:lstStyle/>
            <a:p>
              <a:pPr algn="l"/>
              <a:r>
                <a:rPr lang="zh-CN" sz="975" dirty="0">
                  <a:solidFill>
                    <a:srgbClr val="4CAF82"/>
                  </a:solidFill>
                  <a:latin typeface="Arial"/>
                  <a:ea typeface="Microsoft YaHei"/>
                  <a:cs typeface="Arial"/>
                </a:rPr>
                <a:t>Competitive — negligible drag</a:t>
              </a:r>
            </a:p>
          </p:txBody>
        </p:sp>
      </p:grpSp>
      <p:grpSp>
        <p:nvGrpSpPr>
          <p:cNvPr id="32" name="Group 32"/>
          <p:cNvGrpSpPr/>
          <p:nvPr/>
        </p:nvGrpSpPr>
        <p:grpSpPr>
          <a:xfrm>
            <a:off x="571500" y="1619250"/>
            <a:ext cx="11049000" cy="264319"/>
            <a:chOff x="571500" y="1619250"/>
            <a:chExt cx="11049000" cy="264319"/>
          </a:xfrm>
        </p:grpSpPr>
        <p:sp>
          <p:nvSpPr>
            <p:cNvPr id="27" name="Rectangle 27"/>
            <p:cNvSpPr/>
            <p:nvPr/>
          </p:nvSpPr>
          <p:spPr>
            <a:xfrm>
              <a:off x="571500" y="1619250"/>
              <a:ext cx="11049000" cy="247650"/>
            </a:xfrm>
            <a:prstGeom prst="rect">
              <a:avLst/>
            </a:prstGeom>
            <a:solidFill>
              <a:srgbClr val="0A0E1A"/>
            </a:solidFill>
            <a:ln>
              <a:noFill/>
            </a:ln>
          </p:spPr>
        </p:sp>
        <p:sp>
          <p:nvSpPr>
            <p:cNvPr id="28" name="TextBox 28"/>
            <p:cNvSpPr txBox="1"/>
            <p:nvPr/>
          </p:nvSpPr>
          <p:spPr>
            <a:xfrm>
              <a:off x="749618" y="1685449"/>
              <a:ext cx="288203"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AUM</a:t>
              </a:r>
            </a:p>
          </p:txBody>
        </p:sp>
        <p:sp>
          <p:nvSpPr>
            <p:cNvPr id="29" name="TextBox 29"/>
            <p:cNvSpPr txBox="1"/>
            <p:nvPr/>
          </p:nvSpPr>
          <p:spPr>
            <a:xfrm>
              <a:off x="3226118" y="1685449"/>
              <a:ext cx="573000"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$20.59B</a:t>
              </a:r>
            </a:p>
          </p:txBody>
        </p:sp>
        <p:sp>
          <p:nvSpPr>
            <p:cNvPr id="30" name="TextBox 30"/>
            <p:cNvSpPr txBox="1"/>
            <p:nvPr/>
          </p:nvSpPr>
          <p:spPr>
            <a:xfrm>
              <a:off x="4940618" y="1685449"/>
              <a:ext cx="921877"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vs SMH ∼$22B</a:t>
              </a:r>
            </a:p>
          </p:txBody>
        </p:sp>
        <p:sp>
          <p:nvSpPr>
            <p:cNvPr id="31" name="TextBox 31"/>
            <p:cNvSpPr txBox="1"/>
            <p:nvPr/>
          </p:nvSpPr>
          <p:spPr>
            <a:xfrm>
              <a:off x="7417118" y="1685449"/>
              <a:ext cx="1883069" cy="198120"/>
            </a:xfrm>
            <a:prstGeom prst="rect">
              <a:avLst/>
            </a:prstGeom>
            <a:noFill/>
            <a:ln>
              <a:noFill/>
            </a:ln>
          </p:spPr>
          <p:txBody>
            <a:bodyPr wrap="none" lIns="0" tIns="0" rIns="0" bIns="0" anchor="t" anchorCtr="0">
              <a:spAutoFit/>
            </a:bodyPr>
            <a:lstStyle/>
            <a:p>
              <a:pPr algn="l"/>
              <a:r>
                <a:rPr lang="zh-CN" sz="975" dirty="0">
                  <a:solidFill>
                    <a:srgbClr val="4CAF82"/>
                  </a:solidFill>
                  <a:latin typeface="Arial"/>
                  <a:ea typeface="Microsoft YaHei"/>
                  <a:cs typeface="Arial"/>
                </a:rPr>
                <a:t>Large, institutional-grade</a:t>
              </a:r>
            </a:p>
          </p:txBody>
        </p:sp>
      </p:grpSp>
      <p:grpSp>
        <p:nvGrpSpPr>
          <p:cNvPr id="38" name="Group 38"/>
          <p:cNvGrpSpPr/>
          <p:nvPr/>
        </p:nvGrpSpPr>
        <p:grpSpPr>
          <a:xfrm>
            <a:off x="571500" y="1866900"/>
            <a:ext cx="11049000" cy="264319"/>
            <a:chOff x="571500" y="1866900"/>
            <a:chExt cx="11049000" cy="264319"/>
          </a:xfrm>
        </p:grpSpPr>
        <p:sp>
          <p:nvSpPr>
            <p:cNvPr id="33" name="Rectangle 33"/>
            <p:cNvSpPr/>
            <p:nvPr/>
          </p:nvSpPr>
          <p:spPr>
            <a:xfrm>
              <a:off x="571500" y="1866900"/>
              <a:ext cx="11049000" cy="247650"/>
            </a:xfrm>
            <a:prstGeom prst="rect">
              <a:avLst/>
            </a:prstGeom>
            <a:solidFill>
              <a:srgbClr val="131B30"/>
            </a:solidFill>
            <a:ln>
              <a:noFill/>
            </a:ln>
          </p:spPr>
        </p:sp>
        <p:sp>
          <p:nvSpPr>
            <p:cNvPr id="34" name="TextBox 34"/>
            <p:cNvSpPr txBox="1"/>
            <p:nvPr/>
          </p:nvSpPr>
          <p:spPr>
            <a:xfrm>
              <a:off x="749618" y="1933099"/>
              <a:ext cx="701159"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 Holdings</a:t>
              </a:r>
            </a:p>
          </p:txBody>
        </p:sp>
        <p:sp>
          <p:nvSpPr>
            <p:cNvPr id="35" name="TextBox 35"/>
            <p:cNvSpPr txBox="1"/>
            <p:nvPr/>
          </p:nvSpPr>
          <p:spPr>
            <a:xfrm>
              <a:off x="3226118" y="1933099"/>
              <a:ext cx="259723"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∼30</a:t>
              </a:r>
            </a:p>
          </p:txBody>
        </p:sp>
        <p:sp>
          <p:nvSpPr>
            <p:cNvPr id="36" name="TextBox 36"/>
            <p:cNvSpPr txBox="1"/>
            <p:nvPr/>
          </p:nvSpPr>
          <p:spPr>
            <a:xfrm>
              <a:off x="4940618" y="1933099"/>
              <a:ext cx="765238"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vs SMH ∼25</a:t>
              </a:r>
            </a:p>
          </p:txBody>
        </p:sp>
        <p:sp>
          <p:nvSpPr>
            <p:cNvPr id="37" name="TextBox 37"/>
            <p:cNvSpPr txBox="1"/>
            <p:nvPr/>
          </p:nvSpPr>
          <p:spPr>
            <a:xfrm>
              <a:off x="7417118" y="1933099"/>
              <a:ext cx="1569791" cy="198120"/>
            </a:xfrm>
            <a:prstGeom prst="rect">
              <a:avLst/>
            </a:prstGeom>
            <a:noFill/>
            <a:ln>
              <a:noFill/>
            </a:ln>
          </p:spPr>
          <p:txBody>
            <a:bodyPr wrap="none" lIns="0" tIns="0" rIns="0" bIns="0" anchor="t" anchorCtr="0">
              <a:spAutoFit/>
            </a:bodyPr>
            <a:lstStyle/>
            <a:p>
              <a:pPr algn="l"/>
              <a:r>
                <a:rPr lang="zh-CN" sz="975" dirty="0">
                  <a:solidFill>
                    <a:srgbClr val="4CAF82"/>
                  </a:solidFill>
                  <a:latin typeface="Arial"/>
                  <a:ea typeface="Microsoft YaHei"/>
                  <a:cs typeface="Arial"/>
                </a:rPr>
                <a:t>Better diversification</a:t>
              </a:r>
            </a:p>
          </p:txBody>
        </p:sp>
      </p:grpSp>
      <p:grpSp>
        <p:nvGrpSpPr>
          <p:cNvPr id="44" name="Group 44"/>
          <p:cNvGrpSpPr/>
          <p:nvPr/>
        </p:nvGrpSpPr>
        <p:grpSpPr>
          <a:xfrm>
            <a:off x="571500" y="2114550"/>
            <a:ext cx="11049000" cy="264319"/>
            <a:chOff x="571500" y="2114550"/>
            <a:chExt cx="11049000" cy="264319"/>
          </a:xfrm>
        </p:grpSpPr>
        <p:sp>
          <p:nvSpPr>
            <p:cNvPr id="39" name="Rectangle 39"/>
            <p:cNvSpPr/>
            <p:nvPr/>
          </p:nvSpPr>
          <p:spPr>
            <a:xfrm>
              <a:off x="571500" y="2114550"/>
              <a:ext cx="11049000" cy="247650"/>
            </a:xfrm>
            <a:prstGeom prst="rect">
              <a:avLst/>
            </a:prstGeom>
            <a:solidFill>
              <a:srgbClr val="0A0E1A"/>
            </a:solidFill>
            <a:ln>
              <a:noFill/>
            </a:ln>
          </p:spPr>
        </p:sp>
        <p:sp>
          <p:nvSpPr>
            <p:cNvPr id="40" name="TextBox 40"/>
            <p:cNvSpPr txBox="1"/>
            <p:nvPr/>
          </p:nvSpPr>
          <p:spPr>
            <a:xfrm>
              <a:off x="749618" y="2180749"/>
              <a:ext cx="921877"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Theme Purity</a:t>
              </a:r>
            </a:p>
          </p:txBody>
        </p:sp>
        <p:sp>
          <p:nvSpPr>
            <p:cNvPr id="41" name="TextBox 41"/>
            <p:cNvSpPr txBox="1"/>
            <p:nvPr/>
          </p:nvSpPr>
          <p:spPr>
            <a:xfrm>
              <a:off x="3226118" y="2180749"/>
              <a:ext cx="380762" cy="198120"/>
            </a:xfrm>
            <a:prstGeom prst="rect">
              <a:avLst/>
            </a:prstGeom>
            <a:noFill/>
            <a:ln>
              <a:noFill/>
            </a:ln>
          </p:spPr>
          <p:txBody>
            <a:bodyPr wrap="none" lIns="0" tIns="0" rIns="0" bIns="0" anchor="t" anchorCtr="0">
              <a:spAutoFit/>
            </a:bodyPr>
            <a:lstStyle/>
            <a:p>
              <a:pPr algn="l"/>
              <a:r>
                <a:rPr lang="zh-CN" sz="975" dirty="0">
                  <a:solidFill>
                    <a:srgbClr val="4CAF82"/>
                  </a:solidFill>
                  <a:latin typeface="Arial"/>
                  <a:ea typeface="Microsoft YaHei"/>
                  <a:cs typeface="Arial"/>
                </a:rPr>
                <a:t>∼100%</a:t>
              </a:r>
            </a:p>
          </p:txBody>
        </p:sp>
        <p:sp>
          <p:nvSpPr>
            <p:cNvPr id="42" name="TextBox 42"/>
            <p:cNvSpPr txBox="1"/>
            <p:nvPr/>
          </p:nvSpPr>
          <p:spPr>
            <a:xfrm>
              <a:off x="4940618" y="2180749"/>
              <a:ext cx="886277"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vs SMH ∼100%</a:t>
              </a:r>
            </a:p>
          </p:txBody>
        </p:sp>
        <p:sp>
          <p:nvSpPr>
            <p:cNvPr id="43" name="TextBox 43"/>
            <p:cNvSpPr txBox="1"/>
            <p:nvPr/>
          </p:nvSpPr>
          <p:spPr>
            <a:xfrm>
              <a:off x="7417118" y="2180749"/>
              <a:ext cx="2274665" cy="198120"/>
            </a:xfrm>
            <a:prstGeom prst="rect">
              <a:avLst/>
            </a:prstGeom>
            <a:noFill/>
            <a:ln>
              <a:noFill/>
            </a:ln>
          </p:spPr>
          <p:txBody>
            <a:bodyPr wrap="none" lIns="0" tIns="0" rIns="0" bIns="0" anchor="t" anchorCtr="0">
              <a:spAutoFit/>
            </a:bodyPr>
            <a:lstStyle/>
            <a:p>
              <a:pPr algn="l"/>
              <a:r>
                <a:rPr lang="zh-CN" sz="975" dirty="0">
                  <a:solidFill>
                    <a:srgbClr val="4CAF82"/>
                  </a:solidFill>
                  <a:latin typeface="Arial"/>
                  <a:ea typeface="Microsoft YaHei"/>
                  <a:cs typeface="Arial"/>
                </a:rPr>
                <a:t>Pure semiconductor — no dilution</a:t>
              </a:r>
            </a:p>
          </p:txBody>
        </p:sp>
      </p:grpSp>
      <p:grpSp>
        <p:nvGrpSpPr>
          <p:cNvPr id="50" name="Group 50"/>
          <p:cNvGrpSpPr/>
          <p:nvPr/>
        </p:nvGrpSpPr>
        <p:grpSpPr>
          <a:xfrm>
            <a:off x="571500" y="2362200"/>
            <a:ext cx="11049000" cy="264319"/>
            <a:chOff x="571500" y="2362200"/>
            <a:chExt cx="11049000" cy="264319"/>
          </a:xfrm>
        </p:grpSpPr>
        <p:sp>
          <p:nvSpPr>
            <p:cNvPr id="45" name="Rectangle 45"/>
            <p:cNvSpPr/>
            <p:nvPr/>
          </p:nvSpPr>
          <p:spPr>
            <a:xfrm>
              <a:off x="571500" y="2362200"/>
              <a:ext cx="11049000" cy="247650"/>
            </a:xfrm>
            <a:prstGeom prst="rect">
              <a:avLst/>
            </a:prstGeom>
            <a:solidFill>
              <a:srgbClr val="131B30"/>
            </a:solidFill>
            <a:ln>
              <a:noFill/>
            </a:ln>
          </p:spPr>
        </p:sp>
        <p:sp>
          <p:nvSpPr>
            <p:cNvPr id="46" name="TextBox 46"/>
            <p:cNvSpPr txBox="1"/>
            <p:nvPr/>
          </p:nvSpPr>
          <p:spPr>
            <a:xfrm>
              <a:off x="749618" y="2428399"/>
              <a:ext cx="843558"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NVDA Weight</a:t>
              </a:r>
            </a:p>
          </p:txBody>
        </p:sp>
        <p:sp>
          <p:nvSpPr>
            <p:cNvPr id="47" name="TextBox 47"/>
            <p:cNvSpPr txBox="1"/>
            <p:nvPr/>
          </p:nvSpPr>
          <p:spPr>
            <a:xfrm>
              <a:off x="3226118" y="2428399"/>
              <a:ext cx="1007316" cy="198120"/>
            </a:xfrm>
            <a:prstGeom prst="rect">
              <a:avLst/>
            </a:prstGeom>
            <a:noFill/>
            <a:ln>
              <a:noFill/>
            </a:ln>
          </p:spPr>
          <p:txBody>
            <a:bodyPr wrap="none" lIns="0" tIns="0" rIns="0" bIns="0" anchor="t" anchorCtr="0">
              <a:spAutoFit/>
            </a:bodyPr>
            <a:lstStyle/>
            <a:p>
              <a:pPr algn="l"/>
              <a:r>
                <a:rPr lang="zh-CN" sz="975" dirty="0">
                  <a:solidFill>
                    <a:srgbClr val="4CAF82"/>
                  </a:solidFill>
                  <a:latin typeface="Arial"/>
                  <a:ea typeface="Microsoft YaHei"/>
                  <a:cs typeface="Arial"/>
                </a:rPr>
                <a:t>8.4% (capped)</a:t>
              </a:r>
            </a:p>
          </p:txBody>
        </p:sp>
        <p:sp>
          <p:nvSpPr>
            <p:cNvPr id="48" name="TextBox 48"/>
            <p:cNvSpPr txBox="1"/>
            <p:nvPr/>
          </p:nvSpPr>
          <p:spPr>
            <a:xfrm>
              <a:off x="4940618" y="2428399"/>
              <a:ext cx="1669471" cy="198120"/>
            </a:xfrm>
            <a:prstGeom prst="rect">
              <a:avLst/>
            </a:prstGeom>
            <a:noFill/>
            <a:ln>
              <a:noFill/>
            </a:ln>
          </p:spPr>
          <p:txBody>
            <a:bodyPr wrap="none" lIns="0" tIns="0" rIns="0" bIns="0" anchor="t" anchorCtr="0">
              <a:spAutoFit/>
            </a:bodyPr>
            <a:lstStyle/>
            <a:p>
              <a:pPr algn="l"/>
              <a:r>
                <a:rPr lang="zh-CN" sz="975" dirty="0">
                  <a:solidFill>
                    <a:srgbClr val="E05C5C"/>
                  </a:solidFill>
                  <a:latin typeface="Arial"/>
                  <a:ea typeface="Microsoft YaHei"/>
                  <a:cs typeface="Arial"/>
                </a:rPr>
                <a:t>vs SMH ∼20% (uncapped)</a:t>
              </a:r>
            </a:p>
          </p:txBody>
        </p:sp>
        <p:sp>
          <p:nvSpPr>
            <p:cNvPr id="49" name="TextBox 49"/>
            <p:cNvSpPr txBox="1"/>
            <p:nvPr/>
          </p:nvSpPr>
          <p:spPr>
            <a:xfrm>
              <a:off x="7417118" y="2428399"/>
              <a:ext cx="1797629" cy="198120"/>
            </a:xfrm>
            <a:prstGeom prst="rect">
              <a:avLst/>
            </a:prstGeom>
            <a:noFill/>
            <a:ln>
              <a:noFill/>
            </a:ln>
          </p:spPr>
          <p:txBody>
            <a:bodyPr wrap="none" lIns="0" tIns="0" rIns="0" bIns="0" anchor="t" anchorCtr="0">
              <a:spAutoFit/>
            </a:bodyPr>
            <a:lstStyle/>
            <a:p>
              <a:pPr algn="l"/>
              <a:r>
                <a:rPr lang="zh-CN" sz="975" dirty="0">
                  <a:solidFill>
                    <a:srgbClr val="4CAF82"/>
                  </a:solidFill>
                  <a:latin typeface="Arial"/>
                  <a:ea typeface="Microsoft YaHei"/>
                  <a:cs typeface="Arial"/>
                </a:rPr>
                <a:t>Key structural advantage</a:t>
              </a:r>
            </a:p>
          </p:txBody>
        </p:sp>
      </p:grpSp>
      <p:grpSp>
        <p:nvGrpSpPr>
          <p:cNvPr id="56" name="Group 56"/>
          <p:cNvGrpSpPr/>
          <p:nvPr/>
        </p:nvGrpSpPr>
        <p:grpSpPr>
          <a:xfrm>
            <a:off x="571500" y="2609850"/>
            <a:ext cx="11049000" cy="264319"/>
            <a:chOff x="571500" y="2609850"/>
            <a:chExt cx="11049000" cy="264319"/>
          </a:xfrm>
        </p:grpSpPr>
        <p:sp>
          <p:nvSpPr>
            <p:cNvPr id="51" name="Rectangle 51"/>
            <p:cNvSpPr/>
            <p:nvPr/>
          </p:nvSpPr>
          <p:spPr>
            <a:xfrm>
              <a:off x="571500" y="2609850"/>
              <a:ext cx="11049000" cy="247650"/>
            </a:xfrm>
            <a:prstGeom prst="rect">
              <a:avLst/>
            </a:prstGeom>
            <a:solidFill>
              <a:srgbClr val="0A0E1A"/>
            </a:solidFill>
            <a:ln>
              <a:noFill/>
            </a:ln>
          </p:spPr>
        </p:sp>
        <p:sp>
          <p:nvSpPr>
            <p:cNvPr id="52" name="TextBox 52"/>
            <p:cNvSpPr txBox="1"/>
            <p:nvPr/>
          </p:nvSpPr>
          <p:spPr>
            <a:xfrm>
              <a:off x="749618" y="2676049"/>
              <a:ext cx="964597"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Price vs MA50</a:t>
              </a:r>
            </a:p>
          </p:txBody>
        </p:sp>
        <p:sp>
          <p:nvSpPr>
            <p:cNvPr id="53" name="TextBox 53"/>
            <p:cNvSpPr txBox="1"/>
            <p:nvPr/>
          </p:nvSpPr>
          <p:spPr>
            <a:xfrm>
              <a:off x="3226118" y="2676049"/>
              <a:ext cx="928997" cy="198120"/>
            </a:xfrm>
            <a:prstGeom prst="rect">
              <a:avLst/>
            </a:prstGeom>
            <a:noFill/>
            <a:ln>
              <a:noFill/>
            </a:ln>
          </p:spPr>
          <p:txBody>
            <a:bodyPr wrap="none" lIns="0" tIns="0" rIns="0" bIns="0" anchor="t" anchorCtr="0">
              <a:spAutoFit/>
            </a:bodyPr>
            <a:lstStyle/>
            <a:p>
              <a:pPr algn="l"/>
              <a:r>
                <a:rPr lang="zh-CN" sz="975" dirty="0">
                  <a:solidFill>
                    <a:srgbClr val="E05C5C"/>
                  </a:solidFill>
                  <a:latin typeface="Arial"/>
                  <a:ea typeface="Microsoft YaHei"/>
                  <a:cs typeface="Arial"/>
                </a:rPr>
                <a:t>+25.5% above</a:t>
              </a:r>
            </a:p>
          </p:txBody>
        </p:sp>
        <p:sp>
          <p:nvSpPr>
            <p:cNvPr id="54" name="TextBox 54"/>
            <p:cNvSpPr txBox="1"/>
            <p:nvPr/>
          </p:nvSpPr>
          <p:spPr>
            <a:xfrm>
              <a:off x="4940618" y="2676049"/>
              <a:ext cx="1398913"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($461 vs $368 MA50)</a:t>
              </a:r>
            </a:p>
          </p:txBody>
        </p:sp>
        <p:sp>
          <p:nvSpPr>
            <p:cNvPr id="55" name="TextBox 55"/>
            <p:cNvSpPr txBox="1"/>
            <p:nvPr/>
          </p:nvSpPr>
          <p:spPr>
            <a:xfrm>
              <a:off x="7417118" y="2676049"/>
              <a:ext cx="2338745" cy="198120"/>
            </a:xfrm>
            <a:prstGeom prst="rect">
              <a:avLst/>
            </a:prstGeom>
            <a:noFill/>
            <a:ln>
              <a:noFill/>
            </a:ln>
          </p:spPr>
          <p:txBody>
            <a:bodyPr wrap="none" lIns="0" tIns="0" rIns="0" bIns="0" anchor="t" anchorCtr="0">
              <a:spAutoFit/>
            </a:bodyPr>
            <a:lstStyle/>
            <a:p>
              <a:pPr algn="l"/>
              <a:r>
                <a:rPr lang="zh-CN" sz="975" dirty="0">
                  <a:solidFill>
                    <a:srgbClr val="E05C5C"/>
                  </a:solidFill>
                  <a:latin typeface="Arial"/>
                  <a:ea typeface="Microsoft YaHei"/>
                  <a:cs typeface="Arial"/>
                </a:rPr>
                <a:t>Overextended — wait for pullback</a:t>
              </a:r>
            </a:p>
          </p:txBody>
        </p:sp>
      </p:grpSp>
      <p:grpSp>
        <p:nvGrpSpPr>
          <p:cNvPr id="63" name="Group 63"/>
          <p:cNvGrpSpPr/>
          <p:nvPr/>
        </p:nvGrpSpPr>
        <p:grpSpPr>
          <a:xfrm>
            <a:off x="571500" y="3048000"/>
            <a:ext cx="11049000" cy="971550"/>
            <a:chOff x="571500" y="3048000"/>
            <a:chExt cx="11049000" cy="971550"/>
          </a:xfrm>
        </p:grpSpPr>
        <p:sp>
          <p:nvSpPr>
            <p:cNvPr id="57" name="Rectangle 57"/>
            <p:cNvSpPr/>
            <p:nvPr/>
          </p:nvSpPr>
          <p:spPr>
            <a:xfrm>
              <a:off x="571500" y="3048000"/>
              <a:ext cx="11049000" cy="9525"/>
            </a:xfrm>
            <a:prstGeom prst="rect">
              <a:avLst/>
            </a:prstGeom>
            <a:solidFill>
              <a:srgbClr val="2A3A5C"/>
            </a:solidFill>
            <a:ln>
              <a:noFill/>
            </a:ln>
          </p:spPr>
        </p:sp>
        <p:sp>
          <p:nvSpPr>
            <p:cNvPr id="58" name="TextBox 58"/>
            <p:cNvSpPr txBox="1"/>
            <p:nvPr/>
          </p:nvSpPr>
          <p:spPr>
            <a:xfrm>
              <a:off x="749618" y="3190399"/>
              <a:ext cx="1131203"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Microsoft YaHei"/>
                  <a:cs typeface="Arial"/>
                </a:rPr>
                <a:t>VALUATION TAKE</a:t>
              </a:r>
            </a:p>
          </p:txBody>
        </p:sp>
        <p:sp>
          <p:nvSpPr>
            <p:cNvPr id="59" name="Rectangle 59"/>
            <p:cNvSpPr/>
            <p:nvPr/>
          </p:nvSpPr>
          <p:spPr>
            <a:xfrm>
              <a:off x="571500" y="3409950"/>
              <a:ext cx="11049000" cy="609600"/>
            </a:xfrm>
            <a:prstGeom prst="roundRect">
              <a:avLst>
                <a:gd name="adj" fmla="val 6250"/>
              </a:avLst>
            </a:prstGeom>
            <a:solidFill>
              <a:srgbClr val="131B30"/>
            </a:solidFill>
            <a:ln>
              <a:noFill/>
            </a:ln>
          </p:spPr>
        </p:sp>
        <p:sp>
          <p:nvSpPr>
            <p:cNvPr id="60" name="Rectangle 60"/>
            <p:cNvSpPr/>
            <p:nvPr/>
          </p:nvSpPr>
          <p:spPr>
            <a:xfrm>
              <a:off x="571500" y="3409950"/>
              <a:ext cx="38100" cy="609600"/>
            </a:xfrm>
            <a:prstGeom prst="rect">
              <a:avLst/>
            </a:prstGeom>
            <a:solidFill>
              <a:srgbClr val="F0A030"/>
            </a:solidFill>
            <a:ln>
              <a:noFill/>
            </a:ln>
          </p:spPr>
        </p:sp>
        <p:sp>
          <p:nvSpPr>
            <p:cNvPr id="61" name="TextBox 61"/>
            <p:cNvSpPr txBox="1"/>
            <p:nvPr/>
          </p:nvSpPr>
          <p:spPr>
            <a:xfrm>
              <a:off x="728662" y="3536156"/>
              <a:ext cx="8197471" cy="228600"/>
            </a:xfrm>
            <a:prstGeom prst="rect">
              <a:avLst/>
            </a:prstGeom>
            <a:noFill/>
            <a:ln>
              <a:noFill/>
            </a:ln>
          </p:spPr>
          <p:txBody>
            <a:bodyPr wrap="none" lIns="0" tIns="0" rIns="0" bIns="0" anchor="t" anchorCtr="0">
              <a:spAutoFit/>
            </a:bodyPr>
            <a:lstStyle/>
            <a:p>
              <a:pPr algn="l"/>
              <a:r>
                <a:rPr lang="zh-CN" sz="1125" b="1" dirty="0">
                  <a:solidFill>
                    <a:srgbClr val="E8EAF0"/>
                  </a:solidFill>
                  <a:latin typeface="Arial"/>
                  <a:ea typeface="Microsoft YaHei"/>
                  <a:cs typeface="Arial"/>
                </a:rPr>
                <a:t>SOXX is the correct ETF vehicle — but at $461 (+25.5% above MA50), PW expected return is -8.4%.</a:t>
              </a:r>
            </a:p>
          </p:txBody>
        </p:sp>
        <p:sp>
          <p:nvSpPr>
            <p:cNvPr id="62" name="TextBox 62"/>
            <p:cNvSpPr txBox="1"/>
            <p:nvPr/>
          </p:nvSpPr>
          <p:spPr>
            <a:xfrm>
              <a:off x="729615" y="3772852"/>
              <a:ext cx="9871901" cy="213360"/>
            </a:xfrm>
            <a:prstGeom prst="rect">
              <a:avLst/>
            </a:prstGeom>
            <a:noFill/>
            <a:ln>
              <a:noFill/>
            </a:ln>
          </p:spPr>
          <p:txBody>
            <a:bodyPr wrap="none" lIns="0" tIns="0" rIns="0" bIns="0" anchor="t" anchorCtr="0">
              <a:spAutoFit/>
            </a:bodyPr>
            <a:lstStyle/>
            <a:p>
              <a:pPr algn="l"/>
              <a:r>
                <a:rPr lang="zh-CN" sz="1050" dirty="0">
                  <a:solidFill>
                    <a:srgbClr val="8899BB"/>
                  </a:solidFill>
                  <a:latin typeface="Arial"/>
                  <a:ea typeface="Microsoft YaHei"/>
                  <a:cs typeface="Arial"/>
                </a:rPr>
                <a:t>Risk-reward turns positive near MA50 ($368). Do not DCA above MA50 +10% ($404+) without all three triggers firing simultaneously.</a:t>
              </a:r>
            </a:p>
          </p:txBody>
        </p:sp>
      </p:grpSp>
      <p:grpSp>
        <p:nvGrpSpPr>
          <p:cNvPr id="66" name="Group 66"/>
          <p:cNvGrpSpPr/>
          <p:nvPr/>
        </p:nvGrpSpPr>
        <p:grpSpPr>
          <a:xfrm>
            <a:off x="571500" y="4238149"/>
            <a:ext cx="11049000" cy="198120"/>
            <a:chOff x="571500" y="4238149"/>
            <a:chExt cx="11049000" cy="198120"/>
          </a:xfrm>
        </p:grpSpPr>
        <p:sp>
          <p:nvSpPr>
            <p:cNvPr id="64" name="TextBox 64"/>
            <p:cNvSpPr txBox="1"/>
            <p:nvPr/>
          </p:nvSpPr>
          <p:spPr>
            <a:xfrm>
              <a:off x="749618" y="4238149"/>
              <a:ext cx="1811513"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Microsoft YaHei"/>
                  <a:cs typeface="Arial"/>
                </a:rPr>
                <a:t>DCA ACCUMULATION ZONES</a:t>
              </a:r>
            </a:p>
          </p:txBody>
        </p:sp>
        <p:sp>
          <p:nvSpPr>
            <p:cNvPr id="65" name="Rectangle 65"/>
            <p:cNvSpPr/>
            <p:nvPr/>
          </p:nvSpPr>
          <p:spPr>
            <a:xfrm>
              <a:off x="571500" y="4419600"/>
              <a:ext cx="11049000" cy="9525"/>
            </a:xfrm>
            <a:prstGeom prst="rect">
              <a:avLst/>
            </a:prstGeom>
            <a:solidFill>
              <a:srgbClr val="2A3A5C"/>
            </a:solidFill>
            <a:ln>
              <a:noFill/>
            </a:ln>
          </p:spPr>
        </p:sp>
      </p:grpSp>
      <p:grpSp>
        <p:nvGrpSpPr>
          <p:cNvPr id="71" name="Group 71"/>
          <p:cNvGrpSpPr/>
          <p:nvPr/>
        </p:nvGrpSpPr>
        <p:grpSpPr>
          <a:xfrm>
            <a:off x="571500" y="4495800"/>
            <a:ext cx="5429250" cy="533400"/>
            <a:chOff x="571500" y="4495800"/>
            <a:chExt cx="5429250" cy="533400"/>
          </a:xfrm>
        </p:grpSpPr>
        <p:sp>
          <p:nvSpPr>
            <p:cNvPr id="67" name="Rectangle 67"/>
            <p:cNvSpPr/>
            <p:nvPr/>
          </p:nvSpPr>
          <p:spPr>
            <a:xfrm>
              <a:off x="571500" y="4495800"/>
              <a:ext cx="5429250" cy="533400"/>
            </a:xfrm>
            <a:prstGeom prst="roundRect">
              <a:avLst>
                <a:gd name="adj" fmla="val 7143"/>
              </a:avLst>
            </a:prstGeom>
            <a:solidFill>
              <a:srgbClr val="131B30"/>
            </a:solidFill>
            <a:ln>
              <a:noFill/>
            </a:ln>
          </p:spPr>
        </p:sp>
        <p:sp>
          <p:nvSpPr>
            <p:cNvPr id="68" name="Rectangle 68"/>
            <p:cNvSpPr/>
            <p:nvPr/>
          </p:nvSpPr>
          <p:spPr>
            <a:xfrm>
              <a:off x="571500" y="4495800"/>
              <a:ext cx="38100" cy="533400"/>
            </a:xfrm>
            <a:prstGeom prst="rect">
              <a:avLst/>
            </a:prstGeom>
            <a:solidFill>
              <a:srgbClr val="4CAF82"/>
            </a:solidFill>
            <a:ln>
              <a:noFill/>
            </a:ln>
          </p:spPr>
        </p:sp>
        <p:sp>
          <p:nvSpPr>
            <p:cNvPr id="69" name="TextBox 69"/>
            <p:cNvSpPr txBox="1"/>
            <p:nvPr/>
          </p:nvSpPr>
          <p:spPr>
            <a:xfrm>
              <a:off x="748665" y="4592002"/>
              <a:ext cx="2289003" cy="213360"/>
            </a:xfrm>
            <a:prstGeom prst="rect">
              <a:avLst/>
            </a:prstGeom>
            <a:noFill/>
            <a:ln>
              <a:noFill/>
            </a:ln>
          </p:spPr>
          <p:txBody>
            <a:bodyPr wrap="none" lIns="0" tIns="0" rIns="0" bIns="0" anchor="t" anchorCtr="0">
              <a:spAutoFit/>
            </a:bodyPr>
            <a:lstStyle/>
            <a:p>
              <a:pPr algn="l"/>
              <a:r>
                <a:rPr lang="zh-CN" sz="1050" b="1" dirty="0">
                  <a:solidFill>
                    <a:srgbClr val="4CAF82"/>
                  </a:solidFill>
                  <a:latin typeface="Arial"/>
                  <a:ea typeface="Microsoft YaHei"/>
                  <a:cs typeface="Arial"/>
                </a:rPr>
                <a:t>Primary DCA Zone: $355–$380</a:t>
              </a:r>
            </a:p>
          </p:txBody>
        </p:sp>
        <p:sp>
          <p:nvSpPr>
            <p:cNvPr id="70" name="TextBox 70"/>
            <p:cNvSpPr txBox="1"/>
            <p:nvPr/>
          </p:nvSpPr>
          <p:spPr>
            <a:xfrm>
              <a:off x="749618" y="4809649"/>
              <a:ext cx="4524565"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MA50 ±3% · Requires ∼18–22% pullback · 4 monthly tranches of 25%</a:t>
              </a:r>
            </a:p>
          </p:txBody>
        </p:sp>
      </p:grpSp>
      <p:grpSp>
        <p:nvGrpSpPr>
          <p:cNvPr id="76" name="Group 76"/>
          <p:cNvGrpSpPr/>
          <p:nvPr/>
        </p:nvGrpSpPr>
        <p:grpSpPr>
          <a:xfrm>
            <a:off x="6191250" y="4495800"/>
            <a:ext cx="5429250" cy="533400"/>
            <a:chOff x="6191250" y="4495800"/>
            <a:chExt cx="5429250" cy="533400"/>
          </a:xfrm>
        </p:grpSpPr>
        <p:sp>
          <p:nvSpPr>
            <p:cNvPr id="72" name="Rectangle 72"/>
            <p:cNvSpPr/>
            <p:nvPr/>
          </p:nvSpPr>
          <p:spPr>
            <a:xfrm>
              <a:off x="6191250" y="4495800"/>
              <a:ext cx="5429250" cy="533400"/>
            </a:xfrm>
            <a:prstGeom prst="roundRect">
              <a:avLst>
                <a:gd name="adj" fmla="val 7143"/>
              </a:avLst>
            </a:prstGeom>
            <a:solidFill>
              <a:srgbClr val="131B30"/>
            </a:solidFill>
            <a:ln>
              <a:noFill/>
            </a:ln>
          </p:spPr>
        </p:sp>
        <p:sp>
          <p:nvSpPr>
            <p:cNvPr id="73" name="Rectangle 73"/>
            <p:cNvSpPr/>
            <p:nvPr/>
          </p:nvSpPr>
          <p:spPr>
            <a:xfrm>
              <a:off x="6191250" y="4495800"/>
              <a:ext cx="38100" cy="533400"/>
            </a:xfrm>
            <a:prstGeom prst="rect">
              <a:avLst/>
            </a:prstGeom>
            <a:solidFill>
              <a:srgbClr val="4A90D9"/>
            </a:solidFill>
            <a:ln>
              <a:noFill/>
            </a:ln>
          </p:spPr>
        </p:sp>
        <p:sp>
          <p:nvSpPr>
            <p:cNvPr id="74" name="TextBox 74"/>
            <p:cNvSpPr txBox="1"/>
            <p:nvPr/>
          </p:nvSpPr>
          <p:spPr>
            <a:xfrm>
              <a:off x="6368415" y="4592002"/>
              <a:ext cx="2433921" cy="213360"/>
            </a:xfrm>
            <a:prstGeom prst="rect">
              <a:avLst/>
            </a:prstGeom>
            <a:noFill/>
            <a:ln>
              <a:noFill/>
            </a:ln>
          </p:spPr>
          <p:txBody>
            <a:bodyPr wrap="none" lIns="0" tIns="0" rIns="0" bIns="0" anchor="t" anchorCtr="0">
              <a:spAutoFit/>
            </a:bodyPr>
            <a:lstStyle/>
            <a:p>
              <a:pPr algn="l"/>
              <a:r>
                <a:rPr lang="zh-CN" sz="1050" b="1" dirty="0">
                  <a:solidFill>
                    <a:srgbClr val="4A90D9"/>
                  </a:solidFill>
                  <a:latin typeface="Arial"/>
                  <a:ea typeface="Microsoft YaHei"/>
                  <a:cs typeface="Arial"/>
                </a:rPr>
                <a:t>Deep Discount Zone: $295–$320</a:t>
              </a:r>
            </a:p>
          </p:txBody>
        </p:sp>
        <p:sp>
          <p:nvSpPr>
            <p:cNvPr id="75" name="TextBox 75"/>
            <p:cNvSpPr txBox="1"/>
            <p:nvPr/>
          </p:nvSpPr>
          <p:spPr>
            <a:xfrm>
              <a:off x="6369368" y="4809649"/>
              <a:ext cx="4033290"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MA200 level · Requires ∼35% pullback · Full target position</a:t>
              </a:r>
            </a:p>
          </p:txBody>
        </p:sp>
      </p:grpSp>
      <p:grpSp>
        <p:nvGrpSpPr>
          <p:cNvPr id="81" name="Group 81"/>
          <p:cNvGrpSpPr/>
          <p:nvPr/>
        </p:nvGrpSpPr>
        <p:grpSpPr>
          <a:xfrm>
            <a:off x="0" y="6324600"/>
            <a:ext cx="12192000" cy="533400"/>
            <a:chOff x="0" y="6324600"/>
            <a:chExt cx="12192000" cy="533400"/>
          </a:xfrm>
        </p:grpSpPr>
        <p:sp>
          <p:nvSpPr>
            <p:cNvPr id="77" name="Rectangle 77"/>
            <p:cNvSpPr/>
            <p:nvPr/>
          </p:nvSpPr>
          <p:spPr>
            <a:xfrm>
              <a:off x="0" y="6324600"/>
              <a:ext cx="12192000" cy="533400"/>
            </a:xfrm>
            <a:prstGeom prst="rect">
              <a:avLst/>
            </a:prstGeom>
            <a:solidFill>
              <a:srgbClr val="131B30"/>
            </a:solidFill>
            <a:ln>
              <a:noFill/>
            </a:ln>
          </p:spPr>
        </p:sp>
        <p:sp>
          <p:nvSpPr>
            <p:cNvPr id="78" name="Rectangle 78"/>
            <p:cNvSpPr/>
            <p:nvPr/>
          </p:nvSpPr>
          <p:spPr>
            <a:xfrm>
              <a:off x="0" y="6324600"/>
              <a:ext cx="12192000" cy="9525"/>
            </a:xfrm>
            <a:prstGeom prst="rect">
              <a:avLst/>
            </a:prstGeom>
            <a:solidFill>
              <a:srgbClr val="F5C842">
                <a:alpha val="35000"/>
              </a:srgbClr>
            </a:solidFill>
            <a:ln>
              <a:noFill/>
            </a:ln>
          </p:spPr>
        </p:sp>
        <p:sp>
          <p:nvSpPr>
            <p:cNvPr id="79" name="TextBox 79"/>
            <p:cNvSpPr txBox="1"/>
            <p:nvPr/>
          </p:nvSpPr>
          <p:spPr>
            <a:xfrm>
              <a:off x="749618" y="6533674"/>
              <a:ext cx="1249394"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Scenarios &amp; Entry</a:t>
              </a:r>
            </a:p>
          </p:txBody>
        </p:sp>
        <p:sp>
          <p:nvSpPr>
            <p:cNvPr id="80" name="TextBox 80"/>
            <p:cNvSpPr txBox="1"/>
            <p:nvPr/>
          </p:nvSpPr>
          <p:spPr>
            <a:xfrm>
              <a:off x="11332178" y="6533674"/>
              <a:ext cx="110204" cy="198120"/>
            </a:xfrm>
            <a:prstGeom prst="rect">
              <a:avLst/>
            </a:prstGeom>
            <a:noFill/>
            <a:ln>
              <a:noFill/>
            </a:ln>
          </p:spPr>
          <p:txBody>
            <a:bodyPr wrap="none" lIns="0" tIns="0" rIns="0" bIns="0" anchor="t" anchorCtr="0">
              <a:spAutoFit/>
            </a:bodyPr>
            <a:lstStyle/>
            <a:p>
              <a:pPr algn="r"/>
              <a:r>
                <a:rPr lang="zh-CN" sz="975" dirty="0">
                  <a:solidFill>
                    <a:srgbClr val="8899BB"/>
                  </a:solidFill>
                  <a:latin typeface="Arial"/>
                  <a:ea typeface="Microsoft YaHei"/>
                  <a:cs typeface="Arial"/>
                </a:rPr>
                <a:t>11</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900"/>
                            </p:stCondLst>
                            <p:childTnLst>
                              <p:par>
                                <p:cTn id="9" presetID="9" presetClass="entr" presetSubtype="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dissolve">
                                      <p:cBhvr>
                                        <p:cTn id="11" dur="400"/>
                                        <p:tgtEl>
                                          <p:spTgt spid="14"/>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slide(fromBottom)">
                                      <p:cBhvr>
                                        <p:cTn id="15" dur="400"/>
                                        <p:tgtEl>
                                          <p:spTgt spid="26"/>
                                        </p:tgtEl>
                                      </p:cBhvr>
                                    </p:animEffect>
                                  </p:childTnLst>
                                </p:cTn>
                              </p:par>
                            </p:childTnLst>
                          </p:cTn>
                        </p:par>
                        <p:par>
                          <p:cTn id="16" fill="hold">
                            <p:stCondLst>
                              <p:cond delay="2700"/>
                            </p:stCondLst>
                            <p:childTnLst>
                              <p:par>
                                <p:cTn id="17" presetID="42" presetClass="entr" presetSubtype="8" fill="hold" nodeType="after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slide(fromLeft)">
                                      <p:cBhvr>
                                        <p:cTn id="19" dur="400"/>
                                        <p:tgtEl>
                                          <p:spTgt spid="32"/>
                                        </p:tgtEl>
                                      </p:cBhvr>
                                    </p:animEffect>
                                  </p:childTnLst>
                                </p:cTn>
                              </p:par>
                            </p:childTnLst>
                          </p:cTn>
                        </p:par>
                        <p:par>
                          <p:cTn id="20" fill="hold">
                            <p:stCondLst>
                              <p:cond delay="3600"/>
                            </p:stCondLst>
                            <p:childTnLst>
                              <p:par>
                                <p:cTn id="21" presetID="14" presetClass="entr" presetSubtype="10" fill="hold" nodeType="after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randombar(horizontal)">
                                      <p:cBhvr>
                                        <p:cTn id="23" dur="400"/>
                                        <p:tgtEl>
                                          <p:spTgt spid="38"/>
                                        </p:tgtEl>
                                      </p:cBhvr>
                                    </p:animEffect>
                                  </p:childTnLst>
                                </p:cTn>
                              </p:par>
                            </p:childTnLst>
                          </p:cTn>
                        </p:par>
                        <p:par>
                          <p:cTn id="24" fill="hold">
                            <p:stCondLst>
                              <p:cond delay="4500"/>
                            </p:stCondLst>
                            <p:childTnLst>
                              <p:par>
                                <p:cTn id="25" presetID="4" presetClass="entr" presetSubtype="0" fill="hold" nodeType="after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box(in)">
                                      <p:cBhvr>
                                        <p:cTn id="27" dur="400"/>
                                        <p:tgtEl>
                                          <p:spTgt spid="44"/>
                                        </p:tgtEl>
                                      </p:cBhvr>
                                    </p:animEffect>
                                  </p:childTnLst>
                                </p:cTn>
                              </p:par>
                            </p:childTnLst>
                          </p:cTn>
                        </p:par>
                        <p:par>
                          <p:cTn id="28" fill="hold">
                            <p:stCondLst>
                              <p:cond delay="5400"/>
                            </p:stCondLst>
                            <p:childTnLst>
                              <p:par>
                                <p:cTn id="29" presetID="16" presetClass="entr" presetSubtype="21" fill="hold" nodeType="afterEffect">
                                  <p:stCondLst>
                                    <p:cond delay="0"/>
                                  </p:stCondLst>
                                  <p:childTnLst>
                                    <p:set>
                                      <p:cBhvr>
                                        <p:cTn id="30" dur="1" fill="hold">
                                          <p:stCondLst>
                                            <p:cond delay="0"/>
                                          </p:stCondLst>
                                        </p:cTn>
                                        <p:tgtEl>
                                          <p:spTgt spid="50"/>
                                        </p:tgtEl>
                                        <p:attrNameLst>
                                          <p:attrName>style.visibility</p:attrName>
                                        </p:attrNameLst>
                                      </p:cBhvr>
                                      <p:to>
                                        <p:strVal val="visible"/>
                                      </p:to>
                                    </p:set>
                                    <p:animEffect transition="in" filter="barn(inVertical)">
                                      <p:cBhvr>
                                        <p:cTn id="31" dur="400"/>
                                        <p:tgtEl>
                                          <p:spTgt spid="50"/>
                                        </p:tgtEl>
                                      </p:cBhvr>
                                    </p:animEffect>
                                  </p:childTnLst>
                                </p:cTn>
                              </p:par>
                            </p:childTnLst>
                          </p:cTn>
                        </p:par>
                        <p:par>
                          <p:cTn id="32" fill="hold">
                            <p:stCondLst>
                              <p:cond delay="6300"/>
                            </p:stCondLst>
                            <p:childTnLst>
                              <p:par>
                                <p:cTn id="33" presetID="18" presetClass="entr" presetSubtype="12" fill="hold" nodeType="afterEffect">
                                  <p:stCondLst>
                                    <p:cond delay="0"/>
                                  </p:stCondLst>
                                  <p:childTnLst>
                                    <p:set>
                                      <p:cBhvr>
                                        <p:cTn id="34" dur="1" fill="hold">
                                          <p:stCondLst>
                                            <p:cond delay="0"/>
                                          </p:stCondLst>
                                        </p:cTn>
                                        <p:tgtEl>
                                          <p:spTgt spid="56"/>
                                        </p:tgtEl>
                                        <p:attrNameLst>
                                          <p:attrName>style.visibility</p:attrName>
                                        </p:attrNameLst>
                                      </p:cBhvr>
                                      <p:to>
                                        <p:strVal val="visible"/>
                                      </p:to>
                                    </p:set>
                                    <p:animEffect transition="in" filter="strips(downRight)">
                                      <p:cBhvr>
                                        <p:cTn id="35" dur="400"/>
                                        <p:tgtEl>
                                          <p:spTgt spid="56"/>
                                        </p:tgtEl>
                                      </p:cBhvr>
                                    </p:animEffect>
                                  </p:childTnLst>
                                </p:cTn>
                              </p:par>
                            </p:childTnLst>
                          </p:cTn>
                        </p:par>
                        <p:par>
                          <p:cTn id="36" fill="hold">
                            <p:stCondLst>
                              <p:cond delay="7200"/>
                            </p:stCondLst>
                            <p:childTnLst>
                              <p:par>
                                <p:cTn id="37" presetID="20" presetClass="entr" presetSubtype="0" fill="hold" nodeType="afterEffect">
                                  <p:stCondLst>
                                    <p:cond delay="0"/>
                                  </p:stCondLst>
                                  <p:childTnLst>
                                    <p:set>
                                      <p:cBhvr>
                                        <p:cTn id="38" dur="1" fill="hold">
                                          <p:stCondLst>
                                            <p:cond delay="0"/>
                                          </p:stCondLst>
                                        </p:cTn>
                                        <p:tgtEl>
                                          <p:spTgt spid="63"/>
                                        </p:tgtEl>
                                        <p:attrNameLst>
                                          <p:attrName>style.visibility</p:attrName>
                                        </p:attrNameLst>
                                      </p:cBhvr>
                                      <p:to>
                                        <p:strVal val="visible"/>
                                      </p:to>
                                    </p:set>
                                    <p:animEffect transition="in" filter="wedge">
                                      <p:cBhvr>
                                        <p:cTn id="39" dur="400"/>
                                        <p:tgtEl>
                                          <p:spTgt spid="63"/>
                                        </p:tgtEl>
                                      </p:cBhvr>
                                    </p:animEffect>
                                  </p:childTnLst>
                                </p:cTn>
                              </p:par>
                            </p:childTnLst>
                          </p:cTn>
                        </p:par>
                        <p:par>
                          <p:cTn id="40" fill="hold">
                            <p:stCondLst>
                              <p:cond delay="8100"/>
                            </p:stCondLst>
                            <p:childTnLst>
                              <p:par>
                                <p:cTn id="41" presetID="21" presetClass="entr" presetSubtype="0" fill="hold" nodeType="afterEffect">
                                  <p:stCondLst>
                                    <p:cond delay="0"/>
                                  </p:stCondLst>
                                  <p:childTnLst>
                                    <p:set>
                                      <p:cBhvr>
                                        <p:cTn id="42" dur="1" fill="hold">
                                          <p:stCondLst>
                                            <p:cond delay="0"/>
                                          </p:stCondLst>
                                        </p:cTn>
                                        <p:tgtEl>
                                          <p:spTgt spid="66"/>
                                        </p:tgtEl>
                                        <p:attrNameLst>
                                          <p:attrName>style.visibility</p:attrName>
                                        </p:attrNameLst>
                                      </p:cBhvr>
                                      <p:to>
                                        <p:strVal val="visible"/>
                                      </p:to>
                                    </p:set>
                                    <p:animEffect transition="in" filter="wheel(4)">
                                      <p:cBhvr>
                                        <p:cTn id="43" dur="400"/>
                                        <p:tgtEl>
                                          <p:spTgt spid="66"/>
                                        </p:tgtEl>
                                      </p:cBhvr>
                                    </p:animEffect>
                                  </p:childTnLst>
                                </p:cTn>
                              </p:par>
                            </p:childTnLst>
                          </p:cTn>
                        </p:par>
                        <p:par>
                          <p:cTn id="44" fill="hold">
                            <p:stCondLst>
                              <p:cond delay="9000"/>
                            </p:stCondLst>
                            <p:childTnLst>
                              <p:par>
                                <p:cTn id="45" presetID="22" presetClass="entr" presetSubtype="1" fill="hold" nodeType="afterEffect">
                                  <p:stCondLst>
                                    <p:cond delay="0"/>
                                  </p:stCondLst>
                                  <p:childTnLst>
                                    <p:set>
                                      <p:cBhvr>
                                        <p:cTn id="46" dur="1" fill="hold">
                                          <p:stCondLst>
                                            <p:cond delay="0"/>
                                          </p:stCondLst>
                                        </p:cTn>
                                        <p:tgtEl>
                                          <p:spTgt spid="71"/>
                                        </p:tgtEl>
                                        <p:attrNameLst>
                                          <p:attrName>style.visibility</p:attrName>
                                        </p:attrNameLst>
                                      </p:cBhvr>
                                      <p:to>
                                        <p:strVal val="visible"/>
                                      </p:to>
                                    </p:set>
                                    <p:animEffect transition="in" filter="wipe(left)">
                                      <p:cBhvr>
                                        <p:cTn id="47" dur="400"/>
                                        <p:tgtEl>
                                          <p:spTgt spid="71"/>
                                        </p:tgtEl>
                                      </p:cBhvr>
                                    </p:animEffect>
                                  </p:childTnLst>
                                </p:cTn>
                              </p:par>
                            </p:childTnLst>
                          </p:cTn>
                        </p:par>
                        <p:par>
                          <p:cTn id="48" fill="hold">
                            <p:stCondLst>
                              <p:cond delay="9900"/>
                            </p:stCondLst>
                            <p:childTnLst>
                              <p:par>
                                <p:cTn id="49" presetID="50" presetClass="entr" presetSubtype="0" fill="hold" nodeType="afterEffect">
                                  <p:stCondLst>
                                    <p:cond delay="0"/>
                                  </p:stCondLst>
                                  <p:childTnLst>
                                    <p:set>
                                      <p:cBhvr>
                                        <p:cTn id="50" dur="1" fill="hold">
                                          <p:stCondLst>
                                            <p:cond delay="0"/>
                                          </p:stCondLst>
                                        </p:cTn>
                                        <p:tgtEl>
                                          <p:spTgt spid="76"/>
                                        </p:tgtEl>
                                        <p:attrNameLst>
                                          <p:attrName>style.visibility</p:attrName>
                                        </p:attrNameLst>
                                      </p:cBhvr>
                                      <p:to>
                                        <p:strVal val="visible"/>
                                      </p:to>
                                    </p:set>
                                    <p:animEffect transition="in" filter="stretch(across)">
                                      <p:cBhvr>
                                        <p:cTn id="51" dur="400"/>
                                        <p:tgtEl>
                                          <p:spTgt spid="76"/>
                                        </p:tgtEl>
                                      </p:cBhvr>
                                    </p:animEffect>
                                  </p:childTnLst>
                                </p:cTn>
                              </p:par>
                            </p:childTnLst>
                          </p:cTn>
                        </p:par>
                        <p:par>
                          <p:cTn id="52" fill="hold">
                            <p:stCondLst>
                              <p:cond delay="10800"/>
                            </p:stCondLst>
                            <p:childTnLst>
                              <p:par>
                                <p:cTn id="53" presetID="10" presetClass="entr" presetSubtype="0" fill="hold" nodeType="afterEffect">
                                  <p:stCondLst>
                                    <p:cond delay="0"/>
                                  </p:stCondLst>
                                  <p:childTnLst>
                                    <p:set>
                                      <p:cBhvr>
                                        <p:cTn id="54" dur="1" fill="hold">
                                          <p:stCondLst>
                                            <p:cond delay="0"/>
                                          </p:stCondLst>
                                        </p:cTn>
                                        <p:tgtEl>
                                          <p:spTgt spid="81"/>
                                        </p:tgtEl>
                                        <p:attrNameLst>
                                          <p:attrName>style.visibility</p:attrName>
                                        </p:attrNameLst>
                                      </p:cBhvr>
                                      <p:to>
                                        <p:strVal val="visible"/>
                                      </p:to>
                                    </p:set>
                                    <p:animEffect transition="in" filter="fade">
                                      <p:cBhvr>
                                        <p:cTn id="55" dur="4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P spid="26" grpId="0"/>
      <p:bldP spid="32" grpId="0"/>
      <p:bldP spid="38" grpId="0"/>
      <p:bldP spid="44" grpId="0"/>
      <p:bldP spid="50" grpId="0"/>
      <p:bldP spid="56" grpId="0"/>
      <p:bldP spid="63" grpId="0"/>
      <p:bldP spid="66" grpId="0"/>
      <p:bldP spid="71" grpId="0"/>
      <p:bldP spid="76" grpId="0"/>
      <p:bldP spid="8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12192000" cy="38100"/>
            </a:xfrm>
            <a:prstGeom prst="rect">
              <a:avLst/>
            </a:prstGeom>
            <a:solidFill>
              <a:srgbClr val="F5C842"/>
            </a:solidFill>
            <a:ln>
              <a:noFill/>
            </a:ln>
          </p:spPr>
        </p:sp>
      </p:grpSp>
      <p:grpSp>
        <p:nvGrpSpPr>
          <p:cNvPr id="8" name="Group 8"/>
          <p:cNvGrpSpPr/>
          <p:nvPr/>
        </p:nvGrpSpPr>
        <p:grpSpPr>
          <a:xfrm>
            <a:off x="0" y="38100"/>
            <a:ext cx="12192000" cy="609600"/>
            <a:chOff x="0" y="38100"/>
            <a:chExt cx="12192000" cy="609600"/>
          </a:xfrm>
        </p:grpSpPr>
        <p:sp>
          <p:nvSpPr>
            <p:cNvPr id="5" name="Rectangle 5"/>
            <p:cNvSpPr/>
            <p:nvPr/>
          </p:nvSpPr>
          <p:spPr>
            <a:xfrm>
              <a:off x="0" y="38100"/>
              <a:ext cx="12192000" cy="609600"/>
            </a:xfrm>
            <a:prstGeom prst="rect">
              <a:avLst/>
            </a:prstGeom>
            <a:solidFill>
              <a:srgbClr val="131B30"/>
            </a:solidFill>
            <a:ln>
              <a:noFill/>
            </a:ln>
          </p:spPr>
        </p:sp>
        <p:sp>
          <p:nvSpPr>
            <p:cNvPr id="6" name="Rectangle 6"/>
            <p:cNvSpPr/>
            <p:nvPr/>
          </p:nvSpPr>
          <p:spPr>
            <a:xfrm>
              <a:off x="571500" y="152400"/>
              <a:ext cx="38100" cy="381000"/>
            </a:xfrm>
            <a:prstGeom prst="rect">
              <a:avLst/>
            </a:prstGeom>
            <a:solidFill>
              <a:srgbClr val="F5C842"/>
            </a:solidFill>
            <a:ln>
              <a:noFill/>
            </a:ln>
          </p:spPr>
        </p:sp>
        <p:sp>
          <p:nvSpPr>
            <p:cNvPr id="7" name="TextBox 7"/>
            <p:cNvSpPr txBox="1"/>
            <p:nvPr/>
          </p:nvSpPr>
          <p:spPr>
            <a:xfrm>
              <a:off x="737235" y="227648"/>
              <a:ext cx="2546492" cy="396240"/>
            </a:xfrm>
            <a:prstGeom prst="rect">
              <a:avLst/>
            </a:prstGeom>
            <a:noFill/>
            <a:ln>
              <a:noFill/>
            </a:ln>
          </p:spPr>
          <p:txBody>
            <a:bodyPr wrap="none" lIns="0" tIns="0" rIns="0" bIns="0" anchor="t" anchorCtr="0">
              <a:spAutoFit/>
            </a:bodyPr>
            <a:lstStyle/>
            <a:p>
              <a:pPr algn="l"/>
              <a:r>
                <a:rPr lang="zh-CN" sz="1950" b="1" dirty="0">
                  <a:solidFill>
                    <a:srgbClr val="E8EAF0"/>
                  </a:solidFill>
                  <a:latin typeface="Arial"/>
                  <a:ea typeface="Microsoft YaHei"/>
                  <a:cs typeface="Arial"/>
                </a:rPr>
                <a:t>Scenario Analysis</a:t>
              </a:r>
            </a:p>
          </p:txBody>
        </p:sp>
      </p:grpSp>
      <p:grpSp>
        <p:nvGrpSpPr>
          <p:cNvPr id="25" name="Group 25"/>
          <p:cNvGrpSpPr/>
          <p:nvPr/>
        </p:nvGrpSpPr>
        <p:grpSpPr>
          <a:xfrm>
            <a:off x="571500" y="838200"/>
            <a:ext cx="3409950" cy="5334000"/>
            <a:chOff x="571500" y="838200"/>
            <a:chExt cx="3409950" cy="5334000"/>
          </a:xfrm>
        </p:grpSpPr>
        <p:sp>
          <p:nvSpPr>
            <p:cNvPr id="9" name="Rectangle 9"/>
            <p:cNvSpPr/>
            <p:nvPr/>
          </p:nvSpPr>
          <p:spPr>
            <a:xfrm>
              <a:off x="571500" y="838200"/>
              <a:ext cx="3409950" cy="5334000"/>
            </a:xfrm>
            <a:prstGeom prst="roundRect">
              <a:avLst>
                <a:gd name="adj" fmla="val 1117"/>
              </a:avLst>
            </a:prstGeom>
            <a:solidFill>
              <a:srgbClr val="131B30"/>
            </a:solidFill>
            <a:ln>
              <a:noFill/>
            </a:ln>
          </p:spPr>
        </p:sp>
        <p:sp>
          <p:nvSpPr>
            <p:cNvPr id="10" name="Rectangle 10"/>
            <p:cNvSpPr/>
            <p:nvPr/>
          </p:nvSpPr>
          <p:spPr>
            <a:xfrm>
              <a:off x="571500" y="838200"/>
              <a:ext cx="3409950" cy="38100"/>
            </a:xfrm>
            <a:prstGeom prst="rect">
              <a:avLst/>
            </a:prstGeom>
            <a:solidFill>
              <a:srgbClr val="4CAF82"/>
            </a:solidFill>
            <a:ln>
              <a:noFill/>
            </a:ln>
          </p:spPr>
        </p:sp>
        <p:sp>
          <p:nvSpPr>
            <p:cNvPr id="11" name="TextBox 11"/>
            <p:cNvSpPr txBox="1"/>
            <p:nvPr/>
          </p:nvSpPr>
          <p:spPr>
            <a:xfrm>
              <a:off x="1782344" y="1111568"/>
              <a:ext cx="1007312" cy="274320"/>
            </a:xfrm>
            <a:prstGeom prst="rect">
              <a:avLst/>
            </a:prstGeom>
            <a:noFill/>
            <a:ln>
              <a:noFill/>
            </a:ln>
          </p:spPr>
          <p:txBody>
            <a:bodyPr wrap="none" lIns="0" tIns="0" rIns="0" bIns="0" anchor="t" anchorCtr="0">
              <a:spAutoFit/>
            </a:bodyPr>
            <a:lstStyle/>
            <a:p>
              <a:pPr algn="ctr"/>
              <a:r>
                <a:rPr lang="zh-CN" sz="1350" b="1" dirty="0">
                  <a:solidFill>
                    <a:srgbClr val="4CAF82"/>
                  </a:solidFill>
                  <a:latin typeface="Arial"/>
                  <a:ea typeface="Microsoft YaHei"/>
                  <a:cs typeface="Arial"/>
                </a:rPr>
                <a:t>BULL CASE</a:t>
              </a:r>
            </a:p>
          </p:txBody>
        </p:sp>
        <p:sp>
          <p:nvSpPr>
            <p:cNvPr id="12" name="Rectangle 12"/>
            <p:cNvSpPr/>
            <p:nvPr/>
          </p:nvSpPr>
          <p:spPr>
            <a:xfrm>
              <a:off x="1524000" y="1390650"/>
              <a:ext cx="1524000" cy="266700"/>
            </a:xfrm>
            <a:prstGeom prst="roundRect">
              <a:avLst>
                <a:gd name="adj" fmla="val 50000"/>
              </a:avLst>
            </a:prstGeom>
            <a:solidFill>
              <a:srgbClr val="1A3A28"/>
            </a:solidFill>
            <a:ln>
              <a:noFill/>
            </a:ln>
          </p:spPr>
        </p:sp>
        <p:sp>
          <p:nvSpPr>
            <p:cNvPr id="13" name="TextBox 13"/>
            <p:cNvSpPr txBox="1"/>
            <p:nvPr/>
          </p:nvSpPr>
          <p:spPr>
            <a:xfrm>
              <a:off x="1688967" y="1458278"/>
              <a:ext cx="1194066" cy="213360"/>
            </a:xfrm>
            <a:prstGeom prst="rect">
              <a:avLst/>
            </a:prstGeom>
            <a:noFill/>
            <a:ln>
              <a:noFill/>
            </a:ln>
          </p:spPr>
          <p:txBody>
            <a:bodyPr wrap="none" lIns="0" tIns="0" rIns="0" bIns="0" anchor="t" anchorCtr="0">
              <a:spAutoFit/>
            </a:bodyPr>
            <a:lstStyle/>
            <a:p>
              <a:pPr algn="ctr"/>
              <a:r>
                <a:rPr lang="zh-CN" sz="1050" b="1" dirty="0">
                  <a:solidFill>
                    <a:srgbClr val="4CAF82"/>
                  </a:solidFill>
                  <a:latin typeface="Arial"/>
                  <a:ea typeface="Microsoft YaHei"/>
                  <a:cs typeface="Arial"/>
                </a:rPr>
                <a:t>25% Probability</a:t>
              </a:r>
            </a:p>
          </p:txBody>
        </p:sp>
        <p:sp>
          <p:nvSpPr>
            <p:cNvPr id="14" name="TextBox 14"/>
            <p:cNvSpPr txBox="1"/>
            <p:nvPr/>
          </p:nvSpPr>
          <p:spPr>
            <a:xfrm>
              <a:off x="1578588" y="1674495"/>
              <a:ext cx="1414824" cy="792480"/>
            </a:xfrm>
            <a:prstGeom prst="rect">
              <a:avLst/>
            </a:prstGeom>
            <a:noFill/>
            <a:ln>
              <a:noFill/>
            </a:ln>
          </p:spPr>
          <p:txBody>
            <a:bodyPr wrap="none" lIns="0" tIns="0" rIns="0" bIns="0" anchor="t" anchorCtr="0">
              <a:spAutoFit/>
            </a:bodyPr>
            <a:lstStyle/>
            <a:p>
              <a:pPr algn="ctr"/>
              <a:r>
                <a:rPr lang="zh-CN" sz="3900" b="1" dirty="0">
                  <a:solidFill>
                    <a:srgbClr val="F5C842"/>
                  </a:solidFill>
                  <a:latin typeface="Arial"/>
                  <a:ea typeface="Microsoft YaHei"/>
                  <a:cs typeface="Arial"/>
                </a:rPr>
                <a:t>$580</a:t>
              </a:r>
            </a:p>
          </p:txBody>
        </p:sp>
        <p:sp>
          <p:nvSpPr>
            <p:cNvPr id="15" name="TextBox 15"/>
            <p:cNvSpPr txBox="1"/>
            <p:nvPr/>
          </p:nvSpPr>
          <p:spPr>
            <a:xfrm>
              <a:off x="1807683" y="2244090"/>
              <a:ext cx="956634" cy="365760"/>
            </a:xfrm>
            <a:prstGeom prst="rect">
              <a:avLst/>
            </a:prstGeom>
            <a:noFill/>
            <a:ln>
              <a:noFill/>
            </a:ln>
          </p:spPr>
          <p:txBody>
            <a:bodyPr wrap="none" lIns="0" tIns="0" rIns="0" bIns="0" anchor="t" anchorCtr="0">
              <a:spAutoFit/>
            </a:bodyPr>
            <a:lstStyle/>
            <a:p>
              <a:pPr algn="ctr"/>
              <a:r>
                <a:rPr lang="zh-CN" sz="1800" b="1" dirty="0">
                  <a:solidFill>
                    <a:srgbClr val="4CAF82"/>
                  </a:solidFill>
                  <a:latin typeface="Arial"/>
                  <a:ea typeface="Microsoft YaHei"/>
                  <a:cs typeface="Arial"/>
                </a:rPr>
                <a:t>+25.7%</a:t>
              </a:r>
            </a:p>
          </p:txBody>
        </p:sp>
        <p:sp>
          <p:nvSpPr>
            <p:cNvPr id="16" name="Rectangle 16"/>
            <p:cNvSpPr/>
            <p:nvPr/>
          </p:nvSpPr>
          <p:spPr>
            <a:xfrm>
              <a:off x="952500" y="2590800"/>
              <a:ext cx="2667000" cy="9525"/>
            </a:xfrm>
            <a:prstGeom prst="rect">
              <a:avLst/>
            </a:prstGeom>
            <a:solidFill>
              <a:srgbClr val="2A3A5C"/>
            </a:solidFill>
            <a:ln>
              <a:noFill/>
            </a:ln>
          </p:spPr>
        </p:sp>
        <p:sp>
          <p:nvSpPr>
            <p:cNvPr id="17" name="TextBox 17"/>
            <p:cNvSpPr txBox="1"/>
            <p:nvPr/>
          </p:nvSpPr>
          <p:spPr>
            <a:xfrm>
              <a:off x="1383625" y="2847499"/>
              <a:ext cx="1804749" cy="198120"/>
            </a:xfrm>
            <a:prstGeom prst="rect">
              <a:avLst/>
            </a:prstGeom>
            <a:noFill/>
            <a:ln>
              <a:noFill/>
            </a:ln>
          </p:spPr>
          <p:txBody>
            <a:bodyPr wrap="none" lIns="0" tIns="0" rIns="0" bIns="0" anchor="t" anchorCtr="0">
              <a:spAutoFit/>
            </a:bodyPr>
            <a:lstStyle/>
            <a:p>
              <a:pPr algn="ctr"/>
              <a:r>
                <a:rPr lang="zh-CN" sz="975" dirty="0">
                  <a:solidFill>
                    <a:srgbClr val="8899BB"/>
                  </a:solidFill>
                  <a:latin typeface="Arial"/>
                  <a:ea typeface="Microsoft YaHei"/>
                  <a:cs typeface="Arial"/>
                </a:rPr>
                <a:t>AI supercycle accelerates</a:t>
              </a:r>
            </a:p>
          </p:txBody>
        </p:sp>
        <p:sp>
          <p:nvSpPr>
            <p:cNvPr id="18" name="TextBox 18"/>
            <p:cNvSpPr txBox="1"/>
            <p:nvPr/>
          </p:nvSpPr>
          <p:spPr>
            <a:xfrm>
              <a:off x="1216307" y="3037999"/>
              <a:ext cx="2139386" cy="198120"/>
            </a:xfrm>
            <a:prstGeom prst="rect">
              <a:avLst/>
            </a:prstGeom>
            <a:noFill/>
            <a:ln>
              <a:noFill/>
            </a:ln>
          </p:spPr>
          <p:txBody>
            <a:bodyPr wrap="none" lIns="0" tIns="0" rIns="0" bIns="0" anchor="t" anchorCtr="0">
              <a:spAutoFit/>
            </a:bodyPr>
            <a:lstStyle/>
            <a:p>
              <a:pPr algn="ctr"/>
              <a:r>
                <a:rPr lang="zh-CN" sz="975" dirty="0">
                  <a:solidFill>
                    <a:srgbClr val="8899BB"/>
                  </a:solidFill>
                  <a:latin typeface="Arial"/>
                  <a:ea typeface="Microsoft YaHei"/>
                  <a:cs typeface="Arial"/>
                </a:rPr>
                <a:t>HBM shortage drives MU upside</a:t>
              </a:r>
            </a:p>
          </p:txBody>
        </p:sp>
        <p:sp>
          <p:nvSpPr>
            <p:cNvPr id="19" name="TextBox 19"/>
            <p:cNvSpPr txBox="1"/>
            <p:nvPr/>
          </p:nvSpPr>
          <p:spPr>
            <a:xfrm>
              <a:off x="1372945" y="3247549"/>
              <a:ext cx="1826109" cy="198120"/>
            </a:xfrm>
            <a:prstGeom prst="rect">
              <a:avLst/>
            </a:prstGeom>
            <a:noFill/>
            <a:ln>
              <a:noFill/>
            </a:ln>
          </p:spPr>
          <p:txBody>
            <a:bodyPr wrap="none" lIns="0" tIns="0" rIns="0" bIns="0" anchor="t" anchorCtr="0">
              <a:spAutoFit/>
            </a:bodyPr>
            <a:lstStyle/>
            <a:p>
              <a:pPr algn="ctr"/>
              <a:r>
                <a:rPr lang="zh-CN" sz="975" dirty="0">
                  <a:solidFill>
                    <a:srgbClr val="8899BB"/>
                  </a:solidFill>
                  <a:latin typeface="Arial"/>
                  <a:ea typeface="Microsoft YaHei"/>
                  <a:cs typeface="Arial"/>
                </a:rPr>
                <a:t>NVDA/AVGO earnings beats</a:t>
              </a:r>
            </a:p>
          </p:txBody>
        </p:sp>
        <p:sp>
          <p:nvSpPr>
            <p:cNvPr id="20" name="TextBox 20"/>
            <p:cNvSpPr txBox="1"/>
            <p:nvPr/>
          </p:nvSpPr>
          <p:spPr>
            <a:xfrm>
              <a:off x="1469065" y="3457099"/>
              <a:ext cx="1633871" cy="198120"/>
            </a:xfrm>
            <a:prstGeom prst="rect">
              <a:avLst/>
            </a:prstGeom>
            <a:noFill/>
            <a:ln>
              <a:noFill/>
            </a:ln>
          </p:spPr>
          <p:txBody>
            <a:bodyPr wrap="none" lIns="0" tIns="0" rIns="0" bIns="0" anchor="t" anchorCtr="0">
              <a:spAutoFit/>
            </a:bodyPr>
            <a:lstStyle/>
            <a:p>
              <a:pPr algn="ctr"/>
              <a:r>
                <a:rPr lang="zh-CN" sz="975" dirty="0">
                  <a:solidFill>
                    <a:srgbClr val="8899BB"/>
                  </a:solidFill>
                  <a:latin typeface="Arial"/>
                  <a:ea typeface="Microsoft YaHei"/>
                  <a:cs typeface="Arial"/>
                </a:rPr>
                <a:t>No new export controls</a:t>
              </a:r>
            </a:p>
          </p:txBody>
        </p:sp>
        <p:sp>
          <p:nvSpPr>
            <p:cNvPr id="21" name="Rectangle 21"/>
            <p:cNvSpPr/>
            <p:nvPr/>
          </p:nvSpPr>
          <p:spPr>
            <a:xfrm>
              <a:off x="952500" y="3790950"/>
              <a:ext cx="2667000" cy="9525"/>
            </a:xfrm>
            <a:prstGeom prst="rect">
              <a:avLst/>
            </a:prstGeom>
            <a:solidFill>
              <a:srgbClr val="2A3A5C"/>
            </a:solidFill>
            <a:ln>
              <a:noFill/>
            </a:ln>
          </p:spPr>
        </p:sp>
        <p:sp>
          <p:nvSpPr>
            <p:cNvPr id="22" name="TextBox 22"/>
            <p:cNvSpPr txBox="1"/>
            <p:nvPr/>
          </p:nvSpPr>
          <p:spPr>
            <a:xfrm>
              <a:off x="1899821" y="4009549"/>
              <a:ext cx="772358" cy="198120"/>
            </a:xfrm>
            <a:prstGeom prst="rect">
              <a:avLst/>
            </a:prstGeom>
            <a:noFill/>
            <a:ln>
              <a:noFill/>
            </a:ln>
          </p:spPr>
          <p:txBody>
            <a:bodyPr wrap="none" lIns="0" tIns="0" rIns="0" bIns="0" anchor="t" anchorCtr="0">
              <a:spAutoFit/>
            </a:bodyPr>
            <a:lstStyle/>
            <a:p>
              <a:pPr algn="ctr"/>
              <a:r>
                <a:rPr lang="zh-CN" sz="975" b="1" dirty="0">
                  <a:solidFill>
                    <a:srgbClr val="4A90D9"/>
                  </a:solidFill>
                  <a:latin typeface="Arial"/>
                  <a:ea typeface="Microsoft YaHei"/>
                  <a:cs typeface="Arial"/>
                </a:rPr>
                <a:t>KEY DRIVER</a:t>
              </a:r>
            </a:p>
          </p:txBody>
        </p:sp>
        <p:sp>
          <p:nvSpPr>
            <p:cNvPr id="23" name="TextBox 23"/>
            <p:cNvSpPr txBox="1"/>
            <p:nvPr/>
          </p:nvSpPr>
          <p:spPr>
            <a:xfrm>
              <a:off x="1344466" y="4219099"/>
              <a:ext cx="1883069" cy="198120"/>
            </a:xfrm>
            <a:prstGeom prst="rect">
              <a:avLst/>
            </a:prstGeom>
            <a:noFill/>
            <a:ln>
              <a:noFill/>
            </a:ln>
          </p:spPr>
          <p:txBody>
            <a:bodyPr wrap="none" lIns="0" tIns="0" rIns="0" bIns="0" anchor="t" anchorCtr="0">
              <a:spAutoFit/>
            </a:bodyPr>
            <a:lstStyle/>
            <a:p>
              <a:pPr algn="ctr"/>
              <a:r>
                <a:rPr lang="zh-CN" sz="975" dirty="0">
                  <a:solidFill>
                    <a:srgbClr val="E8EAF0"/>
                  </a:solidFill>
                  <a:latin typeface="Arial"/>
                  <a:ea typeface="Microsoft YaHei"/>
                  <a:cs typeface="Arial"/>
                </a:rPr>
                <a:t>Hyperscaler CapEx holds or</a:t>
              </a:r>
            </a:p>
          </p:txBody>
        </p:sp>
        <p:sp>
          <p:nvSpPr>
            <p:cNvPr id="24" name="TextBox 24"/>
            <p:cNvSpPr txBox="1"/>
            <p:nvPr/>
          </p:nvSpPr>
          <p:spPr>
            <a:xfrm>
              <a:off x="1191387" y="4409599"/>
              <a:ext cx="2189226" cy="198120"/>
            </a:xfrm>
            <a:prstGeom prst="rect">
              <a:avLst/>
            </a:prstGeom>
            <a:noFill/>
            <a:ln>
              <a:noFill/>
            </a:ln>
          </p:spPr>
          <p:txBody>
            <a:bodyPr wrap="none" lIns="0" tIns="0" rIns="0" bIns="0" anchor="t" anchorCtr="0">
              <a:spAutoFit/>
            </a:bodyPr>
            <a:lstStyle/>
            <a:p>
              <a:pPr algn="ctr"/>
              <a:r>
                <a:rPr lang="zh-CN" sz="975" dirty="0">
                  <a:solidFill>
                    <a:srgbClr val="E8EAF0"/>
                  </a:solidFill>
                  <a:latin typeface="Arial"/>
                  <a:ea typeface="Microsoft YaHei"/>
                  <a:cs typeface="Arial"/>
                </a:rPr>
                <a:t>accelerates through 2026–2027</a:t>
              </a:r>
            </a:p>
          </p:txBody>
        </p:sp>
      </p:grpSp>
      <p:grpSp>
        <p:nvGrpSpPr>
          <p:cNvPr id="42" name="Group 42"/>
          <p:cNvGrpSpPr/>
          <p:nvPr/>
        </p:nvGrpSpPr>
        <p:grpSpPr>
          <a:xfrm>
            <a:off x="4391025" y="838200"/>
            <a:ext cx="3409950" cy="5334000"/>
            <a:chOff x="4391025" y="838200"/>
            <a:chExt cx="3409950" cy="5334000"/>
          </a:xfrm>
        </p:grpSpPr>
        <p:sp>
          <p:nvSpPr>
            <p:cNvPr id="26" name="Rectangle 26"/>
            <p:cNvSpPr/>
            <p:nvPr/>
          </p:nvSpPr>
          <p:spPr>
            <a:xfrm>
              <a:off x="4391025" y="838200"/>
              <a:ext cx="3409950" cy="5334000"/>
            </a:xfrm>
            <a:prstGeom prst="roundRect">
              <a:avLst>
                <a:gd name="adj" fmla="val 1117"/>
              </a:avLst>
            </a:prstGeom>
            <a:solidFill>
              <a:srgbClr val="131B30"/>
            </a:solidFill>
            <a:ln>
              <a:noFill/>
            </a:ln>
          </p:spPr>
        </p:sp>
        <p:sp>
          <p:nvSpPr>
            <p:cNvPr id="27" name="Rectangle 27"/>
            <p:cNvSpPr/>
            <p:nvPr/>
          </p:nvSpPr>
          <p:spPr>
            <a:xfrm>
              <a:off x="4391025" y="838200"/>
              <a:ext cx="3409950" cy="38100"/>
            </a:xfrm>
            <a:prstGeom prst="rect">
              <a:avLst/>
            </a:prstGeom>
            <a:solidFill>
              <a:srgbClr val="4A90D9"/>
            </a:solidFill>
            <a:ln>
              <a:noFill/>
            </a:ln>
          </p:spPr>
        </p:sp>
        <p:sp>
          <p:nvSpPr>
            <p:cNvPr id="28" name="TextBox 28"/>
            <p:cNvSpPr txBox="1"/>
            <p:nvPr/>
          </p:nvSpPr>
          <p:spPr>
            <a:xfrm>
              <a:off x="5592344" y="1111568"/>
              <a:ext cx="1007312" cy="274320"/>
            </a:xfrm>
            <a:prstGeom prst="rect">
              <a:avLst/>
            </a:prstGeom>
            <a:noFill/>
            <a:ln>
              <a:noFill/>
            </a:ln>
          </p:spPr>
          <p:txBody>
            <a:bodyPr wrap="none" lIns="0" tIns="0" rIns="0" bIns="0" anchor="t" anchorCtr="0">
              <a:spAutoFit/>
            </a:bodyPr>
            <a:lstStyle/>
            <a:p>
              <a:pPr algn="ctr"/>
              <a:r>
                <a:rPr lang="zh-CN" sz="1350" b="1" dirty="0">
                  <a:solidFill>
                    <a:srgbClr val="4A90D9"/>
                  </a:solidFill>
                  <a:latin typeface="Arial"/>
                  <a:ea typeface="Microsoft YaHei"/>
                  <a:cs typeface="Arial"/>
                </a:rPr>
                <a:t>BASE CASE</a:t>
              </a:r>
            </a:p>
          </p:txBody>
        </p:sp>
        <p:sp>
          <p:nvSpPr>
            <p:cNvPr id="29" name="Rectangle 29"/>
            <p:cNvSpPr/>
            <p:nvPr/>
          </p:nvSpPr>
          <p:spPr>
            <a:xfrm>
              <a:off x="5334000" y="1390650"/>
              <a:ext cx="1524000" cy="266700"/>
            </a:xfrm>
            <a:prstGeom prst="roundRect">
              <a:avLst>
                <a:gd name="adj" fmla="val 50000"/>
              </a:avLst>
            </a:prstGeom>
            <a:solidFill>
              <a:srgbClr val="1A2540"/>
            </a:solidFill>
            <a:ln>
              <a:noFill/>
            </a:ln>
          </p:spPr>
        </p:sp>
        <p:sp>
          <p:nvSpPr>
            <p:cNvPr id="30" name="TextBox 30"/>
            <p:cNvSpPr txBox="1"/>
            <p:nvPr/>
          </p:nvSpPr>
          <p:spPr>
            <a:xfrm>
              <a:off x="5498967" y="1458278"/>
              <a:ext cx="1194066" cy="213360"/>
            </a:xfrm>
            <a:prstGeom prst="rect">
              <a:avLst/>
            </a:prstGeom>
            <a:noFill/>
            <a:ln>
              <a:noFill/>
            </a:ln>
          </p:spPr>
          <p:txBody>
            <a:bodyPr wrap="none" lIns="0" tIns="0" rIns="0" bIns="0" anchor="t" anchorCtr="0">
              <a:spAutoFit/>
            </a:bodyPr>
            <a:lstStyle/>
            <a:p>
              <a:pPr algn="ctr"/>
              <a:r>
                <a:rPr lang="zh-CN" sz="1050" b="1" dirty="0">
                  <a:solidFill>
                    <a:srgbClr val="4A90D9"/>
                  </a:solidFill>
                  <a:latin typeface="Arial"/>
                  <a:ea typeface="Microsoft YaHei"/>
                  <a:cs typeface="Arial"/>
                </a:rPr>
                <a:t>50% Probability</a:t>
              </a:r>
            </a:p>
          </p:txBody>
        </p:sp>
        <p:sp>
          <p:nvSpPr>
            <p:cNvPr id="31" name="TextBox 31"/>
            <p:cNvSpPr txBox="1"/>
            <p:nvPr/>
          </p:nvSpPr>
          <p:spPr>
            <a:xfrm>
              <a:off x="5388588" y="1674495"/>
              <a:ext cx="1414824" cy="792480"/>
            </a:xfrm>
            <a:prstGeom prst="rect">
              <a:avLst/>
            </a:prstGeom>
            <a:noFill/>
            <a:ln>
              <a:noFill/>
            </a:ln>
          </p:spPr>
          <p:txBody>
            <a:bodyPr wrap="none" lIns="0" tIns="0" rIns="0" bIns="0" anchor="t" anchorCtr="0">
              <a:spAutoFit/>
            </a:bodyPr>
            <a:lstStyle/>
            <a:p>
              <a:pPr algn="ctr"/>
              <a:r>
                <a:rPr lang="zh-CN" sz="3900" b="1" dirty="0">
                  <a:solidFill>
                    <a:srgbClr val="F5C842"/>
                  </a:solidFill>
                  <a:latin typeface="Arial"/>
                  <a:ea typeface="Microsoft YaHei"/>
                  <a:cs typeface="Arial"/>
                </a:rPr>
                <a:t>$420</a:t>
              </a:r>
            </a:p>
          </p:txBody>
        </p:sp>
        <p:sp>
          <p:nvSpPr>
            <p:cNvPr id="32" name="TextBox 32"/>
            <p:cNvSpPr txBox="1"/>
            <p:nvPr/>
          </p:nvSpPr>
          <p:spPr>
            <a:xfrm>
              <a:off x="5693593" y="2244090"/>
              <a:ext cx="804815" cy="365760"/>
            </a:xfrm>
            <a:prstGeom prst="rect">
              <a:avLst/>
            </a:prstGeom>
            <a:noFill/>
            <a:ln>
              <a:noFill/>
            </a:ln>
          </p:spPr>
          <p:txBody>
            <a:bodyPr wrap="none" lIns="0" tIns="0" rIns="0" bIns="0" anchor="t" anchorCtr="0">
              <a:spAutoFit/>
            </a:bodyPr>
            <a:lstStyle/>
            <a:p>
              <a:pPr algn="ctr"/>
              <a:r>
                <a:rPr lang="zh-CN" sz="1800" b="1" dirty="0">
                  <a:solidFill>
                    <a:srgbClr val="E05C5C"/>
                  </a:solidFill>
                  <a:latin typeface="Arial"/>
                  <a:ea typeface="Microsoft YaHei"/>
                  <a:cs typeface="Arial"/>
                </a:rPr>
                <a:t>-8.9%</a:t>
              </a:r>
            </a:p>
          </p:txBody>
        </p:sp>
        <p:sp>
          <p:nvSpPr>
            <p:cNvPr id="33" name="Rectangle 33"/>
            <p:cNvSpPr/>
            <p:nvPr/>
          </p:nvSpPr>
          <p:spPr>
            <a:xfrm>
              <a:off x="4772025" y="2590800"/>
              <a:ext cx="2667000" cy="9525"/>
            </a:xfrm>
            <a:prstGeom prst="rect">
              <a:avLst/>
            </a:prstGeom>
            <a:solidFill>
              <a:srgbClr val="2A3A5C"/>
            </a:solidFill>
            <a:ln>
              <a:noFill/>
            </a:ln>
          </p:spPr>
        </p:sp>
        <p:sp>
          <p:nvSpPr>
            <p:cNvPr id="34" name="TextBox 34"/>
            <p:cNvSpPr txBox="1"/>
            <p:nvPr/>
          </p:nvSpPr>
          <p:spPr>
            <a:xfrm>
              <a:off x="5040547" y="2847499"/>
              <a:ext cx="2110907" cy="198120"/>
            </a:xfrm>
            <a:prstGeom prst="rect">
              <a:avLst/>
            </a:prstGeom>
            <a:noFill/>
            <a:ln>
              <a:noFill/>
            </a:ln>
          </p:spPr>
          <p:txBody>
            <a:bodyPr wrap="none" lIns="0" tIns="0" rIns="0" bIns="0" anchor="t" anchorCtr="0">
              <a:spAutoFit/>
            </a:bodyPr>
            <a:lstStyle/>
            <a:p>
              <a:pPr algn="ctr"/>
              <a:r>
                <a:rPr lang="zh-CN" sz="975" dirty="0">
                  <a:solidFill>
                    <a:srgbClr val="8899BB"/>
                  </a:solidFill>
                  <a:latin typeface="Arial"/>
                  <a:ea typeface="Microsoft YaHei"/>
                  <a:cs typeface="Arial"/>
                </a:rPr>
                <a:t>Semiconductor cycle digestion</a:t>
              </a:r>
            </a:p>
          </p:txBody>
        </p:sp>
        <p:sp>
          <p:nvSpPr>
            <p:cNvPr id="35" name="TextBox 35"/>
            <p:cNvSpPr txBox="1"/>
            <p:nvPr/>
          </p:nvSpPr>
          <p:spPr>
            <a:xfrm>
              <a:off x="4912388" y="3037999"/>
              <a:ext cx="2367224" cy="198120"/>
            </a:xfrm>
            <a:prstGeom prst="rect">
              <a:avLst/>
            </a:prstGeom>
            <a:noFill/>
            <a:ln>
              <a:noFill/>
            </a:ln>
          </p:spPr>
          <p:txBody>
            <a:bodyPr wrap="none" lIns="0" tIns="0" rIns="0" bIns="0" anchor="t" anchorCtr="0">
              <a:spAutoFit/>
            </a:bodyPr>
            <a:lstStyle/>
            <a:p>
              <a:pPr algn="ctr"/>
              <a:r>
                <a:rPr lang="zh-CN" sz="975" dirty="0">
                  <a:solidFill>
                    <a:srgbClr val="8899BB"/>
                  </a:solidFill>
                  <a:latin typeface="Arial"/>
                  <a:ea typeface="Microsoft YaHei"/>
                  <a:cs typeface="Arial"/>
                </a:rPr>
                <a:t>AI build continues but decelerates</a:t>
              </a:r>
            </a:p>
          </p:txBody>
        </p:sp>
        <p:sp>
          <p:nvSpPr>
            <p:cNvPr id="36" name="TextBox 36"/>
            <p:cNvSpPr txBox="1"/>
            <p:nvPr/>
          </p:nvSpPr>
          <p:spPr>
            <a:xfrm>
              <a:off x="5232785" y="3247549"/>
              <a:ext cx="1726430" cy="198120"/>
            </a:xfrm>
            <a:prstGeom prst="rect">
              <a:avLst/>
            </a:prstGeom>
            <a:noFill/>
            <a:ln>
              <a:noFill/>
            </a:ln>
          </p:spPr>
          <p:txBody>
            <a:bodyPr wrap="none" lIns="0" tIns="0" rIns="0" bIns="0" anchor="t" anchorCtr="0">
              <a:spAutoFit/>
            </a:bodyPr>
            <a:lstStyle/>
            <a:p>
              <a:pPr algn="ctr"/>
              <a:r>
                <a:rPr lang="zh-CN" sz="975" dirty="0">
                  <a:solidFill>
                    <a:srgbClr val="8899BB"/>
                  </a:solidFill>
                  <a:latin typeface="Arial"/>
                  <a:ea typeface="Microsoft YaHei"/>
                  <a:cs typeface="Arial"/>
                </a:rPr>
                <a:t>Stock prices consolidate</a:t>
              </a:r>
            </a:p>
          </p:txBody>
        </p:sp>
        <p:sp>
          <p:nvSpPr>
            <p:cNvPr id="37" name="TextBox 37"/>
            <p:cNvSpPr txBox="1"/>
            <p:nvPr/>
          </p:nvSpPr>
          <p:spPr>
            <a:xfrm>
              <a:off x="4901708" y="3457099"/>
              <a:ext cx="2388584" cy="198120"/>
            </a:xfrm>
            <a:prstGeom prst="rect">
              <a:avLst/>
            </a:prstGeom>
            <a:noFill/>
            <a:ln>
              <a:noFill/>
            </a:ln>
          </p:spPr>
          <p:txBody>
            <a:bodyPr wrap="none" lIns="0" tIns="0" rIns="0" bIns="0" anchor="t" anchorCtr="0">
              <a:spAutoFit/>
            </a:bodyPr>
            <a:lstStyle/>
            <a:p>
              <a:pPr algn="ctr"/>
              <a:r>
                <a:rPr lang="zh-CN" sz="975" dirty="0">
                  <a:solidFill>
                    <a:srgbClr val="8899BB"/>
                  </a:solidFill>
                  <a:latin typeface="Arial"/>
                  <a:ea typeface="Microsoft YaHei"/>
                  <a:cs typeface="Arial"/>
                </a:rPr>
                <a:t>No major export control expansion</a:t>
              </a:r>
            </a:p>
          </p:txBody>
        </p:sp>
        <p:sp>
          <p:nvSpPr>
            <p:cNvPr id="38" name="Rectangle 38"/>
            <p:cNvSpPr/>
            <p:nvPr/>
          </p:nvSpPr>
          <p:spPr>
            <a:xfrm>
              <a:off x="4772025" y="3790950"/>
              <a:ext cx="2667000" cy="9525"/>
            </a:xfrm>
            <a:prstGeom prst="rect">
              <a:avLst/>
            </a:prstGeom>
            <a:solidFill>
              <a:srgbClr val="2A3A5C"/>
            </a:solidFill>
            <a:ln>
              <a:noFill/>
            </a:ln>
          </p:spPr>
        </p:sp>
        <p:sp>
          <p:nvSpPr>
            <p:cNvPr id="39" name="TextBox 39"/>
            <p:cNvSpPr txBox="1"/>
            <p:nvPr/>
          </p:nvSpPr>
          <p:spPr>
            <a:xfrm>
              <a:off x="5709821" y="4009549"/>
              <a:ext cx="772358" cy="198120"/>
            </a:xfrm>
            <a:prstGeom prst="rect">
              <a:avLst/>
            </a:prstGeom>
            <a:noFill/>
            <a:ln>
              <a:noFill/>
            </a:ln>
          </p:spPr>
          <p:txBody>
            <a:bodyPr wrap="none" lIns="0" tIns="0" rIns="0" bIns="0" anchor="t" anchorCtr="0">
              <a:spAutoFit/>
            </a:bodyPr>
            <a:lstStyle/>
            <a:p>
              <a:pPr algn="ctr"/>
              <a:r>
                <a:rPr lang="zh-CN" sz="975" b="1" dirty="0">
                  <a:solidFill>
                    <a:srgbClr val="4A90D9"/>
                  </a:solidFill>
                  <a:latin typeface="Arial"/>
                  <a:ea typeface="Microsoft YaHei"/>
                  <a:cs typeface="Arial"/>
                </a:rPr>
                <a:t>KEY DRIVER</a:t>
              </a:r>
            </a:p>
          </p:txBody>
        </p:sp>
        <p:sp>
          <p:nvSpPr>
            <p:cNvPr id="40" name="TextBox 40"/>
            <p:cNvSpPr txBox="1"/>
            <p:nvPr/>
          </p:nvSpPr>
          <p:spPr>
            <a:xfrm>
              <a:off x="5058347" y="4219099"/>
              <a:ext cx="2075307" cy="198120"/>
            </a:xfrm>
            <a:prstGeom prst="rect">
              <a:avLst/>
            </a:prstGeom>
            <a:noFill/>
            <a:ln>
              <a:noFill/>
            </a:ln>
          </p:spPr>
          <p:txBody>
            <a:bodyPr wrap="none" lIns="0" tIns="0" rIns="0" bIns="0" anchor="t" anchorCtr="0">
              <a:spAutoFit/>
            </a:bodyPr>
            <a:lstStyle/>
            <a:p>
              <a:pPr algn="ctr"/>
              <a:r>
                <a:rPr lang="zh-CN" sz="975" dirty="0">
                  <a:solidFill>
                    <a:srgbClr val="E8EAF0"/>
                  </a:solidFill>
                  <a:latin typeface="Arial"/>
                  <a:ea typeface="Microsoft YaHei"/>
                  <a:cs typeface="Arial"/>
                </a:rPr>
                <a:t>Market mean-reverts toward</a:t>
              </a:r>
            </a:p>
          </p:txBody>
        </p:sp>
        <p:sp>
          <p:nvSpPr>
            <p:cNvPr id="41" name="TextBox 41"/>
            <p:cNvSpPr txBox="1"/>
            <p:nvPr/>
          </p:nvSpPr>
          <p:spPr>
            <a:xfrm>
              <a:off x="5239905" y="4409599"/>
              <a:ext cx="1712190" cy="198120"/>
            </a:xfrm>
            <a:prstGeom prst="rect">
              <a:avLst/>
            </a:prstGeom>
            <a:noFill/>
            <a:ln>
              <a:noFill/>
            </a:ln>
          </p:spPr>
          <p:txBody>
            <a:bodyPr wrap="none" lIns="0" tIns="0" rIns="0" bIns="0" anchor="t" anchorCtr="0">
              <a:spAutoFit/>
            </a:bodyPr>
            <a:lstStyle/>
            <a:p>
              <a:pPr algn="ctr"/>
              <a:r>
                <a:rPr lang="zh-CN" sz="975" dirty="0">
                  <a:solidFill>
                    <a:srgbClr val="E8EAF0"/>
                  </a:solidFill>
                  <a:latin typeface="Arial"/>
                  <a:ea typeface="Microsoft YaHei"/>
                  <a:cs typeface="Arial"/>
                </a:rPr>
                <a:t>MA50 ($368) during 2026</a:t>
              </a:r>
            </a:p>
          </p:txBody>
        </p:sp>
      </p:grpSp>
      <p:grpSp>
        <p:nvGrpSpPr>
          <p:cNvPr id="59" name="Group 59"/>
          <p:cNvGrpSpPr/>
          <p:nvPr/>
        </p:nvGrpSpPr>
        <p:grpSpPr>
          <a:xfrm>
            <a:off x="8210550" y="838200"/>
            <a:ext cx="3409950" cy="5334000"/>
            <a:chOff x="8210550" y="838200"/>
            <a:chExt cx="3409950" cy="5334000"/>
          </a:xfrm>
        </p:grpSpPr>
        <p:sp>
          <p:nvSpPr>
            <p:cNvPr id="43" name="Rectangle 43"/>
            <p:cNvSpPr/>
            <p:nvPr/>
          </p:nvSpPr>
          <p:spPr>
            <a:xfrm>
              <a:off x="8210550" y="838200"/>
              <a:ext cx="3409950" cy="5334000"/>
            </a:xfrm>
            <a:prstGeom prst="roundRect">
              <a:avLst>
                <a:gd name="adj" fmla="val 1117"/>
              </a:avLst>
            </a:prstGeom>
            <a:solidFill>
              <a:srgbClr val="131B30"/>
            </a:solidFill>
            <a:ln>
              <a:noFill/>
            </a:ln>
          </p:spPr>
        </p:sp>
        <p:sp>
          <p:nvSpPr>
            <p:cNvPr id="44" name="Rectangle 44"/>
            <p:cNvSpPr/>
            <p:nvPr/>
          </p:nvSpPr>
          <p:spPr>
            <a:xfrm>
              <a:off x="8210550" y="838200"/>
              <a:ext cx="3409950" cy="38100"/>
            </a:xfrm>
            <a:prstGeom prst="rect">
              <a:avLst/>
            </a:prstGeom>
            <a:solidFill>
              <a:srgbClr val="E05C5C"/>
            </a:solidFill>
            <a:ln>
              <a:noFill/>
            </a:ln>
          </p:spPr>
        </p:sp>
        <p:sp>
          <p:nvSpPr>
            <p:cNvPr id="45" name="TextBox 45"/>
            <p:cNvSpPr txBox="1"/>
            <p:nvPr/>
          </p:nvSpPr>
          <p:spPr>
            <a:xfrm>
              <a:off x="9411869" y="1111568"/>
              <a:ext cx="1007312" cy="274320"/>
            </a:xfrm>
            <a:prstGeom prst="rect">
              <a:avLst/>
            </a:prstGeom>
            <a:noFill/>
            <a:ln>
              <a:noFill/>
            </a:ln>
          </p:spPr>
          <p:txBody>
            <a:bodyPr wrap="none" lIns="0" tIns="0" rIns="0" bIns="0" anchor="t" anchorCtr="0">
              <a:spAutoFit/>
            </a:bodyPr>
            <a:lstStyle/>
            <a:p>
              <a:pPr algn="ctr"/>
              <a:r>
                <a:rPr lang="zh-CN" sz="1350" b="1" dirty="0">
                  <a:solidFill>
                    <a:srgbClr val="E05C5C"/>
                  </a:solidFill>
                  <a:latin typeface="Arial"/>
                  <a:ea typeface="Microsoft YaHei"/>
                  <a:cs typeface="Arial"/>
                </a:rPr>
                <a:t>BEAR CASE</a:t>
              </a:r>
            </a:p>
          </p:txBody>
        </p:sp>
        <p:sp>
          <p:nvSpPr>
            <p:cNvPr id="46" name="Rectangle 46"/>
            <p:cNvSpPr/>
            <p:nvPr/>
          </p:nvSpPr>
          <p:spPr>
            <a:xfrm>
              <a:off x="9153525" y="1390650"/>
              <a:ext cx="1524000" cy="266700"/>
            </a:xfrm>
            <a:prstGeom prst="roundRect">
              <a:avLst>
                <a:gd name="adj" fmla="val 50000"/>
              </a:avLst>
            </a:prstGeom>
            <a:solidFill>
              <a:srgbClr val="3A1A1A"/>
            </a:solidFill>
            <a:ln>
              <a:noFill/>
            </a:ln>
          </p:spPr>
        </p:sp>
        <p:sp>
          <p:nvSpPr>
            <p:cNvPr id="47" name="TextBox 47"/>
            <p:cNvSpPr txBox="1"/>
            <p:nvPr/>
          </p:nvSpPr>
          <p:spPr>
            <a:xfrm>
              <a:off x="9318492" y="1458278"/>
              <a:ext cx="1194066" cy="213360"/>
            </a:xfrm>
            <a:prstGeom prst="rect">
              <a:avLst/>
            </a:prstGeom>
            <a:noFill/>
            <a:ln>
              <a:noFill/>
            </a:ln>
          </p:spPr>
          <p:txBody>
            <a:bodyPr wrap="none" lIns="0" tIns="0" rIns="0" bIns="0" anchor="t" anchorCtr="0">
              <a:spAutoFit/>
            </a:bodyPr>
            <a:lstStyle/>
            <a:p>
              <a:pPr algn="ctr"/>
              <a:r>
                <a:rPr lang="zh-CN" sz="1050" b="1" dirty="0">
                  <a:solidFill>
                    <a:srgbClr val="E05C5C"/>
                  </a:solidFill>
                  <a:latin typeface="Arial"/>
                  <a:ea typeface="Microsoft YaHei"/>
                  <a:cs typeface="Arial"/>
                </a:rPr>
                <a:t>25% Probability</a:t>
              </a:r>
            </a:p>
          </p:txBody>
        </p:sp>
        <p:sp>
          <p:nvSpPr>
            <p:cNvPr id="48" name="TextBox 48"/>
            <p:cNvSpPr txBox="1"/>
            <p:nvPr/>
          </p:nvSpPr>
          <p:spPr>
            <a:xfrm>
              <a:off x="9208113" y="1674495"/>
              <a:ext cx="1414824" cy="792480"/>
            </a:xfrm>
            <a:prstGeom prst="rect">
              <a:avLst/>
            </a:prstGeom>
            <a:noFill/>
            <a:ln>
              <a:noFill/>
            </a:ln>
          </p:spPr>
          <p:txBody>
            <a:bodyPr wrap="none" lIns="0" tIns="0" rIns="0" bIns="0" anchor="t" anchorCtr="0">
              <a:spAutoFit/>
            </a:bodyPr>
            <a:lstStyle/>
            <a:p>
              <a:pPr algn="ctr"/>
              <a:r>
                <a:rPr lang="zh-CN" sz="3900" b="1" dirty="0">
                  <a:solidFill>
                    <a:srgbClr val="F5C842"/>
                  </a:solidFill>
                  <a:latin typeface="Arial"/>
                  <a:ea typeface="Microsoft YaHei"/>
                  <a:cs typeface="Arial"/>
                </a:rPr>
                <a:t>$270</a:t>
              </a:r>
            </a:p>
          </p:txBody>
        </p:sp>
        <p:sp>
          <p:nvSpPr>
            <p:cNvPr id="49" name="TextBox 49"/>
            <p:cNvSpPr txBox="1"/>
            <p:nvPr/>
          </p:nvSpPr>
          <p:spPr>
            <a:xfrm>
              <a:off x="9471712" y="2244090"/>
              <a:ext cx="887625" cy="365760"/>
            </a:xfrm>
            <a:prstGeom prst="rect">
              <a:avLst/>
            </a:prstGeom>
            <a:noFill/>
            <a:ln>
              <a:noFill/>
            </a:ln>
          </p:spPr>
          <p:txBody>
            <a:bodyPr wrap="none" lIns="0" tIns="0" rIns="0" bIns="0" anchor="t" anchorCtr="0">
              <a:spAutoFit/>
            </a:bodyPr>
            <a:lstStyle/>
            <a:p>
              <a:pPr algn="ctr"/>
              <a:r>
                <a:rPr lang="zh-CN" sz="1800" b="1" dirty="0">
                  <a:solidFill>
                    <a:srgbClr val="E05C5C"/>
                  </a:solidFill>
                  <a:latin typeface="Arial"/>
                  <a:ea typeface="Microsoft YaHei"/>
                  <a:cs typeface="Arial"/>
                </a:rPr>
                <a:t>-41.5%</a:t>
              </a:r>
            </a:p>
          </p:txBody>
        </p:sp>
        <p:sp>
          <p:nvSpPr>
            <p:cNvPr id="50" name="Rectangle 50"/>
            <p:cNvSpPr/>
            <p:nvPr/>
          </p:nvSpPr>
          <p:spPr>
            <a:xfrm>
              <a:off x="8582025" y="2590800"/>
              <a:ext cx="2667000" cy="9525"/>
            </a:xfrm>
            <a:prstGeom prst="rect">
              <a:avLst/>
            </a:prstGeom>
            <a:solidFill>
              <a:srgbClr val="2A3A5C"/>
            </a:solidFill>
            <a:ln>
              <a:noFill/>
            </a:ln>
          </p:spPr>
        </p:sp>
        <p:sp>
          <p:nvSpPr>
            <p:cNvPr id="51" name="TextBox 51"/>
            <p:cNvSpPr txBox="1"/>
            <p:nvPr/>
          </p:nvSpPr>
          <p:spPr>
            <a:xfrm>
              <a:off x="8728353" y="2847499"/>
              <a:ext cx="2374344" cy="198120"/>
            </a:xfrm>
            <a:prstGeom prst="rect">
              <a:avLst/>
            </a:prstGeom>
            <a:noFill/>
            <a:ln>
              <a:noFill/>
            </a:ln>
          </p:spPr>
          <p:txBody>
            <a:bodyPr wrap="none" lIns="0" tIns="0" rIns="0" bIns="0" anchor="t" anchorCtr="0">
              <a:spAutoFit/>
            </a:bodyPr>
            <a:lstStyle/>
            <a:p>
              <a:pPr algn="ctr"/>
              <a:r>
                <a:rPr lang="zh-CN" sz="975" dirty="0">
                  <a:solidFill>
                    <a:srgbClr val="8899BB"/>
                  </a:solidFill>
                  <a:latin typeface="Arial"/>
                  <a:ea typeface="Microsoft YaHei"/>
                  <a:cs typeface="Arial"/>
                </a:rPr>
                <a:t>CapEx slowdown + export controls</a:t>
              </a:r>
            </a:p>
          </p:txBody>
        </p:sp>
        <p:sp>
          <p:nvSpPr>
            <p:cNvPr id="52" name="TextBox 52"/>
            <p:cNvSpPr txBox="1"/>
            <p:nvPr/>
          </p:nvSpPr>
          <p:spPr>
            <a:xfrm>
              <a:off x="9045190" y="3037999"/>
              <a:ext cx="1740670" cy="198120"/>
            </a:xfrm>
            <a:prstGeom prst="rect">
              <a:avLst/>
            </a:prstGeom>
            <a:noFill/>
            <a:ln>
              <a:noFill/>
            </a:ln>
          </p:spPr>
          <p:txBody>
            <a:bodyPr wrap="none" lIns="0" tIns="0" rIns="0" bIns="0" anchor="t" anchorCtr="0">
              <a:spAutoFit/>
            </a:bodyPr>
            <a:lstStyle/>
            <a:p>
              <a:pPr algn="ctr"/>
              <a:r>
                <a:rPr lang="zh-CN" sz="975" dirty="0">
                  <a:solidFill>
                    <a:srgbClr val="8899BB"/>
                  </a:solidFill>
                  <a:latin typeface="Arial"/>
                  <a:ea typeface="Microsoft YaHei"/>
                  <a:cs typeface="Arial"/>
                </a:rPr>
                <a:t>Memory oversupply cycle</a:t>
              </a:r>
            </a:p>
          </p:txBody>
        </p:sp>
        <p:sp>
          <p:nvSpPr>
            <p:cNvPr id="53" name="TextBox 53"/>
            <p:cNvSpPr txBox="1"/>
            <p:nvPr/>
          </p:nvSpPr>
          <p:spPr>
            <a:xfrm>
              <a:off x="9119949" y="3247549"/>
              <a:ext cx="1591151" cy="198120"/>
            </a:xfrm>
            <a:prstGeom prst="rect">
              <a:avLst/>
            </a:prstGeom>
            <a:noFill/>
            <a:ln>
              <a:noFill/>
            </a:ln>
          </p:spPr>
          <p:txBody>
            <a:bodyPr wrap="none" lIns="0" tIns="0" rIns="0" bIns="0" anchor="t" anchorCtr="0">
              <a:spAutoFit/>
            </a:bodyPr>
            <a:lstStyle/>
            <a:p>
              <a:pPr algn="ctr"/>
              <a:r>
                <a:rPr lang="zh-CN" sz="975" dirty="0">
                  <a:solidFill>
                    <a:srgbClr val="8899BB"/>
                  </a:solidFill>
                  <a:latin typeface="Arial"/>
                  <a:ea typeface="Microsoft YaHei"/>
                  <a:cs typeface="Arial"/>
                </a:rPr>
                <a:t>NVDA/MU guidance cuts</a:t>
              </a:r>
            </a:p>
          </p:txBody>
        </p:sp>
        <p:sp>
          <p:nvSpPr>
            <p:cNvPr id="54" name="TextBox 54"/>
            <p:cNvSpPr txBox="1"/>
            <p:nvPr/>
          </p:nvSpPr>
          <p:spPr>
            <a:xfrm>
              <a:off x="9098590" y="3457099"/>
              <a:ext cx="1633871" cy="198120"/>
            </a:xfrm>
            <a:prstGeom prst="rect">
              <a:avLst/>
            </a:prstGeom>
            <a:noFill/>
            <a:ln>
              <a:noFill/>
            </a:ln>
          </p:spPr>
          <p:txBody>
            <a:bodyPr wrap="none" lIns="0" tIns="0" rIns="0" bIns="0" anchor="t" anchorCtr="0">
              <a:spAutoFit/>
            </a:bodyPr>
            <a:lstStyle/>
            <a:p>
              <a:pPr algn="ctr"/>
              <a:r>
                <a:rPr lang="zh-CN" sz="975" dirty="0">
                  <a:solidFill>
                    <a:srgbClr val="8899BB"/>
                  </a:solidFill>
                  <a:latin typeface="Arial"/>
                  <a:ea typeface="Microsoft YaHei"/>
                  <a:cs typeface="Arial"/>
                </a:rPr>
                <a:t>Stage 4 breakdown risk</a:t>
              </a:r>
            </a:p>
          </p:txBody>
        </p:sp>
        <p:sp>
          <p:nvSpPr>
            <p:cNvPr id="55" name="Rectangle 55"/>
            <p:cNvSpPr/>
            <p:nvPr/>
          </p:nvSpPr>
          <p:spPr>
            <a:xfrm>
              <a:off x="8582025" y="3790950"/>
              <a:ext cx="2667000" cy="9525"/>
            </a:xfrm>
            <a:prstGeom prst="rect">
              <a:avLst/>
            </a:prstGeom>
            <a:solidFill>
              <a:srgbClr val="2A3A5C"/>
            </a:solidFill>
            <a:ln>
              <a:noFill/>
            </a:ln>
          </p:spPr>
        </p:sp>
        <p:sp>
          <p:nvSpPr>
            <p:cNvPr id="56" name="TextBox 56"/>
            <p:cNvSpPr txBox="1"/>
            <p:nvPr/>
          </p:nvSpPr>
          <p:spPr>
            <a:xfrm>
              <a:off x="9529346" y="4009549"/>
              <a:ext cx="772358" cy="198120"/>
            </a:xfrm>
            <a:prstGeom prst="rect">
              <a:avLst/>
            </a:prstGeom>
            <a:noFill/>
            <a:ln>
              <a:noFill/>
            </a:ln>
          </p:spPr>
          <p:txBody>
            <a:bodyPr wrap="none" lIns="0" tIns="0" rIns="0" bIns="0" anchor="t" anchorCtr="0">
              <a:spAutoFit/>
            </a:bodyPr>
            <a:lstStyle/>
            <a:p>
              <a:pPr algn="ctr"/>
              <a:r>
                <a:rPr lang="zh-CN" sz="975" b="1" dirty="0">
                  <a:solidFill>
                    <a:srgbClr val="4A90D9"/>
                  </a:solidFill>
                  <a:latin typeface="Arial"/>
                  <a:ea typeface="Microsoft YaHei"/>
                  <a:cs typeface="Arial"/>
                </a:rPr>
                <a:t>KEY DRIVER</a:t>
              </a:r>
            </a:p>
          </p:txBody>
        </p:sp>
        <p:sp>
          <p:nvSpPr>
            <p:cNvPr id="57" name="TextBox 57"/>
            <p:cNvSpPr txBox="1"/>
            <p:nvPr/>
          </p:nvSpPr>
          <p:spPr>
            <a:xfrm>
              <a:off x="8881431" y="4219099"/>
              <a:ext cx="2068187" cy="198120"/>
            </a:xfrm>
            <a:prstGeom prst="rect">
              <a:avLst/>
            </a:prstGeom>
            <a:noFill/>
            <a:ln>
              <a:noFill/>
            </a:ln>
          </p:spPr>
          <p:txBody>
            <a:bodyPr wrap="none" lIns="0" tIns="0" rIns="0" bIns="0" anchor="t" anchorCtr="0">
              <a:spAutoFit/>
            </a:bodyPr>
            <a:lstStyle/>
            <a:p>
              <a:pPr algn="ctr"/>
              <a:r>
                <a:rPr lang="zh-CN" sz="975" dirty="0">
                  <a:solidFill>
                    <a:srgbClr val="E8EAF0"/>
                  </a:solidFill>
                  <a:latin typeface="Arial"/>
                  <a:ea typeface="Microsoft YaHei"/>
                  <a:cs typeface="Arial"/>
                </a:rPr>
                <a:t>Hyperscaler CapEx cuts + new</a:t>
              </a:r>
            </a:p>
          </p:txBody>
        </p:sp>
        <p:sp>
          <p:nvSpPr>
            <p:cNvPr id="58" name="TextBox 58"/>
            <p:cNvSpPr txBox="1"/>
            <p:nvPr/>
          </p:nvSpPr>
          <p:spPr>
            <a:xfrm>
              <a:off x="8600194" y="4409599"/>
              <a:ext cx="2630662" cy="198120"/>
            </a:xfrm>
            <a:prstGeom prst="rect">
              <a:avLst/>
            </a:prstGeom>
            <a:noFill/>
            <a:ln>
              <a:noFill/>
            </a:ln>
          </p:spPr>
          <p:txBody>
            <a:bodyPr wrap="none" lIns="0" tIns="0" rIns="0" bIns="0" anchor="t" anchorCtr="0">
              <a:spAutoFit/>
            </a:bodyPr>
            <a:lstStyle/>
            <a:p>
              <a:pPr algn="ctr"/>
              <a:r>
                <a:rPr lang="zh-CN" sz="975" dirty="0">
                  <a:solidFill>
                    <a:srgbClr val="E8EAF0"/>
                  </a:solidFill>
                  <a:latin typeface="Arial"/>
                  <a:ea typeface="Microsoft YaHei"/>
                  <a:cs typeface="Arial"/>
                </a:rPr>
                <a:t>China entity list targeting AMAT/KLAC</a:t>
              </a:r>
            </a:p>
          </p:txBody>
        </p:sp>
      </p:grpSp>
      <p:grpSp>
        <p:nvGrpSpPr>
          <p:cNvPr id="62" name="Group 62"/>
          <p:cNvGrpSpPr/>
          <p:nvPr/>
        </p:nvGrpSpPr>
        <p:grpSpPr>
          <a:xfrm>
            <a:off x="571500" y="6096952"/>
            <a:ext cx="11049000" cy="213360"/>
            <a:chOff x="571500" y="6096952"/>
            <a:chExt cx="11049000" cy="213360"/>
          </a:xfrm>
        </p:grpSpPr>
        <p:sp>
          <p:nvSpPr>
            <p:cNvPr id="60" name="Rectangle 60"/>
            <p:cNvSpPr/>
            <p:nvPr/>
          </p:nvSpPr>
          <p:spPr>
            <a:xfrm>
              <a:off x="571500" y="6248400"/>
              <a:ext cx="11049000" cy="9525"/>
            </a:xfrm>
            <a:prstGeom prst="rect">
              <a:avLst/>
            </a:prstGeom>
            <a:solidFill>
              <a:srgbClr val="2A3A5C"/>
            </a:solidFill>
            <a:ln>
              <a:noFill/>
            </a:ln>
          </p:spPr>
        </p:sp>
        <p:sp>
          <p:nvSpPr>
            <p:cNvPr id="61" name="TextBox 61"/>
            <p:cNvSpPr txBox="1"/>
            <p:nvPr/>
          </p:nvSpPr>
          <p:spPr>
            <a:xfrm>
              <a:off x="2087832" y="6096952"/>
              <a:ext cx="8016335" cy="213360"/>
            </a:xfrm>
            <a:prstGeom prst="rect">
              <a:avLst/>
            </a:prstGeom>
            <a:noFill/>
            <a:ln>
              <a:noFill/>
            </a:ln>
          </p:spPr>
          <p:txBody>
            <a:bodyPr wrap="none" lIns="0" tIns="0" rIns="0" bIns="0" anchor="t" anchorCtr="0">
              <a:spAutoFit/>
            </a:bodyPr>
            <a:lstStyle/>
            <a:p>
              <a:pPr algn="ctr"/>
              <a:r>
                <a:rPr lang="zh-CN" sz="1050" dirty="0">
                  <a:solidFill>
                    <a:srgbClr val="8899BB"/>
                  </a:solidFill>
                  <a:latin typeface="Arial"/>
                  <a:ea typeface="Microsoft YaHei"/>
                  <a:cs typeface="Arial"/>
                </a:rPr>
                <a:t xml:space="preserve">Probability-Weighted Expected Value: 0.25×$580 + 0.50×$420 + 0.25×$270 = </a:t>
              </a:r>
              <a:r>
                <a:rPr lang="zh-CN" sz="1050" b="1" dirty="0">
                  <a:solidFill>
                    <a:srgbClr val="E05C5C"/>
                  </a:solidFill>
                  <a:latin typeface="Arial"/>
                  <a:ea typeface="Microsoft YaHei"/>
                  <a:cs typeface="Arial"/>
                </a:rPr>
                <a:t>$422.5</a:t>
              </a:r>
              <a:r>
                <a:rPr lang="zh-CN" sz="1050" dirty="0">
                  <a:solidFill>
                    <a:srgbClr val="8899BB"/>
                  </a:solidFill>
                  <a:latin typeface="Arial"/>
                  <a:ea typeface="Microsoft YaHei"/>
                  <a:cs typeface="Arial"/>
                </a:rPr>
                <a:t xml:space="preserve"> (-8.4% vs current $461)</a:t>
              </a:r>
            </a:p>
          </p:txBody>
        </p:sp>
      </p:grpSp>
      <p:grpSp>
        <p:nvGrpSpPr>
          <p:cNvPr id="67" name="Group 67"/>
          <p:cNvGrpSpPr/>
          <p:nvPr/>
        </p:nvGrpSpPr>
        <p:grpSpPr>
          <a:xfrm>
            <a:off x="0" y="6324600"/>
            <a:ext cx="12192000" cy="533400"/>
            <a:chOff x="0" y="6324600"/>
            <a:chExt cx="12192000" cy="533400"/>
          </a:xfrm>
        </p:grpSpPr>
        <p:sp>
          <p:nvSpPr>
            <p:cNvPr id="63" name="Rectangle 63"/>
            <p:cNvSpPr/>
            <p:nvPr/>
          </p:nvSpPr>
          <p:spPr>
            <a:xfrm>
              <a:off x="0" y="6324600"/>
              <a:ext cx="12192000" cy="533400"/>
            </a:xfrm>
            <a:prstGeom prst="rect">
              <a:avLst/>
            </a:prstGeom>
            <a:solidFill>
              <a:srgbClr val="131B30"/>
            </a:solidFill>
            <a:ln>
              <a:noFill/>
            </a:ln>
          </p:spPr>
        </p:sp>
        <p:sp>
          <p:nvSpPr>
            <p:cNvPr id="64" name="Rectangle 64"/>
            <p:cNvSpPr/>
            <p:nvPr/>
          </p:nvSpPr>
          <p:spPr>
            <a:xfrm>
              <a:off x="0" y="6324600"/>
              <a:ext cx="12192000" cy="9525"/>
            </a:xfrm>
            <a:prstGeom prst="rect">
              <a:avLst/>
            </a:prstGeom>
            <a:solidFill>
              <a:srgbClr val="F5C842">
                <a:alpha val="35000"/>
              </a:srgbClr>
            </a:solidFill>
            <a:ln>
              <a:noFill/>
            </a:ln>
          </p:spPr>
        </p:sp>
        <p:sp>
          <p:nvSpPr>
            <p:cNvPr id="65" name="TextBox 65"/>
            <p:cNvSpPr txBox="1"/>
            <p:nvPr/>
          </p:nvSpPr>
          <p:spPr>
            <a:xfrm>
              <a:off x="749618" y="6533674"/>
              <a:ext cx="1249394"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Scenarios &amp; Entry</a:t>
              </a:r>
            </a:p>
          </p:txBody>
        </p:sp>
        <p:sp>
          <p:nvSpPr>
            <p:cNvPr id="66" name="TextBox 66"/>
            <p:cNvSpPr txBox="1"/>
            <p:nvPr/>
          </p:nvSpPr>
          <p:spPr>
            <a:xfrm>
              <a:off x="11296579" y="6533674"/>
              <a:ext cx="145804" cy="198120"/>
            </a:xfrm>
            <a:prstGeom prst="rect">
              <a:avLst/>
            </a:prstGeom>
            <a:noFill/>
            <a:ln>
              <a:noFill/>
            </a:ln>
          </p:spPr>
          <p:txBody>
            <a:bodyPr wrap="none" lIns="0" tIns="0" rIns="0" bIns="0" anchor="t" anchorCtr="0">
              <a:spAutoFit/>
            </a:bodyPr>
            <a:lstStyle/>
            <a:p>
              <a:pPr algn="r"/>
              <a:r>
                <a:rPr lang="zh-CN" sz="975" dirty="0">
                  <a:solidFill>
                    <a:srgbClr val="8899BB"/>
                  </a:solidFill>
                  <a:latin typeface="Arial"/>
                  <a:ea typeface="Microsoft YaHei"/>
                  <a:cs typeface="Arial"/>
                </a:rPr>
                <a:t>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19" presetClass="entr" presetSubtype="0"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heel(1)">
                                      <p:cBhvr>
                                        <p:cTn id="11" dur="400"/>
                                        <p:tgtEl>
                                          <p:spTgt spid="25"/>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42"/>
                                        </p:tgtEl>
                                        <p:attrNameLst>
                                          <p:attrName>style.visibility</p:attrName>
                                        </p:attrNameLst>
                                      </p:cBhvr>
                                      <p:to>
                                        <p:strVal val="visible"/>
                                      </p:to>
                                    </p:set>
                                    <p:animEffect transition="in" filter="image">
                                      <p:cBhvr>
                                        <p:cTn id="15" dur="400"/>
                                        <p:tgtEl>
                                          <p:spTgt spid="42"/>
                                        </p:tgtEl>
                                      </p:cBhvr>
                                    </p:animEffect>
                                  </p:childTnLst>
                                </p:cTn>
                              </p:par>
                            </p:childTnLst>
                          </p:cTn>
                        </p:par>
                        <p:par>
                          <p:cTn id="16" fill="hold">
                            <p:stCondLst>
                              <p:cond delay="2700"/>
                            </p:stCondLst>
                            <p:childTnLst>
                              <p:par>
                                <p:cTn id="17" presetID="3" presetClass="entr" presetSubtype="10" fill="hold" nodeType="afterEffect">
                                  <p:stCondLst>
                                    <p:cond delay="0"/>
                                  </p:stCondLst>
                                  <p:childTnLst>
                                    <p:set>
                                      <p:cBhvr>
                                        <p:cTn id="18" dur="1" fill="hold">
                                          <p:stCondLst>
                                            <p:cond delay="0"/>
                                          </p:stCondLst>
                                        </p:cTn>
                                        <p:tgtEl>
                                          <p:spTgt spid="59"/>
                                        </p:tgtEl>
                                        <p:attrNameLst>
                                          <p:attrName>style.visibility</p:attrName>
                                        </p:attrNameLst>
                                      </p:cBhvr>
                                      <p:to>
                                        <p:strVal val="visible"/>
                                      </p:to>
                                    </p:set>
                                    <p:animEffect transition="in" filter="blinds(horizontal)">
                                      <p:cBhvr>
                                        <p:cTn id="19" dur="400"/>
                                        <p:tgtEl>
                                          <p:spTgt spid="59"/>
                                        </p:tgtEl>
                                      </p:cBhvr>
                                    </p:animEffect>
                                  </p:childTnLst>
                                </p:cTn>
                              </p:par>
                            </p:childTnLst>
                          </p:cTn>
                        </p:par>
                        <p:par>
                          <p:cTn id="20" fill="hold">
                            <p:stCondLst>
                              <p:cond delay="3600"/>
                            </p:stCondLst>
                            <p:childTnLst>
                              <p:par>
                                <p:cTn id="21" presetID="5" presetClass="entr" presetSubtype="6" fill="hold" nodeType="afterEffect">
                                  <p:stCondLst>
                                    <p:cond delay="0"/>
                                  </p:stCondLst>
                                  <p:childTnLst>
                                    <p:set>
                                      <p:cBhvr>
                                        <p:cTn id="22" dur="1" fill="hold">
                                          <p:stCondLst>
                                            <p:cond delay="0"/>
                                          </p:stCondLst>
                                        </p:cTn>
                                        <p:tgtEl>
                                          <p:spTgt spid="62"/>
                                        </p:tgtEl>
                                        <p:attrNameLst>
                                          <p:attrName>style.visibility</p:attrName>
                                        </p:attrNameLst>
                                      </p:cBhvr>
                                      <p:to>
                                        <p:strVal val="visible"/>
                                      </p:to>
                                    </p:set>
                                    <p:animEffect transition="in" filter="checkerboard(across)">
                                      <p:cBhvr>
                                        <p:cTn id="23" dur="400"/>
                                        <p:tgtEl>
                                          <p:spTgt spid="62"/>
                                        </p:tgtEl>
                                      </p:cBhvr>
                                    </p:animEffect>
                                  </p:childTnLst>
                                </p:cTn>
                              </p:par>
                            </p:childTnLst>
                          </p:cTn>
                        </p:par>
                        <p:par>
                          <p:cTn id="24" fill="hold">
                            <p:stCondLst>
                              <p:cond delay="4500"/>
                            </p:stCondLst>
                            <p:childTnLst>
                              <p:par>
                                <p:cTn id="25" presetID="9" presetClass="entr" presetSubtype="0" fill="hold" nodeType="afterEffect">
                                  <p:stCondLst>
                                    <p:cond delay="0"/>
                                  </p:stCondLst>
                                  <p:childTnLst>
                                    <p:set>
                                      <p:cBhvr>
                                        <p:cTn id="26" dur="1" fill="hold">
                                          <p:stCondLst>
                                            <p:cond delay="0"/>
                                          </p:stCondLst>
                                        </p:cTn>
                                        <p:tgtEl>
                                          <p:spTgt spid="67"/>
                                        </p:tgtEl>
                                        <p:attrNameLst>
                                          <p:attrName>style.visibility</p:attrName>
                                        </p:attrNameLst>
                                      </p:cBhvr>
                                      <p:to>
                                        <p:strVal val="visible"/>
                                      </p:to>
                                    </p:set>
                                    <p:animEffect transition="in" filter="dissolve">
                                      <p:cBhvr>
                                        <p:cTn id="27" dur="4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5" grpId="0"/>
      <p:bldP spid="42" grpId="0"/>
      <p:bldP spid="59" grpId="0"/>
      <p:bldP spid="62" grpId="0"/>
      <p:bldP spid="6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12192000" cy="38100"/>
            </a:xfrm>
            <a:prstGeom prst="rect">
              <a:avLst/>
            </a:prstGeom>
            <a:solidFill>
              <a:srgbClr val="F5C842"/>
            </a:solidFill>
            <a:ln>
              <a:noFill/>
            </a:ln>
          </p:spPr>
        </p:sp>
      </p:grpSp>
      <p:sp>
        <p:nvSpPr>
          <p:cNvPr id="5" name="TextBox 5"/>
          <p:cNvSpPr txBox="1"/>
          <p:nvPr/>
        </p:nvSpPr>
        <p:spPr>
          <a:xfrm>
            <a:off x="5350574" y="2743200"/>
            <a:ext cx="2633853" cy="4876800"/>
          </a:xfrm>
          <a:prstGeom prst="rect">
            <a:avLst/>
          </a:prstGeom>
          <a:noFill/>
          <a:ln>
            <a:noFill/>
          </a:ln>
        </p:spPr>
        <p:txBody>
          <a:bodyPr wrap="none" lIns="0" tIns="0" rIns="0" bIns="0" anchor="t" anchorCtr="0">
            <a:spAutoFit/>
          </a:bodyPr>
          <a:lstStyle/>
          <a:p>
            <a:pPr algn="ctr"/>
            <a:r>
              <a:rPr lang="zh-CN" sz="24000" b="1" dirty="0">
                <a:solidFill>
                  <a:srgbClr val="0F1628"/>
                </a:solidFill>
                <a:latin typeface="Arial"/>
                <a:ea typeface="Microsoft YaHei"/>
                <a:cs typeface="Arial"/>
              </a:rPr>
              <a:t>V</a:t>
            </a:r>
          </a:p>
        </p:txBody>
      </p:sp>
      <p:grpSp>
        <p:nvGrpSpPr>
          <p:cNvPr id="7" name="Group 7"/>
          <p:cNvGrpSpPr/>
          <p:nvPr/>
        </p:nvGrpSpPr>
        <p:grpSpPr>
          <a:xfrm>
            <a:off x="0" y="38100"/>
            <a:ext cx="38100" cy="6781800"/>
            <a:chOff x="0" y="38100"/>
            <a:chExt cx="38100" cy="6781800"/>
          </a:xfrm>
        </p:grpSpPr>
        <p:sp>
          <p:nvSpPr>
            <p:cNvPr id="6" name="Rectangle 6"/>
            <p:cNvSpPr/>
            <p:nvPr/>
          </p:nvSpPr>
          <p:spPr>
            <a:xfrm>
              <a:off x="0" y="38100"/>
              <a:ext cx="38100" cy="6781800"/>
            </a:xfrm>
            <a:prstGeom prst="rect">
              <a:avLst/>
            </a:prstGeom>
            <a:solidFill>
              <a:srgbClr val="F5C842"/>
            </a:solidFill>
            <a:ln>
              <a:noFill/>
            </a:ln>
          </p:spPr>
        </p:sp>
      </p:grpSp>
      <p:grpSp>
        <p:nvGrpSpPr>
          <p:cNvPr id="9" name="Group 9"/>
          <p:cNvGrpSpPr/>
          <p:nvPr/>
        </p:nvGrpSpPr>
        <p:grpSpPr>
          <a:xfrm>
            <a:off x="749618" y="2656999"/>
            <a:ext cx="727503" cy="198120"/>
            <a:chOff x="749618" y="2656999"/>
            <a:chExt cx="727503" cy="198120"/>
          </a:xfrm>
        </p:grpSpPr>
        <p:sp>
          <p:nvSpPr>
            <p:cNvPr id="8" name="TextBox 8"/>
            <p:cNvSpPr txBox="1"/>
            <p:nvPr/>
          </p:nvSpPr>
          <p:spPr>
            <a:xfrm>
              <a:off x="749618" y="2656999"/>
              <a:ext cx="727503" cy="198120"/>
            </a:xfrm>
            <a:prstGeom prst="rect">
              <a:avLst/>
            </a:prstGeom>
            <a:noFill/>
            <a:ln>
              <a:noFill/>
            </a:ln>
          </p:spPr>
          <p:txBody>
            <a:bodyPr wrap="none" lIns="0" tIns="0" rIns="0" bIns="0" anchor="t" anchorCtr="0">
              <a:spAutoFit/>
            </a:bodyPr>
            <a:lstStyle/>
            <a:p>
              <a:pPr algn="l"/>
              <a:r>
                <a:rPr lang="zh-CN" sz="975" b="1" dirty="0">
                  <a:solidFill>
                    <a:srgbClr val="F5C842"/>
                  </a:solidFill>
                  <a:latin typeface="Arial"/>
                  <a:ea typeface="Microsoft YaHei"/>
                  <a:cs typeface="Arial"/>
                </a:rPr>
                <a:t>CHAPTER V</a:t>
              </a:r>
            </a:p>
          </p:txBody>
        </p:sp>
      </p:grpSp>
      <p:grpSp>
        <p:nvGrpSpPr>
          <p:cNvPr id="11" name="Group 11"/>
          <p:cNvGrpSpPr/>
          <p:nvPr/>
        </p:nvGrpSpPr>
        <p:grpSpPr>
          <a:xfrm>
            <a:off x="712470" y="3007995"/>
            <a:ext cx="2431552" cy="792480"/>
            <a:chOff x="712470" y="3007995"/>
            <a:chExt cx="2431552" cy="792480"/>
          </a:xfrm>
        </p:grpSpPr>
        <p:sp>
          <p:nvSpPr>
            <p:cNvPr id="10" name="TextBox 10"/>
            <p:cNvSpPr txBox="1"/>
            <p:nvPr/>
          </p:nvSpPr>
          <p:spPr>
            <a:xfrm>
              <a:off x="712470" y="3007995"/>
              <a:ext cx="2431552" cy="792480"/>
            </a:xfrm>
            <a:prstGeom prst="rect">
              <a:avLst/>
            </a:prstGeom>
            <a:noFill/>
            <a:ln>
              <a:noFill/>
            </a:ln>
          </p:spPr>
          <p:txBody>
            <a:bodyPr wrap="none" lIns="0" tIns="0" rIns="0" bIns="0" anchor="t" anchorCtr="0">
              <a:spAutoFit/>
            </a:bodyPr>
            <a:lstStyle/>
            <a:p>
              <a:pPr algn="l"/>
              <a:r>
                <a:rPr lang="zh-CN" sz="3900" b="1" dirty="0">
                  <a:solidFill>
                    <a:srgbClr val="E8EAF0"/>
                  </a:solidFill>
                  <a:latin typeface="Arial"/>
                  <a:ea typeface="Microsoft YaHei"/>
                  <a:cs typeface="Arial"/>
                </a:rPr>
                <a:t>Decision</a:t>
              </a:r>
            </a:p>
          </p:txBody>
        </p:sp>
      </p:grpSp>
      <p:grpSp>
        <p:nvGrpSpPr>
          <p:cNvPr id="13" name="Group 13"/>
          <p:cNvGrpSpPr/>
          <p:nvPr/>
        </p:nvGrpSpPr>
        <p:grpSpPr>
          <a:xfrm>
            <a:off x="762000" y="3657600"/>
            <a:ext cx="4572000" cy="19050"/>
            <a:chOff x="762000" y="3657600"/>
            <a:chExt cx="4572000" cy="19050"/>
          </a:xfrm>
        </p:grpSpPr>
        <p:sp>
          <p:nvSpPr>
            <p:cNvPr id="12" name="Rectangle 12"/>
            <p:cNvSpPr/>
            <p:nvPr/>
          </p:nvSpPr>
          <p:spPr>
            <a:xfrm>
              <a:off x="762000" y="3657600"/>
              <a:ext cx="4572000" cy="19050"/>
            </a:xfrm>
            <a:prstGeom prst="rect">
              <a:avLst/>
            </a:prstGeom>
            <a:solidFill>
              <a:srgbClr val="F5C842"/>
            </a:solidFill>
            <a:ln>
              <a:noFill/>
            </a:ln>
          </p:spPr>
        </p:sp>
      </p:grpSp>
      <p:grpSp>
        <p:nvGrpSpPr>
          <p:cNvPr id="15" name="Group 15"/>
          <p:cNvGrpSpPr/>
          <p:nvPr/>
        </p:nvGrpSpPr>
        <p:grpSpPr>
          <a:xfrm>
            <a:off x="742950" y="3838575"/>
            <a:ext cx="2951798" cy="304800"/>
            <a:chOff x="742950" y="3838575"/>
            <a:chExt cx="2951798" cy="304800"/>
          </a:xfrm>
        </p:grpSpPr>
        <p:sp>
          <p:nvSpPr>
            <p:cNvPr id="14" name="TextBox 14"/>
            <p:cNvSpPr txBox="1"/>
            <p:nvPr/>
          </p:nvSpPr>
          <p:spPr>
            <a:xfrm>
              <a:off x="742950" y="3838575"/>
              <a:ext cx="2951798" cy="304800"/>
            </a:xfrm>
            <a:prstGeom prst="rect">
              <a:avLst/>
            </a:prstGeom>
            <a:noFill/>
            <a:ln>
              <a:noFill/>
            </a:ln>
          </p:spPr>
          <p:txBody>
            <a:bodyPr wrap="none" lIns="0" tIns="0" rIns="0" bIns="0" anchor="t" anchorCtr="0">
              <a:spAutoFit/>
            </a:bodyPr>
            <a:lstStyle/>
            <a:p>
              <a:pPr algn="l"/>
              <a:r>
                <a:rPr lang="zh-CN" sz="1500" dirty="0">
                  <a:solidFill>
                    <a:srgbClr val="8899BB"/>
                  </a:solidFill>
                  <a:latin typeface="Arial"/>
                  <a:ea typeface="Microsoft YaHei"/>
                  <a:cs typeface="Arial"/>
                </a:rPr>
                <a:t>Verdict &amp; Accumulation Plan</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slide(fromBottom)">
                                      <p:cBhvr>
                                        <p:cTn id="11" dur="400"/>
                                        <p:tgtEl>
                                          <p:spTgt spid="9"/>
                                        </p:tgtEl>
                                      </p:cBhvr>
                                    </p:animEffect>
                                  </p:childTnLst>
                                </p:cTn>
                              </p:par>
                            </p:childTnLst>
                          </p:cTn>
                        </p:par>
                        <p:par>
                          <p:cTn id="12" fill="hold">
                            <p:stCondLst>
                              <p:cond delay="1800"/>
                            </p:stCondLst>
                            <p:childTnLst>
                              <p:par>
                                <p:cTn id="13" presetID="42" presetClass="entr" presetSubtype="8"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slide(fromLeft)">
                                      <p:cBhvr>
                                        <p:cTn id="15" dur="400"/>
                                        <p:tgtEl>
                                          <p:spTgt spid="11"/>
                                        </p:tgtEl>
                                      </p:cBhvr>
                                    </p:animEffect>
                                  </p:childTnLst>
                                </p:cTn>
                              </p:par>
                            </p:childTnLst>
                          </p:cTn>
                        </p:par>
                        <p:par>
                          <p:cTn id="16" fill="hold">
                            <p:stCondLst>
                              <p:cond delay="2700"/>
                            </p:stCondLst>
                            <p:childTnLst>
                              <p:par>
                                <p:cTn id="17" presetID="14" presetClass="entr" presetSubtype="10" fill="hold"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randombar(horizontal)">
                                      <p:cBhvr>
                                        <p:cTn id="19" dur="400"/>
                                        <p:tgtEl>
                                          <p:spTgt spid="13"/>
                                        </p:tgtEl>
                                      </p:cBhvr>
                                    </p:animEffect>
                                  </p:childTnLst>
                                </p:cTn>
                              </p:par>
                            </p:childTnLst>
                          </p:cTn>
                        </p:par>
                        <p:par>
                          <p:cTn id="20" fill="hold">
                            <p:stCondLst>
                              <p:cond delay="3600"/>
                            </p:stCondLst>
                            <p:childTnLst>
                              <p:par>
                                <p:cTn id="21" presetID="4" presetClass="entr" presetSubtype="0"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P spid="13" grpId="0"/>
      <p:bldP spid="1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12192000" cy="38100"/>
            </a:xfrm>
            <a:prstGeom prst="rect">
              <a:avLst/>
            </a:prstGeom>
            <a:solidFill>
              <a:srgbClr val="F5C842"/>
            </a:solidFill>
            <a:ln>
              <a:noFill/>
            </a:ln>
          </p:spPr>
        </p:sp>
      </p:grpSp>
      <p:grpSp>
        <p:nvGrpSpPr>
          <p:cNvPr id="8" name="Group 8"/>
          <p:cNvGrpSpPr/>
          <p:nvPr/>
        </p:nvGrpSpPr>
        <p:grpSpPr>
          <a:xfrm>
            <a:off x="0" y="38100"/>
            <a:ext cx="12192000" cy="609600"/>
            <a:chOff x="0" y="38100"/>
            <a:chExt cx="12192000" cy="609600"/>
          </a:xfrm>
        </p:grpSpPr>
        <p:sp>
          <p:nvSpPr>
            <p:cNvPr id="5" name="Rectangle 5"/>
            <p:cNvSpPr/>
            <p:nvPr/>
          </p:nvSpPr>
          <p:spPr>
            <a:xfrm>
              <a:off x="0" y="38100"/>
              <a:ext cx="12192000" cy="609600"/>
            </a:xfrm>
            <a:prstGeom prst="rect">
              <a:avLst/>
            </a:prstGeom>
            <a:solidFill>
              <a:srgbClr val="131B30"/>
            </a:solidFill>
            <a:ln>
              <a:noFill/>
            </a:ln>
          </p:spPr>
        </p:sp>
        <p:sp>
          <p:nvSpPr>
            <p:cNvPr id="6" name="Rectangle 6"/>
            <p:cNvSpPr/>
            <p:nvPr/>
          </p:nvSpPr>
          <p:spPr>
            <a:xfrm>
              <a:off x="571500" y="152400"/>
              <a:ext cx="38100" cy="381000"/>
            </a:xfrm>
            <a:prstGeom prst="rect">
              <a:avLst/>
            </a:prstGeom>
            <a:solidFill>
              <a:srgbClr val="F5C842"/>
            </a:solidFill>
            <a:ln>
              <a:noFill/>
            </a:ln>
          </p:spPr>
        </p:sp>
        <p:sp>
          <p:nvSpPr>
            <p:cNvPr id="7" name="TextBox 7"/>
            <p:cNvSpPr txBox="1"/>
            <p:nvPr/>
          </p:nvSpPr>
          <p:spPr>
            <a:xfrm>
              <a:off x="737235" y="227648"/>
              <a:ext cx="2292310" cy="396240"/>
            </a:xfrm>
            <a:prstGeom prst="rect">
              <a:avLst/>
            </a:prstGeom>
            <a:noFill/>
            <a:ln>
              <a:noFill/>
            </a:ln>
          </p:spPr>
          <p:txBody>
            <a:bodyPr wrap="none" lIns="0" tIns="0" rIns="0" bIns="0" anchor="t" anchorCtr="0">
              <a:spAutoFit/>
            </a:bodyPr>
            <a:lstStyle/>
            <a:p>
              <a:pPr algn="l"/>
              <a:r>
                <a:rPr lang="zh-CN" sz="1950" b="1" dirty="0">
                  <a:solidFill>
                    <a:srgbClr val="E8EAF0"/>
                  </a:solidFill>
                  <a:latin typeface="Arial"/>
                  <a:ea typeface="Microsoft YaHei"/>
                  <a:cs typeface="Arial"/>
                </a:rPr>
                <a:t>Verdict &amp; Entry</a:t>
              </a:r>
            </a:p>
          </p:txBody>
        </p:sp>
      </p:grpSp>
      <p:grpSp>
        <p:nvGrpSpPr>
          <p:cNvPr id="11" name="Group 11"/>
          <p:cNvGrpSpPr/>
          <p:nvPr/>
        </p:nvGrpSpPr>
        <p:grpSpPr>
          <a:xfrm>
            <a:off x="4191000" y="952500"/>
            <a:ext cx="3810000" cy="971550"/>
            <a:chOff x="4191000" y="952500"/>
            <a:chExt cx="3810000" cy="971550"/>
          </a:xfrm>
        </p:grpSpPr>
        <p:sp>
          <p:nvSpPr>
            <p:cNvPr id="9" name="Rectangle 9"/>
            <p:cNvSpPr/>
            <p:nvPr/>
          </p:nvSpPr>
          <p:spPr>
            <a:xfrm>
              <a:off x="4191000" y="952500"/>
              <a:ext cx="3810000" cy="952500"/>
            </a:xfrm>
            <a:prstGeom prst="roundRect">
              <a:avLst>
                <a:gd name="adj" fmla="val 50000"/>
              </a:avLst>
            </a:prstGeom>
            <a:solidFill>
              <a:srgbClr val="F0A030"/>
            </a:solidFill>
            <a:ln>
              <a:noFill/>
            </a:ln>
          </p:spPr>
        </p:sp>
        <p:sp>
          <p:nvSpPr>
            <p:cNvPr id="10" name="TextBox 10"/>
            <p:cNvSpPr txBox="1"/>
            <p:nvPr/>
          </p:nvSpPr>
          <p:spPr>
            <a:xfrm>
              <a:off x="5164310" y="1131570"/>
              <a:ext cx="1863381" cy="792480"/>
            </a:xfrm>
            <a:prstGeom prst="rect">
              <a:avLst/>
            </a:prstGeom>
            <a:noFill/>
            <a:ln>
              <a:noFill/>
            </a:ln>
          </p:spPr>
          <p:txBody>
            <a:bodyPr wrap="none" lIns="0" tIns="0" rIns="0" bIns="0" anchor="t" anchorCtr="0">
              <a:spAutoFit/>
            </a:bodyPr>
            <a:lstStyle/>
            <a:p>
              <a:pPr algn="ctr"/>
              <a:r>
                <a:rPr lang="zh-CN" sz="3900" b="1" dirty="0">
                  <a:solidFill>
                    <a:srgbClr val="0A0E1A"/>
                  </a:solidFill>
                  <a:latin typeface="Arial"/>
                  <a:ea typeface="Microsoft YaHei"/>
                  <a:cs typeface="Arial"/>
                </a:rPr>
                <a:t>WATCH</a:t>
              </a:r>
            </a:p>
          </p:txBody>
        </p:sp>
      </p:grpSp>
      <p:sp>
        <p:nvSpPr>
          <p:cNvPr id="12" name="Rectangle 12"/>
          <p:cNvSpPr/>
          <p:nvPr/>
        </p:nvSpPr>
        <p:spPr>
          <a:xfrm>
            <a:off x="571500" y="2190750"/>
            <a:ext cx="11049000" cy="19050"/>
          </a:xfrm>
          <a:prstGeom prst="rect">
            <a:avLst/>
          </a:prstGeom>
          <a:solidFill>
            <a:srgbClr val="2A3A5C"/>
          </a:solidFill>
          <a:ln>
            <a:noFill/>
          </a:ln>
        </p:spPr>
      </p:sp>
      <p:grpSp>
        <p:nvGrpSpPr>
          <p:cNvPr id="17" name="Group 17"/>
          <p:cNvGrpSpPr/>
          <p:nvPr/>
        </p:nvGrpSpPr>
        <p:grpSpPr>
          <a:xfrm>
            <a:off x="747712" y="2485549"/>
            <a:ext cx="5902523" cy="993457"/>
            <a:chOff x="747712" y="2485549"/>
            <a:chExt cx="5902523" cy="993457"/>
          </a:xfrm>
        </p:grpSpPr>
        <p:sp>
          <p:nvSpPr>
            <p:cNvPr id="13" name="TextBox 13"/>
            <p:cNvSpPr txBox="1"/>
            <p:nvPr/>
          </p:nvSpPr>
          <p:spPr>
            <a:xfrm>
              <a:off x="749618" y="2485549"/>
              <a:ext cx="1191011"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Microsoft YaHei"/>
                  <a:cs typeface="Arial"/>
                </a:rPr>
                <a:t>1-YEAR OUTLOOK</a:t>
              </a:r>
            </a:p>
          </p:txBody>
        </p:sp>
        <p:sp>
          <p:nvSpPr>
            <p:cNvPr id="14" name="TextBox 14"/>
            <p:cNvSpPr txBox="1"/>
            <p:nvPr/>
          </p:nvSpPr>
          <p:spPr>
            <a:xfrm>
              <a:off x="747712" y="2755106"/>
              <a:ext cx="5417820" cy="228600"/>
            </a:xfrm>
            <a:prstGeom prst="rect">
              <a:avLst/>
            </a:prstGeom>
            <a:noFill/>
            <a:ln>
              <a:noFill/>
            </a:ln>
          </p:spPr>
          <p:txBody>
            <a:bodyPr wrap="none" lIns="0" tIns="0" rIns="0" bIns="0" anchor="t" anchorCtr="0">
              <a:spAutoFit/>
            </a:bodyPr>
            <a:lstStyle/>
            <a:p>
              <a:pPr algn="l"/>
              <a:r>
                <a:rPr lang="zh-CN" sz="1125" dirty="0">
                  <a:solidFill>
                    <a:srgbClr val="E8EAF0"/>
                  </a:solidFill>
                  <a:latin typeface="Arial"/>
                  <a:ea typeface="Microsoft YaHei"/>
                  <a:cs typeface="Arial"/>
                </a:rPr>
                <a:t>PW expected return: -8.4% at $461 — risk-reward unfavorable now.</a:t>
              </a:r>
            </a:p>
          </p:txBody>
        </p:sp>
        <p:sp>
          <p:nvSpPr>
            <p:cNvPr id="15" name="TextBox 15"/>
            <p:cNvSpPr txBox="1"/>
            <p:nvPr/>
          </p:nvSpPr>
          <p:spPr>
            <a:xfrm>
              <a:off x="747712" y="3002756"/>
              <a:ext cx="5902523" cy="228600"/>
            </a:xfrm>
            <a:prstGeom prst="rect">
              <a:avLst/>
            </a:prstGeom>
            <a:noFill/>
            <a:ln>
              <a:noFill/>
            </a:ln>
          </p:spPr>
          <p:txBody>
            <a:bodyPr wrap="none" lIns="0" tIns="0" rIns="0" bIns="0" anchor="t" anchorCtr="0">
              <a:spAutoFit/>
            </a:bodyPr>
            <a:lstStyle/>
            <a:p>
              <a:pPr algn="l"/>
              <a:r>
                <a:rPr lang="zh-CN" sz="1125" dirty="0">
                  <a:solidFill>
                    <a:srgbClr val="4CAF82"/>
                  </a:solidFill>
                  <a:latin typeface="Arial"/>
                  <a:ea typeface="Microsoft YaHei"/>
                  <a:cs typeface="Arial"/>
                </a:rPr>
                <a:t>Upside: $580 (+25.7%) if AI CapEx accelerates and HBM shortage deepens.</a:t>
              </a:r>
            </a:p>
          </p:txBody>
        </p:sp>
        <p:sp>
          <p:nvSpPr>
            <p:cNvPr id="16" name="TextBox 16"/>
            <p:cNvSpPr txBox="1"/>
            <p:nvPr/>
          </p:nvSpPr>
          <p:spPr>
            <a:xfrm>
              <a:off x="747712" y="3250406"/>
              <a:ext cx="5450681" cy="228600"/>
            </a:xfrm>
            <a:prstGeom prst="rect">
              <a:avLst/>
            </a:prstGeom>
            <a:noFill/>
            <a:ln>
              <a:noFill/>
            </a:ln>
          </p:spPr>
          <p:txBody>
            <a:bodyPr wrap="none" lIns="0" tIns="0" rIns="0" bIns="0" anchor="t" anchorCtr="0">
              <a:spAutoFit/>
            </a:bodyPr>
            <a:lstStyle/>
            <a:p>
              <a:pPr algn="l"/>
              <a:r>
                <a:rPr lang="zh-CN" sz="1125" dirty="0">
                  <a:solidFill>
                    <a:srgbClr val="E05C5C"/>
                  </a:solidFill>
                  <a:latin typeface="Arial"/>
                  <a:ea typeface="Microsoft YaHei"/>
                  <a:cs typeface="Arial"/>
                </a:rPr>
                <a:t>Downside: $270 (-41.5%) on CapEx cuts + export control escalation.</a:t>
              </a:r>
            </a:p>
          </p:txBody>
        </p:sp>
      </p:grpSp>
      <p:sp>
        <p:nvSpPr>
          <p:cNvPr id="18" name="Rectangle 18"/>
          <p:cNvSpPr/>
          <p:nvPr/>
        </p:nvSpPr>
        <p:spPr>
          <a:xfrm>
            <a:off x="6286500" y="2400300"/>
            <a:ext cx="9525" cy="1809750"/>
          </a:xfrm>
          <a:prstGeom prst="rect">
            <a:avLst/>
          </a:prstGeom>
          <a:solidFill>
            <a:srgbClr val="2A3A5C"/>
          </a:solidFill>
          <a:ln>
            <a:noFill/>
          </a:ln>
        </p:spPr>
      </p:sp>
      <p:grpSp>
        <p:nvGrpSpPr>
          <p:cNvPr id="23" name="Group 23"/>
          <p:cNvGrpSpPr/>
          <p:nvPr/>
        </p:nvGrpSpPr>
        <p:grpSpPr>
          <a:xfrm>
            <a:off x="6557962" y="2485549"/>
            <a:ext cx="4596289" cy="993457"/>
            <a:chOff x="6557962" y="2485549"/>
            <a:chExt cx="4596289" cy="993457"/>
          </a:xfrm>
        </p:grpSpPr>
        <p:sp>
          <p:nvSpPr>
            <p:cNvPr id="19" name="TextBox 19"/>
            <p:cNvSpPr txBox="1"/>
            <p:nvPr/>
          </p:nvSpPr>
          <p:spPr>
            <a:xfrm>
              <a:off x="6559868" y="2485549"/>
              <a:ext cx="1407813"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Microsoft YaHei"/>
                  <a:cs typeface="Arial"/>
                </a:rPr>
                <a:t>ACCUMULATION PLAN</a:t>
              </a:r>
            </a:p>
          </p:txBody>
        </p:sp>
        <p:sp>
          <p:nvSpPr>
            <p:cNvPr id="20" name="TextBox 20"/>
            <p:cNvSpPr txBox="1"/>
            <p:nvPr/>
          </p:nvSpPr>
          <p:spPr>
            <a:xfrm>
              <a:off x="6557962" y="2755106"/>
              <a:ext cx="4078724" cy="228600"/>
            </a:xfrm>
            <a:prstGeom prst="rect">
              <a:avLst/>
            </a:prstGeom>
            <a:noFill/>
            <a:ln>
              <a:noFill/>
            </a:ln>
          </p:spPr>
          <p:txBody>
            <a:bodyPr wrap="none" lIns="0" tIns="0" rIns="0" bIns="0" anchor="t" anchorCtr="0">
              <a:spAutoFit/>
            </a:bodyPr>
            <a:lstStyle/>
            <a:p>
              <a:pPr algn="l"/>
              <a:r>
                <a:rPr lang="zh-CN" sz="1125" dirty="0">
                  <a:solidFill>
                    <a:srgbClr val="8899BB"/>
                  </a:solidFill>
                  <a:latin typeface="Arial"/>
                  <a:ea typeface="Microsoft YaHei"/>
                  <a:cs typeface="Arial"/>
                </a:rPr>
                <a:t>Current: 0% — do not DCA above MA50 +10% ($404+).</a:t>
              </a:r>
            </a:p>
          </p:txBody>
        </p:sp>
        <p:sp>
          <p:nvSpPr>
            <p:cNvPr id="21" name="TextBox 21"/>
            <p:cNvSpPr txBox="1"/>
            <p:nvPr/>
          </p:nvSpPr>
          <p:spPr>
            <a:xfrm>
              <a:off x="6557962" y="3002756"/>
              <a:ext cx="4251246" cy="228600"/>
            </a:xfrm>
            <a:prstGeom prst="rect">
              <a:avLst/>
            </a:prstGeom>
            <a:noFill/>
            <a:ln>
              <a:noFill/>
            </a:ln>
          </p:spPr>
          <p:txBody>
            <a:bodyPr wrap="none" lIns="0" tIns="0" rIns="0" bIns="0" anchor="t" anchorCtr="0">
              <a:spAutoFit/>
            </a:bodyPr>
            <a:lstStyle/>
            <a:p>
              <a:pPr algn="l"/>
              <a:r>
                <a:rPr lang="zh-CN" sz="1125" dirty="0">
                  <a:solidFill>
                    <a:srgbClr val="E8EAF0"/>
                  </a:solidFill>
                  <a:latin typeface="Arial"/>
                  <a:ea typeface="Microsoft YaHei"/>
                  <a:cs typeface="Arial"/>
                </a:rPr>
                <a:t>First tranche: DCA trigger fires (SOXX ≤ MA50 −5%).</a:t>
              </a:r>
            </a:p>
          </p:txBody>
        </p:sp>
        <p:sp>
          <p:nvSpPr>
            <p:cNvPr id="22" name="TextBox 22"/>
            <p:cNvSpPr txBox="1"/>
            <p:nvPr/>
          </p:nvSpPr>
          <p:spPr>
            <a:xfrm>
              <a:off x="6557962" y="3250406"/>
              <a:ext cx="4596289" cy="228600"/>
            </a:xfrm>
            <a:prstGeom prst="rect">
              <a:avLst/>
            </a:prstGeom>
            <a:noFill/>
            <a:ln>
              <a:noFill/>
            </a:ln>
          </p:spPr>
          <p:txBody>
            <a:bodyPr wrap="none" lIns="0" tIns="0" rIns="0" bIns="0" anchor="t" anchorCtr="0">
              <a:spAutoFit/>
            </a:bodyPr>
            <a:lstStyle/>
            <a:p>
              <a:pPr algn="l"/>
              <a:r>
                <a:rPr lang="zh-CN" sz="1125" dirty="0">
                  <a:solidFill>
                    <a:srgbClr val="E8EAF0"/>
                  </a:solidFill>
                  <a:latin typeface="Arial"/>
                  <a:ea typeface="Microsoft YaHei"/>
                  <a:cs typeface="Arial"/>
                </a:rPr>
                <a:t>Full position: 4 monthly tranches × 25% at trigger zones.</a:t>
              </a:r>
            </a:p>
          </p:txBody>
        </p:sp>
      </p:grpSp>
      <p:sp>
        <p:nvSpPr>
          <p:cNvPr id="24" name="Rectangle 24"/>
          <p:cNvSpPr/>
          <p:nvPr/>
        </p:nvSpPr>
        <p:spPr>
          <a:xfrm>
            <a:off x="571500" y="4419600"/>
            <a:ext cx="11049000" cy="19050"/>
          </a:xfrm>
          <a:prstGeom prst="rect">
            <a:avLst/>
          </a:prstGeom>
          <a:solidFill>
            <a:srgbClr val="2A3A5C"/>
          </a:solidFill>
          <a:ln>
            <a:noFill/>
          </a:ln>
        </p:spPr>
      </p:sp>
      <p:sp>
        <p:nvSpPr>
          <p:cNvPr id="25" name="TextBox 25"/>
          <p:cNvSpPr txBox="1"/>
          <p:nvPr/>
        </p:nvSpPr>
        <p:spPr>
          <a:xfrm>
            <a:off x="749618" y="4561999"/>
            <a:ext cx="2746005"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Microsoft YaHei"/>
                <a:cs typeface="Arial"/>
              </a:rPr>
              <a:t>KEY ENTRY TRIGGER — ANY ONE OF THREE</a:t>
            </a:r>
          </a:p>
        </p:txBody>
      </p:sp>
      <p:sp>
        <p:nvSpPr>
          <p:cNvPr id="26" name="Rectangle 26"/>
          <p:cNvSpPr/>
          <p:nvPr/>
        </p:nvSpPr>
        <p:spPr>
          <a:xfrm>
            <a:off x="571500" y="4800600"/>
            <a:ext cx="11049000" cy="685800"/>
          </a:xfrm>
          <a:prstGeom prst="roundRect">
            <a:avLst>
              <a:gd name="adj" fmla="val 5556"/>
            </a:avLst>
          </a:prstGeom>
          <a:solidFill>
            <a:srgbClr val="131B30"/>
          </a:solidFill>
          <a:ln>
            <a:noFill/>
          </a:ln>
        </p:spPr>
      </p:sp>
      <p:sp>
        <p:nvSpPr>
          <p:cNvPr id="27" name="Rectangle 27"/>
          <p:cNvSpPr/>
          <p:nvPr/>
        </p:nvSpPr>
        <p:spPr>
          <a:xfrm>
            <a:off x="571500" y="4800600"/>
            <a:ext cx="47625" cy="685800"/>
          </a:xfrm>
          <a:prstGeom prst="rect">
            <a:avLst/>
          </a:prstGeom>
          <a:solidFill>
            <a:srgbClr val="F5C842"/>
          </a:solidFill>
          <a:ln>
            <a:noFill/>
          </a:ln>
        </p:spPr>
      </p:sp>
      <p:sp>
        <p:nvSpPr>
          <p:cNvPr id="28" name="TextBox 28"/>
          <p:cNvSpPr txBox="1"/>
          <p:nvPr/>
        </p:nvSpPr>
        <p:spPr>
          <a:xfrm>
            <a:off x="747712" y="4907756"/>
            <a:ext cx="4790170" cy="228600"/>
          </a:xfrm>
          <a:prstGeom prst="rect">
            <a:avLst/>
          </a:prstGeom>
          <a:noFill/>
          <a:ln>
            <a:noFill/>
          </a:ln>
        </p:spPr>
        <p:txBody>
          <a:bodyPr wrap="none" lIns="0" tIns="0" rIns="0" bIns="0" anchor="t" anchorCtr="0">
            <a:spAutoFit/>
          </a:bodyPr>
          <a:lstStyle/>
          <a:p>
            <a:pPr algn="l"/>
            <a:r>
              <a:rPr lang="zh-CN" sz="1125" b="1" dirty="0">
                <a:solidFill>
                  <a:srgbClr val="F5C842"/>
                </a:solidFill>
                <a:latin typeface="Arial"/>
                <a:ea typeface="Microsoft YaHei"/>
                <a:cs typeface="Arial"/>
              </a:rPr>
              <a:t>1. SOXX pulls back to MA50 range $355–$380 (≤ MA50 −5%)</a:t>
            </a:r>
          </a:p>
        </p:txBody>
      </p:sp>
      <p:sp>
        <p:nvSpPr>
          <p:cNvPr id="29" name="TextBox 29"/>
          <p:cNvSpPr txBox="1"/>
          <p:nvPr/>
        </p:nvSpPr>
        <p:spPr>
          <a:xfrm>
            <a:off x="747712" y="5117306"/>
            <a:ext cx="4565892" cy="228600"/>
          </a:xfrm>
          <a:prstGeom prst="rect">
            <a:avLst/>
          </a:prstGeom>
          <a:noFill/>
          <a:ln>
            <a:noFill/>
          </a:ln>
        </p:spPr>
        <p:txBody>
          <a:bodyPr wrap="none" lIns="0" tIns="0" rIns="0" bIns="0" anchor="t" anchorCtr="0">
            <a:spAutoFit/>
          </a:bodyPr>
          <a:lstStyle/>
          <a:p>
            <a:pPr algn="l"/>
            <a:r>
              <a:rPr lang="zh-CN" sz="1125" b="1" dirty="0">
                <a:solidFill>
                  <a:srgbClr val="F5C842"/>
                </a:solidFill>
                <a:latin typeface="Arial"/>
                <a:ea typeface="Microsoft YaHei"/>
                <a:cs typeface="Arial"/>
              </a:rPr>
              <a:t>2. Fear &amp; Greed Index &lt; 30 AND SOXX within 10% of MA50</a:t>
            </a:r>
          </a:p>
        </p:txBody>
      </p:sp>
      <p:sp>
        <p:nvSpPr>
          <p:cNvPr id="30" name="TextBox 30"/>
          <p:cNvSpPr txBox="1"/>
          <p:nvPr/>
        </p:nvSpPr>
        <p:spPr>
          <a:xfrm>
            <a:off x="747712" y="5326856"/>
            <a:ext cx="5428500" cy="228600"/>
          </a:xfrm>
          <a:prstGeom prst="rect">
            <a:avLst/>
          </a:prstGeom>
          <a:noFill/>
          <a:ln>
            <a:noFill/>
          </a:ln>
        </p:spPr>
        <p:txBody>
          <a:bodyPr wrap="none" lIns="0" tIns="0" rIns="0" bIns="0" anchor="t" anchorCtr="0">
            <a:spAutoFit/>
          </a:bodyPr>
          <a:lstStyle/>
          <a:p>
            <a:pPr algn="l"/>
            <a:r>
              <a:rPr lang="zh-CN" sz="1125" b="1" dirty="0">
                <a:solidFill>
                  <a:srgbClr val="F5C842"/>
                </a:solidFill>
                <a:latin typeface="Arial"/>
                <a:ea typeface="Microsoft YaHei"/>
                <a:cs typeface="Arial"/>
              </a:rPr>
              <a:t>3. Chen Yun signals ≥3 semi tickers in 7 days AND SOXX near MA50</a:t>
            </a:r>
          </a:p>
        </p:txBody>
      </p:sp>
      <p:sp>
        <p:nvSpPr>
          <p:cNvPr id="31" name="TextBox 31"/>
          <p:cNvSpPr txBox="1"/>
          <p:nvPr/>
        </p:nvSpPr>
        <p:spPr>
          <a:xfrm>
            <a:off x="749618" y="5685949"/>
            <a:ext cx="9437322"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Stop Loss: Close below MA200 ($308) on heavy volume — Stage 4 risk. ETF suited for regular DCA accumulation, not short-term trading.</a:t>
            </a:r>
          </a:p>
        </p:txBody>
      </p:sp>
      <p:grpSp>
        <p:nvGrpSpPr>
          <p:cNvPr id="36" name="Group 36"/>
          <p:cNvGrpSpPr/>
          <p:nvPr/>
        </p:nvGrpSpPr>
        <p:grpSpPr>
          <a:xfrm>
            <a:off x="0" y="6324600"/>
            <a:ext cx="12192000" cy="533400"/>
            <a:chOff x="0" y="6324600"/>
            <a:chExt cx="12192000" cy="533400"/>
          </a:xfrm>
        </p:grpSpPr>
        <p:sp>
          <p:nvSpPr>
            <p:cNvPr id="32" name="Rectangle 32"/>
            <p:cNvSpPr/>
            <p:nvPr/>
          </p:nvSpPr>
          <p:spPr>
            <a:xfrm>
              <a:off x="0" y="6324600"/>
              <a:ext cx="12192000" cy="533400"/>
            </a:xfrm>
            <a:prstGeom prst="rect">
              <a:avLst/>
            </a:prstGeom>
            <a:solidFill>
              <a:srgbClr val="131B30"/>
            </a:solidFill>
            <a:ln>
              <a:noFill/>
            </a:ln>
          </p:spPr>
        </p:sp>
        <p:sp>
          <p:nvSpPr>
            <p:cNvPr id="33" name="Rectangle 33"/>
            <p:cNvSpPr/>
            <p:nvPr/>
          </p:nvSpPr>
          <p:spPr>
            <a:xfrm>
              <a:off x="0" y="6324600"/>
              <a:ext cx="12192000" cy="9525"/>
            </a:xfrm>
            <a:prstGeom prst="rect">
              <a:avLst/>
            </a:prstGeom>
            <a:solidFill>
              <a:srgbClr val="F5C842">
                <a:alpha val="35000"/>
              </a:srgbClr>
            </a:solidFill>
            <a:ln>
              <a:noFill/>
            </a:ln>
          </p:spPr>
        </p:sp>
        <p:sp>
          <p:nvSpPr>
            <p:cNvPr id="34" name="TextBox 34"/>
            <p:cNvSpPr txBox="1"/>
            <p:nvPr/>
          </p:nvSpPr>
          <p:spPr>
            <a:xfrm>
              <a:off x="749618" y="6533674"/>
              <a:ext cx="580120"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Decision</a:t>
              </a:r>
            </a:p>
          </p:txBody>
        </p:sp>
        <p:sp>
          <p:nvSpPr>
            <p:cNvPr id="35" name="TextBox 35"/>
            <p:cNvSpPr txBox="1"/>
            <p:nvPr/>
          </p:nvSpPr>
          <p:spPr>
            <a:xfrm>
              <a:off x="11296579" y="6533674"/>
              <a:ext cx="145804" cy="198120"/>
            </a:xfrm>
            <a:prstGeom prst="rect">
              <a:avLst/>
            </a:prstGeom>
            <a:noFill/>
            <a:ln>
              <a:noFill/>
            </a:ln>
          </p:spPr>
          <p:txBody>
            <a:bodyPr wrap="none" lIns="0" tIns="0" rIns="0" bIns="0" anchor="t" anchorCtr="0">
              <a:spAutoFit/>
            </a:bodyPr>
            <a:lstStyle/>
            <a:p>
              <a:pPr algn="r"/>
              <a:r>
                <a:rPr lang="zh-CN" sz="975" dirty="0">
                  <a:solidFill>
                    <a:srgbClr val="8899BB"/>
                  </a:solidFill>
                  <a:latin typeface="Arial"/>
                  <a:ea typeface="Microsoft YaHei"/>
                  <a:cs typeface="Arial"/>
                </a:rPr>
                <a:t>14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16" presetClass="entr" presetSubtype="21"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barn(inVertical)">
                                      <p:cBhvr>
                                        <p:cTn id="11" dur="400"/>
                                        <p:tgtEl>
                                          <p:spTgt spid="11"/>
                                        </p:tgtEl>
                                      </p:cBhvr>
                                    </p:animEffect>
                                  </p:childTnLst>
                                </p:cTn>
                              </p:par>
                            </p:childTnLst>
                          </p:cTn>
                        </p:par>
                        <p:par>
                          <p:cTn id="12" fill="hold">
                            <p:stCondLst>
                              <p:cond delay="1800"/>
                            </p:stCondLst>
                            <p:childTnLst>
                              <p:par>
                                <p:cTn id="13" presetID="18" presetClass="entr" presetSubtype="12"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strips(downRight)">
                                      <p:cBhvr>
                                        <p:cTn id="15" dur="400"/>
                                        <p:tgtEl>
                                          <p:spTgt spid="17"/>
                                        </p:tgtEl>
                                      </p:cBhvr>
                                    </p:animEffect>
                                  </p:childTnLst>
                                </p:cTn>
                              </p:par>
                            </p:childTnLst>
                          </p:cTn>
                        </p:par>
                        <p:par>
                          <p:cTn id="16" fill="hold">
                            <p:stCondLst>
                              <p:cond delay="2700"/>
                            </p:stCondLst>
                            <p:childTnLst>
                              <p:par>
                                <p:cTn id="17" presetID="20" presetClass="entr" presetSubtype="0" fill="hold" nodeType="after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wedge">
                                      <p:cBhvr>
                                        <p:cTn id="19" dur="400"/>
                                        <p:tgtEl>
                                          <p:spTgt spid="23"/>
                                        </p:tgtEl>
                                      </p:cBhvr>
                                    </p:animEffect>
                                  </p:childTnLst>
                                </p:cTn>
                              </p:par>
                            </p:childTnLst>
                          </p:cTn>
                        </p:par>
                        <p:par>
                          <p:cTn id="20" fill="hold">
                            <p:stCondLst>
                              <p:cond delay="3600"/>
                            </p:stCondLst>
                            <p:childTnLst>
                              <p:par>
                                <p:cTn id="21" presetID="21" presetClass="entr" presetSubtype="0" fill="hold" nodeType="afterEffect">
                                  <p:stCondLst>
                                    <p:cond delay="0"/>
                                  </p:stCondLst>
                                  <p:childTnLst>
                                    <p:set>
                                      <p:cBhvr>
                                        <p:cTn id="22" dur="1" fill="hold">
                                          <p:stCondLst>
                                            <p:cond delay="0"/>
                                          </p:stCondLst>
                                        </p:cTn>
                                        <p:tgtEl>
                                          <p:spTgt spid="36"/>
                                        </p:tgtEl>
                                        <p:attrNameLst>
                                          <p:attrName>style.visibility</p:attrName>
                                        </p:attrNameLst>
                                      </p:cBhvr>
                                      <p:to>
                                        <p:strVal val="visible"/>
                                      </p:to>
                                    </p:set>
                                    <p:animEffect transition="in" filter="wheel(4)">
                                      <p:cBhvr>
                                        <p:cTn id="23"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17" grpId="0"/>
      <p:bldP spid="23" grpId="0"/>
      <p:bldP spid="3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12192000" cy="38100"/>
            </a:xfrm>
            <a:prstGeom prst="rect">
              <a:avLst/>
            </a:prstGeom>
            <a:solidFill>
              <a:srgbClr val="F5C842"/>
            </a:solidFill>
            <a:ln>
              <a:noFill/>
            </a:ln>
          </p:spPr>
        </p:sp>
        <p:sp>
          <p:nvSpPr>
            <p:cNvPr id="4" name="Rectangle 4"/>
            <p:cNvSpPr/>
            <p:nvPr/>
          </p:nvSpPr>
          <p:spPr>
            <a:xfrm>
              <a:off x="0" y="6819900"/>
              <a:ext cx="12192000" cy="38100"/>
            </a:xfrm>
            <a:prstGeom prst="rect">
              <a:avLst/>
            </a:prstGeom>
            <a:solidFill>
              <a:srgbClr val="F5C842"/>
            </a:solidFill>
            <a:ln>
              <a:noFill/>
            </a:ln>
          </p:spPr>
        </p:sp>
        <p:sp>
          <p:nvSpPr>
            <p:cNvPr id="5" name="Rectangle 5"/>
            <p:cNvSpPr/>
            <p:nvPr/>
          </p:nvSpPr>
          <p:spPr>
            <a:xfrm>
              <a:off x="0" y="38100"/>
              <a:ext cx="28575" cy="6781800"/>
            </a:xfrm>
            <a:prstGeom prst="rect">
              <a:avLst/>
            </a:prstGeom>
            <a:solidFill>
              <a:srgbClr val="F5C842"/>
            </a:solidFill>
            <a:ln>
              <a:noFill/>
            </a:ln>
          </p:spPr>
        </p:sp>
      </p:grpSp>
      <p:grpSp>
        <p:nvGrpSpPr>
          <p:cNvPr id="9" name="Group 9"/>
          <p:cNvGrpSpPr/>
          <p:nvPr/>
        </p:nvGrpSpPr>
        <p:grpSpPr>
          <a:xfrm>
            <a:off x="3238500" y="1699260"/>
            <a:ext cx="5715000" cy="291465"/>
            <a:chOff x="3238500" y="1699260"/>
            <a:chExt cx="5715000" cy="291465"/>
          </a:xfrm>
        </p:grpSpPr>
        <p:sp>
          <p:nvSpPr>
            <p:cNvPr id="7" name="TextBox 7"/>
            <p:cNvSpPr txBox="1"/>
            <p:nvPr/>
          </p:nvSpPr>
          <p:spPr>
            <a:xfrm>
              <a:off x="5123840" y="1699260"/>
              <a:ext cx="1944319" cy="243840"/>
            </a:xfrm>
            <a:prstGeom prst="rect">
              <a:avLst/>
            </a:prstGeom>
            <a:noFill/>
            <a:ln>
              <a:noFill/>
            </a:ln>
          </p:spPr>
          <p:txBody>
            <a:bodyPr wrap="none" lIns="0" tIns="0" rIns="0" bIns="0" anchor="t" anchorCtr="0">
              <a:spAutoFit/>
            </a:bodyPr>
            <a:lstStyle/>
            <a:p>
              <a:pPr algn="ctr"/>
              <a:r>
                <a:rPr lang="zh-CN" sz="1200" b="1" dirty="0">
                  <a:solidFill>
                    <a:srgbClr val="8899BB"/>
                  </a:solidFill>
                  <a:latin typeface="Arial"/>
                  <a:ea typeface="Microsoft YaHei"/>
                  <a:cs typeface="Arial"/>
                </a:rPr>
                <a:t>SOURCES &amp; DISCLAIMER</a:t>
              </a:r>
            </a:p>
          </p:txBody>
        </p:sp>
        <p:sp>
          <p:nvSpPr>
            <p:cNvPr id="8" name="Rectangle 8"/>
            <p:cNvSpPr/>
            <p:nvPr/>
          </p:nvSpPr>
          <p:spPr>
            <a:xfrm>
              <a:off x="3238500" y="1981200"/>
              <a:ext cx="5715000" cy="9525"/>
            </a:xfrm>
            <a:prstGeom prst="rect">
              <a:avLst/>
            </a:prstGeom>
            <a:solidFill>
              <a:srgbClr val="2A3A5C"/>
            </a:solidFill>
            <a:ln>
              <a:noFill/>
            </a:ln>
          </p:spPr>
        </p:sp>
      </p:grpSp>
      <p:grpSp>
        <p:nvGrpSpPr>
          <p:cNvPr id="12" name="Group 12"/>
          <p:cNvGrpSpPr/>
          <p:nvPr/>
        </p:nvGrpSpPr>
        <p:grpSpPr>
          <a:xfrm>
            <a:off x="2733687" y="2295049"/>
            <a:ext cx="6724626" cy="426720"/>
            <a:chOff x="2733687" y="2295049"/>
            <a:chExt cx="6724626" cy="426720"/>
          </a:xfrm>
        </p:grpSpPr>
        <p:sp>
          <p:nvSpPr>
            <p:cNvPr id="10" name="TextBox 10"/>
            <p:cNvSpPr txBox="1"/>
            <p:nvPr/>
          </p:nvSpPr>
          <p:spPr>
            <a:xfrm>
              <a:off x="2733687" y="2295049"/>
              <a:ext cx="6724626" cy="198120"/>
            </a:xfrm>
            <a:prstGeom prst="rect">
              <a:avLst/>
            </a:prstGeom>
            <a:noFill/>
            <a:ln>
              <a:noFill/>
            </a:ln>
          </p:spPr>
          <p:txBody>
            <a:bodyPr wrap="none" lIns="0" tIns="0" rIns="0" bIns="0" anchor="t" anchorCtr="0">
              <a:spAutoFit/>
            </a:bodyPr>
            <a:lstStyle/>
            <a:p>
              <a:pPr algn="ctr"/>
              <a:r>
                <a:rPr lang="zh-CN" sz="975" dirty="0">
                  <a:solidFill>
                    <a:srgbClr val="8899BB"/>
                  </a:solidFill>
                  <a:latin typeface="Arial"/>
                  <a:ea typeface="Microsoft YaHei"/>
                  <a:cs typeface="Arial"/>
                </a:rPr>
                <a:t>Research generated from structured wiki ETF thesis — rwh-overlay investment research system</a:t>
              </a:r>
            </a:p>
          </p:txBody>
        </p:sp>
        <p:sp>
          <p:nvSpPr>
            <p:cNvPr id="11" name="TextBox 11"/>
            <p:cNvSpPr txBox="1"/>
            <p:nvPr/>
          </p:nvSpPr>
          <p:spPr>
            <a:xfrm>
              <a:off x="2886766" y="2523649"/>
              <a:ext cx="6418469" cy="198120"/>
            </a:xfrm>
            <a:prstGeom prst="rect">
              <a:avLst/>
            </a:prstGeom>
            <a:noFill/>
            <a:ln>
              <a:noFill/>
            </a:ln>
          </p:spPr>
          <p:txBody>
            <a:bodyPr wrap="none" lIns="0" tIns="0" rIns="0" bIns="0" anchor="t" anchorCtr="0">
              <a:spAutoFit/>
            </a:bodyPr>
            <a:lstStyle/>
            <a:p>
              <a:pPr algn="ctr"/>
              <a:r>
                <a:rPr lang="zh-CN" sz="975" dirty="0">
                  <a:solidFill>
                    <a:srgbClr val="8899BB"/>
                  </a:solidFill>
                  <a:latin typeface="Arial"/>
                  <a:ea typeface="Microsoft YaHei"/>
                  <a:cs typeface="Arial"/>
                </a:rPr>
                <a:t>This material is for informational purposes only and does not constitute investment advice.</a:t>
              </a:r>
            </a:p>
          </p:txBody>
        </p:sp>
      </p:grpSp>
      <p:grpSp>
        <p:nvGrpSpPr>
          <p:cNvPr id="15" name="Group 15"/>
          <p:cNvGrpSpPr/>
          <p:nvPr/>
        </p:nvGrpSpPr>
        <p:grpSpPr>
          <a:xfrm>
            <a:off x="2851166" y="3018949"/>
            <a:ext cx="6489668" cy="426720"/>
            <a:chOff x="2851166" y="3018949"/>
            <a:chExt cx="6489668" cy="426720"/>
          </a:xfrm>
        </p:grpSpPr>
        <p:sp>
          <p:nvSpPr>
            <p:cNvPr id="13" name="TextBox 13"/>
            <p:cNvSpPr txBox="1"/>
            <p:nvPr/>
          </p:nvSpPr>
          <p:spPr>
            <a:xfrm>
              <a:off x="2954405" y="3018949"/>
              <a:ext cx="6283190" cy="198120"/>
            </a:xfrm>
            <a:prstGeom prst="rect">
              <a:avLst/>
            </a:prstGeom>
            <a:noFill/>
            <a:ln>
              <a:noFill/>
            </a:ln>
          </p:spPr>
          <p:txBody>
            <a:bodyPr wrap="none" lIns="0" tIns="0" rIns="0" bIns="0" anchor="t" anchorCtr="0">
              <a:spAutoFit/>
            </a:bodyPr>
            <a:lstStyle/>
            <a:p>
              <a:pPr algn="ctr"/>
              <a:r>
                <a:rPr lang="zh-CN" sz="975" dirty="0">
                  <a:solidFill>
                    <a:srgbClr val="8899BB"/>
                  </a:solidFill>
                  <a:latin typeface="Arial"/>
                  <a:ea typeface="Microsoft YaHei"/>
                  <a:cs typeface="Arial"/>
                </a:rPr>
                <a:t>Sources: iShares ETF fact sheet · Yahoo Finance (yfinance) · wiki/etf/etf-reference.md</a:t>
              </a:r>
            </a:p>
          </p:txBody>
        </p:sp>
        <p:sp>
          <p:nvSpPr>
            <p:cNvPr id="14" name="TextBox 14"/>
            <p:cNvSpPr txBox="1"/>
            <p:nvPr/>
          </p:nvSpPr>
          <p:spPr>
            <a:xfrm>
              <a:off x="2851166" y="3247549"/>
              <a:ext cx="6489668" cy="198120"/>
            </a:xfrm>
            <a:prstGeom prst="rect">
              <a:avLst/>
            </a:prstGeom>
            <a:noFill/>
            <a:ln>
              <a:noFill/>
            </a:ln>
          </p:spPr>
          <p:txBody>
            <a:bodyPr wrap="none" lIns="0" tIns="0" rIns="0" bIns="0" anchor="t" anchorCtr="0">
              <a:spAutoFit/>
            </a:bodyPr>
            <a:lstStyle/>
            <a:p>
              <a:pPr algn="ctr"/>
              <a:r>
                <a:rPr lang="zh-CN" sz="975" dirty="0">
                  <a:solidFill>
                    <a:srgbClr val="8899BB"/>
                  </a:solidFill>
                  <a:latin typeface="Arial"/>
                  <a:ea typeface="Microsoft YaHei"/>
                  <a:cs typeface="Arial"/>
                </a:rPr>
                <a:t>ICE Semiconductor Index methodology · Minervini SEPA framework · etf-check trigger system</a:t>
              </a:r>
            </a:p>
          </p:txBody>
        </p:sp>
      </p:grpSp>
      <p:sp>
        <p:nvSpPr>
          <p:cNvPr id="16" name="TextBox 16"/>
          <p:cNvSpPr txBox="1"/>
          <p:nvPr/>
        </p:nvSpPr>
        <p:spPr>
          <a:xfrm>
            <a:off x="5709821" y="3933349"/>
            <a:ext cx="772358" cy="198120"/>
          </a:xfrm>
          <a:prstGeom prst="rect">
            <a:avLst/>
          </a:prstGeom>
          <a:noFill/>
          <a:ln>
            <a:noFill/>
          </a:ln>
        </p:spPr>
        <p:txBody>
          <a:bodyPr wrap="none" lIns="0" tIns="0" rIns="0" bIns="0" anchor="t" anchorCtr="0">
            <a:spAutoFit/>
          </a:bodyPr>
          <a:lstStyle/>
          <a:p>
            <a:pPr algn="ctr"/>
            <a:r>
              <a:rPr lang="zh-CN" sz="975" dirty="0">
                <a:solidFill>
                  <a:srgbClr val="2A3A5C"/>
                </a:solidFill>
                <a:latin typeface="Arial"/>
                <a:ea typeface="Microsoft YaHei"/>
                <a:cs typeface="Arial"/>
              </a:rPr>
              <a:t>2026-05-17</a:t>
            </a:r>
          </a:p>
        </p:txBody>
      </p:sp>
      <p:grpSp>
        <p:nvGrpSpPr>
          <p:cNvPr id="20" name="Group 20"/>
          <p:cNvGrpSpPr/>
          <p:nvPr/>
        </p:nvGrpSpPr>
        <p:grpSpPr>
          <a:xfrm>
            <a:off x="4857750" y="4400550"/>
            <a:ext cx="2476500" cy="342900"/>
            <a:chOff x="4857750" y="4400550"/>
            <a:chExt cx="2476500" cy="342900"/>
          </a:xfrm>
        </p:grpSpPr>
        <p:sp>
          <p:nvSpPr>
            <p:cNvPr id="17" name="Rectangle 17"/>
            <p:cNvSpPr/>
            <p:nvPr/>
          </p:nvSpPr>
          <p:spPr>
            <a:xfrm>
              <a:off x="4857750" y="4400550"/>
              <a:ext cx="2476500" cy="342900"/>
            </a:xfrm>
            <a:prstGeom prst="roundRect">
              <a:avLst>
                <a:gd name="adj" fmla="val 50000"/>
              </a:avLst>
            </a:prstGeom>
            <a:solidFill>
              <a:srgbClr val="131B30"/>
            </a:solidFill>
            <a:ln>
              <a:noFill/>
            </a:ln>
          </p:spPr>
        </p:sp>
        <p:sp>
          <p:nvSpPr>
            <p:cNvPr id="18" name="Rectangle 18"/>
            <p:cNvSpPr/>
            <p:nvPr/>
          </p:nvSpPr>
          <p:spPr>
            <a:xfrm>
              <a:off x="4857750" y="4400550"/>
              <a:ext cx="2476500" cy="342900"/>
            </a:xfrm>
            <a:prstGeom prst="roundRect">
              <a:avLst>
                <a:gd name="adj" fmla="val 50000"/>
              </a:avLst>
            </a:prstGeom>
            <a:noFill/>
            <a:ln w="9525">
              <a:solidFill>
                <a:srgbClr val="2A3A5C"/>
              </a:solidFill>
            </a:ln>
          </p:spPr>
        </p:sp>
        <p:sp>
          <p:nvSpPr>
            <p:cNvPr id="19" name="TextBox 19"/>
            <p:cNvSpPr txBox="1"/>
            <p:nvPr/>
          </p:nvSpPr>
          <p:spPr>
            <a:xfrm>
              <a:off x="5122426" y="4514374"/>
              <a:ext cx="1947148" cy="198120"/>
            </a:xfrm>
            <a:prstGeom prst="rect">
              <a:avLst/>
            </a:prstGeom>
            <a:noFill/>
            <a:ln>
              <a:noFill/>
            </a:ln>
          </p:spPr>
          <p:txBody>
            <a:bodyPr wrap="none" lIns="0" tIns="0" rIns="0" bIns="0" anchor="t" anchorCtr="0">
              <a:spAutoFit/>
            </a:bodyPr>
            <a:lstStyle/>
            <a:p>
              <a:pPr algn="ctr"/>
              <a:r>
                <a:rPr lang="zh-CN" sz="975" dirty="0">
                  <a:solidFill>
                    <a:srgbClr val="8899BB"/>
                  </a:solidFill>
                  <a:latin typeface="Arial"/>
                  <a:ea typeface="Microsoft YaHei"/>
                  <a:cs typeface="Arial"/>
                </a:rPr>
                <a:t>ETF Research · rwh-overlay</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400"/>
                                        <p:tgtEl>
                                          <p:spTgt spid="15"/>
                                        </p:tgtEl>
                                      </p:cBhvr>
                                    </p:animEffect>
                                  </p:childTnLst>
                                </p:cTn>
                              </p:par>
                            </p:childTnLst>
                          </p:cTn>
                        </p:par>
                        <p:par>
                          <p:cTn id="12" fill="hold">
                            <p:stCondLst>
                              <p:cond delay="1800"/>
                            </p:stCondLst>
                            <p:childTnLst>
                              <p:par>
                                <p:cTn id="13" presetID="50" presetClass="entr" presetSubtype="0"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stretch(across)">
                                      <p:cBhvr>
                                        <p:cTn id="15"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P spid="20"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